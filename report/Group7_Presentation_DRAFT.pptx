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8" r:id="rId10"/>
    <p:sldId id="260" r:id="rId12"/>
    <p:sldId id="261" r:id="rId13"/>
    <p:sldId id="262" r:id="rId14"/>
    <p:sldId id="263" r:id="rId15"/>
    <p:sldId id="264" r:id="rId16"/>
    <p:sldId id="265" r:id="rId17"/>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10" Type="http://schemas.openxmlformats.org/officeDocument/2006/relationships/slide" Target="slides/slide3.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Controls only</c:v>
                </c:pt>
              </c:strCache>
            </c:strRef>
          </c:tx>
          <c:spPr>
            <a:solidFill>
              <a:srgbClr val="2B7BD6"/>
            </a:solidFill>
          </c:spPr>
          <c:cat>
            <c:strRef>
              <c:f>Sheet1!$A$2:$A$6</c:f>
              <c:strCache>
                <c:ptCount val="5"/>
                <c:pt idx="0">
                  <c:v>KNN</c:v>
                </c:pt>
                <c:pt idx="1">
                  <c:v>Random Forest</c:v>
                </c:pt>
                <c:pt idx="2">
                  <c:v>LightGBM</c:v>
                </c:pt>
                <c:pt idx="3">
                  <c:v>Ridge</c:v>
                </c:pt>
                <c:pt idx="4">
                  <c:v>Elastic Net</c:v>
                </c:pt>
              </c:strCache>
            </c:strRef>
          </c:cat>
          <c:val>
            <c:numRef>
              <c:f>Sheet1!$B$2:$B$6</c:f>
              <c:numCache>
                <c:formatCode>General</c:formatCode>
                <c:ptCount val="5"/>
                <c:pt idx="0">
                  <c:v>0.234</c:v>
                </c:pt>
                <c:pt idx="1">
                  <c:v>0.262</c:v>
                </c:pt>
                <c:pt idx="2">
                  <c:v>0.225</c:v>
                </c:pt>
                <c:pt idx="3">
                  <c:v>0.266</c:v>
                </c:pt>
                <c:pt idx="4">
                  <c:v>0.254</c:v>
                </c:pt>
              </c:numCache>
            </c:numRef>
          </c:val>
        </c:ser>
        <c:ser>
          <c:idx val="1"/>
          <c:order val="1"/>
          <c:tx>
            <c:strRef>
              <c:f>Sheet1!$C$1</c:f>
              <c:strCache>
                <c:ptCount val="1"/>
                <c:pt idx="0">
                  <c:v>Controls + emission + static</c:v>
                </c:pt>
              </c:strCache>
            </c:strRef>
          </c:tx>
          <c:spPr>
            <a:solidFill>
              <a:srgbClr val="EB6A35"/>
            </a:solidFill>
          </c:spPr>
          <c:cat>
            <c:strRef>
              <c:f>Sheet1!$A$2:$A$6</c:f>
              <c:strCache>
                <c:ptCount val="5"/>
                <c:pt idx="0">
                  <c:v>KNN</c:v>
                </c:pt>
                <c:pt idx="1">
                  <c:v>Random Forest</c:v>
                </c:pt>
                <c:pt idx="2">
                  <c:v>LightGBM</c:v>
                </c:pt>
                <c:pt idx="3">
                  <c:v>Ridge</c:v>
                </c:pt>
                <c:pt idx="4">
                  <c:v>Elastic Net</c:v>
                </c:pt>
              </c:strCache>
            </c:strRef>
          </c:cat>
          <c:val>
            <c:numRef>
              <c:f>Sheet1!$C$2:$C$6</c:f>
              <c:numCache>
                <c:formatCode>General</c:formatCode>
                <c:ptCount val="5"/>
                <c:pt idx="0">
                  <c:v>0.235</c:v>
                </c:pt>
                <c:pt idx="1">
                  <c:v>0.268</c:v>
                </c:pt>
                <c:pt idx="2">
                  <c:v>0.23</c:v>
                </c:pt>
                <c:pt idx="3">
                  <c:v>0.266</c:v>
                </c:pt>
                <c:pt idx="4">
                  <c:v>0.255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3"/>
          <c:min val="0.0"/>
        </c:scaling>
        <c:delete val="0"/>
        <c:axPos val="l"/>
        <c:majorGridlines>
          <c:spPr>
            <a:ln>
              <a:solidFill>
                <a:srgbClr val="D9DDE3"/>
              </a:solidFill>
            </a:ln>
          </c:spPr>
        </c:majorGridlines>
        <c:numFmt formatCode="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KNN</c:v>
                </c:pt>
              </c:strCache>
            </c:strRef>
          </c:tx>
          <c:spPr>
            <a:solidFill>
              <a:srgbClr val="9AA3B2"/>
            </a:solidFill>
          </c:spPr>
          <c:invertIfNegative val="0"/>
          <c:cat>
            <c:strRef>
              <c:f>Sheet1!$A$2:$A$6</c:f>
              <c:strCache>
                <c:ptCount val="5"/>
                <c:pt idx="0">
                  <c:v>Fold 1</c:v>
                </c:pt>
                <c:pt idx="1">
                  <c:v>Fold 2</c:v>
                </c:pt>
                <c:pt idx="2">
                  <c:v>Fold 3</c:v>
                </c:pt>
                <c:pt idx="3">
                  <c:v>Fold 4</c:v>
                </c:pt>
                <c:pt idx="4">
                  <c:v>Fold 5</c:v>
                </c:pt>
              </c:strCache>
            </c:strRef>
          </c:cat>
          <c:val>
            <c:numRef>
              <c:f>Sheet1!$B$2:$B$6</c:f>
              <c:numCache>
                <c:formatCode>General</c:formatCode>
                <c:ptCount val="5"/>
                <c:pt idx="0">
                  <c:v>0.104</c:v>
                </c:pt>
                <c:pt idx="1">
                  <c:v>0.029</c:v>
                </c:pt>
                <c:pt idx="2">
                  <c:v>-0.058</c:v>
                </c:pt>
                <c:pt idx="3">
                  <c:v>-0.032</c:v>
                </c:pt>
                <c:pt idx="4">
                  <c:v>-0.036</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Fold 1</c:v>
                </c:pt>
                <c:pt idx="1">
                  <c:v>Fold 2</c:v>
                </c:pt>
                <c:pt idx="2">
                  <c:v>Fold 3</c:v>
                </c:pt>
                <c:pt idx="3">
                  <c:v>Fold 4</c:v>
                </c:pt>
                <c:pt idx="4">
                  <c:v>Fold 5</c:v>
                </c:pt>
              </c:strCache>
            </c:strRef>
          </c:cat>
          <c:val>
            <c:numRef>
              <c:f>Sheet1!$C$2:$C$6</c:f>
              <c:numCache>
                <c:formatCode>General</c:formatCode>
                <c:ptCount val="5"/>
                <c:pt idx="0">
                  <c:v>0.031</c:v>
                </c:pt>
                <c:pt idx="1">
                  <c:v>0.03</c:v>
                </c:pt>
                <c:pt idx="2">
                  <c:v>-0.017</c:v>
                </c:pt>
                <c:pt idx="3">
                  <c:v>-0.01</c:v>
                </c:pt>
                <c:pt idx="4">
                  <c:v>-0.002</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Fold 1</c:v>
                </c:pt>
                <c:pt idx="1">
                  <c:v>Fold 2</c:v>
                </c:pt>
                <c:pt idx="2">
                  <c:v>Fold 3</c:v>
                </c:pt>
                <c:pt idx="3">
                  <c:v>Fold 4</c:v>
                </c:pt>
                <c:pt idx="4">
                  <c:v>Fold 5</c:v>
                </c:pt>
              </c:strCache>
            </c:strRef>
          </c:cat>
          <c:val>
            <c:numRef>
              <c:f>Sheet1!$D$2:$D$6</c:f>
              <c:numCache>
                <c:formatCode>General</c:formatCode>
                <c:ptCount val="5"/>
                <c:pt idx="0">
                  <c:v>-0.013</c:v>
                </c:pt>
                <c:pt idx="1">
                  <c:v>0.044</c:v>
                </c:pt>
                <c:pt idx="2">
                  <c:v>-0.0</c:v>
                </c:pt>
                <c:pt idx="3">
                  <c:v>-0.005</c:v>
                </c:pt>
                <c:pt idx="4">
                  <c:v>-0.002</c:v>
                </c:pt>
              </c:numCache>
            </c:numRef>
          </c:val>
        </c:ser>
        <c:ser>
          <c:idx val="3"/>
          <c:order val="3"/>
          <c:tx>
            <c:strRef>
              <c:f>Sheet1!$E$1</c:f>
              <c:strCache>
                <c:ptCount val="1"/>
                <c:pt idx="0">
                  <c:v>Ridge</c:v>
                </c:pt>
              </c:strCache>
            </c:strRef>
          </c:tx>
          <c:spPr>
            <a:solidFill>
              <a:srgbClr val="141B2D"/>
            </a:solidFill>
          </c:spPr>
          <c:invertIfNegative val="0"/>
          <c:cat>
            <c:strRef>
              <c:f>Sheet1!$A$2:$A$6</c:f>
              <c:strCache>
                <c:ptCount val="5"/>
                <c:pt idx="0">
                  <c:v>Fold 1</c:v>
                </c:pt>
                <c:pt idx="1">
                  <c:v>Fold 2</c:v>
                </c:pt>
                <c:pt idx="2">
                  <c:v>Fold 3</c:v>
                </c:pt>
                <c:pt idx="3">
                  <c:v>Fold 4</c:v>
                </c:pt>
                <c:pt idx="4">
                  <c:v>Fold 5</c:v>
                </c:pt>
              </c:strCache>
            </c:strRef>
          </c:cat>
          <c:val>
            <c:numRef>
              <c:f>Sheet1!$E$2:$E$6</c:f>
              <c:numCache>
                <c:formatCode>General</c:formatCode>
                <c:ptCount val="5"/>
                <c:pt idx="0">
                  <c:v>0.001</c:v>
                </c:pt>
                <c:pt idx="1">
                  <c:v>-0.006</c:v>
                </c:pt>
                <c:pt idx="2">
                  <c:v>-0.003</c:v>
                </c:pt>
                <c:pt idx="3">
                  <c:v>0.008</c:v>
                </c:pt>
                <c:pt idx="4">
                  <c:v>0.004</c:v>
                </c:pt>
              </c:numCache>
            </c:numRef>
          </c:val>
        </c:ser>
        <c:ser>
          <c:idx val="4"/>
          <c:order val="4"/>
          <c:tx>
            <c:strRef>
              <c:f>Sheet1!$F$1</c:f>
              <c:strCache>
                <c:ptCount val="1"/>
                <c:pt idx="0">
                  <c:v>Elastic Net</c:v>
                </c:pt>
              </c:strCache>
            </c:strRef>
          </c:tx>
          <c:spPr>
            <a:solidFill>
              <a:srgbClr val="2B7BD6"/>
            </a:solidFill>
          </c:spPr>
          <c:invertIfNegative val="0"/>
          <c:cat>
            <c:strRef>
              <c:f>Sheet1!$A$2:$A$6</c:f>
              <c:strCache>
                <c:ptCount val="5"/>
                <c:pt idx="0">
                  <c:v>Fold 1</c:v>
                </c:pt>
                <c:pt idx="1">
                  <c:v>Fold 2</c:v>
                </c:pt>
                <c:pt idx="2">
                  <c:v>Fold 3</c:v>
                </c:pt>
                <c:pt idx="3">
                  <c:v>Fold 4</c:v>
                </c:pt>
                <c:pt idx="4">
                  <c:v>Fold 5</c:v>
                </c:pt>
              </c:strCache>
            </c:strRef>
          </c:cat>
          <c:val>
            <c:numRef>
              <c:f>Sheet1!$F$2:$F$6</c:f>
              <c:numCache>
                <c:formatCode>General</c:formatCode>
                <c:ptCount val="5"/>
                <c:pt idx="0">
                  <c:v>0.0</c:v>
                </c:pt>
                <c:pt idx="1">
                  <c:v>0.0</c:v>
                </c:pt>
                <c:pt idx="2">
                  <c:v>0.0</c:v>
                </c:pt>
                <c:pt idx="3">
                  <c:v>0.001</c:v>
                </c:pt>
                <c:pt idx="4">
                  <c:v>0.003</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12"/>
          <c:min val="-0.08"/>
        </c:scaling>
        <c:delete val="0"/>
        <c:axPos val="l"/>
        <c:majorGridlines>
          <c:spPr>
            <a:ln>
              <a:solidFill>
                <a:srgbClr val="D9DDE3"/>
              </a:solidFill>
            </a:ln>
          </c:spPr>
        </c:majorGridlines>
        <c:numFmt formatCode="+0.00;-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RMSE increase</c:v>
                </c:pt>
              </c:strCache>
            </c:strRef>
          </c:tx>
          <c:spPr>
            <a:solidFill>
              <a:srgbClr val="141B2D"/>
            </a:solidFill>
          </c:spPr>
          <c:dPt>
            <c:idx val="1"/>
            <c:spPr>
              <a:solidFill>
                <a:srgbClr val="EB6A35"/>
              </a:solidFill>
            </c:spPr>
          </c:dPt>
          <c:dPt>
            <c:idx val="2"/>
            <c:spPr>
              <a:solidFill>
                <a:srgbClr val="9AA3B2"/>
              </a:solidFill>
            </c:spPr>
          </c:dPt>
          <c:cat>
            <c:strRef>
              <c:f>Sheet1!$A$2:$A$4</c:f>
              <c:strCache>
                <c:ptCount val="3"/>
                <c:pt idx="0">
                  <c:v>Controls (9)</c:v>
                </c:pt>
                <c:pt idx="1">
                  <c:v>Emission (13)</c:v>
                </c:pt>
                <c:pt idx="2">
                  <c:v>Static (10)</c:v>
                </c:pt>
              </c:strCache>
            </c:strRef>
          </c:cat>
          <c:val>
            <c:numRef>
              <c:f>Sheet1!$B$2:$B$4</c:f>
              <c:numCache>
                <c:formatCode>General</c:formatCode>
                <c:ptCount val="3"/>
                <c:pt idx="0">
                  <c:v>0.031</c:v>
                </c:pt>
                <c:pt idx="1">
                  <c:v>0.01</c:v>
                </c:pt>
                <c:pt idx="2">
                  <c:v>0.005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36"/>
          <c:min val="0.0"/>
        </c:scaling>
        <c:delete val="0"/>
        <c:axPos val="b"/>
        <c:majorGridlines>
          <c:spPr>
            <a:ln>
              <a:solidFill>
                <a:srgbClr val="D9DDE3"/>
              </a:solidFill>
            </a:ln>
          </c:spPr>
        </c:majorGridlines>
        <c:numFmt formatCode="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dispBlanksAs val="gap"/>
  </c:chart>
  <c:txPr>
    <a:bodyPr/>
    <a:lstStyle/>
    <a:p>
      <a:pPr>
        <a:defRPr sz="1200">
          <a:solidFill>
            <a:srgbClr val="1F24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Ridge</c:v>
                </c:pt>
              </c:strCache>
            </c:strRef>
          </c:tx>
          <c:spPr>
            <a:solidFill>
              <a:srgbClr val="141B2D"/>
            </a:solidFill>
          </c:spPr>
          <c:invertIfNegative val="0"/>
          <c:cat>
            <c:strRef>
              <c:f>Sheet1!$A$2:$A$6</c:f>
              <c:strCache>
                <c:ptCount val="5"/>
                <c:pt idx="0">
                  <c:v>Unlock &lt;0.5%</c:v>
                </c:pt>
                <c:pt idx="1">
                  <c:v>Unlock 0.5–2%</c:v>
                </c:pt>
                <c:pt idx="2">
                  <c:v>Unlock 2–5%</c:v>
                </c:pt>
                <c:pt idx="3">
                  <c:v>Unlock &gt;5%</c:v>
                </c:pt>
                <c:pt idx="4">
                  <c:v>Cliff ≤14d</c:v>
                </c:pt>
              </c:strCache>
            </c:strRef>
          </c:cat>
          <c:val>
            <c:numRef>
              <c:f>Sheet1!$B$2:$B$6</c:f>
              <c:numCache>
                <c:formatCode>General</c:formatCode>
                <c:ptCount val="5"/>
                <c:pt idx="0">
                  <c:v>-0.0043</c:v>
                </c:pt>
                <c:pt idx="1">
                  <c:v>-0.0035</c:v>
                </c:pt>
                <c:pt idx="2">
                  <c:v>0.0028</c:v>
                </c:pt>
                <c:pt idx="3">
                  <c:v>0.0126</c:v>
                </c:pt>
                <c:pt idx="4">
                  <c:v>0.0069</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Unlock &lt;0.5%</c:v>
                </c:pt>
                <c:pt idx="1">
                  <c:v>Unlock 0.5–2%</c:v>
                </c:pt>
                <c:pt idx="2">
                  <c:v>Unlock 2–5%</c:v>
                </c:pt>
                <c:pt idx="3">
                  <c:v>Unlock &gt;5%</c:v>
                </c:pt>
                <c:pt idx="4">
                  <c:v>Cliff ≤14d</c:v>
                </c:pt>
              </c:strCache>
            </c:strRef>
          </c:cat>
          <c:val>
            <c:numRef>
              <c:f>Sheet1!$C$2:$C$6</c:f>
              <c:numCache>
                <c:formatCode>General</c:formatCode>
                <c:ptCount val="5"/>
                <c:pt idx="0">
                  <c:v>-0.0053</c:v>
                </c:pt>
                <c:pt idx="1">
                  <c:v>-0.0056</c:v>
                </c:pt>
                <c:pt idx="2">
                  <c:v>0.0043</c:v>
                </c:pt>
                <c:pt idx="3">
                  <c:v>0.0043</c:v>
                </c:pt>
                <c:pt idx="4">
                  <c:v>0.003</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Unlock &lt;0.5%</c:v>
                </c:pt>
                <c:pt idx="1">
                  <c:v>Unlock 0.5–2%</c:v>
                </c:pt>
                <c:pt idx="2">
                  <c:v>Unlock 2–5%</c:v>
                </c:pt>
                <c:pt idx="3">
                  <c:v>Unlock &gt;5%</c:v>
                </c:pt>
                <c:pt idx="4">
                  <c:v>Cliff ≤14d</c:v>
                </c:pt>
              </c:strCache>
            </c:strRef>
          </c:cat>
          <c:val>
            <c:numRef>
              <c:f>Sheet1!$D$2:$D$6</c:f>
              <c:numCache>
                <c:formatCode>General</c:formatCode>
                <c:ptCount val="5"/>
                <c:pt idx="0">
                  <c:v>-0.0053</c:v>
                </c:pt>
                <c:pt idx="1">
                  <c:v>-0.0049</c:v>
                </c:pt>
                <c:pt idx="2">
                  <c:v>0.0002</c:v>
                </c:pt>
                <c:pt idx="3">
                  <c:v>0.0001</c:v>
                </c:pt>
                <c:pt idx="4">
                  <c:v>-0.0009</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16"/>
          <c:min val="-0.008"/>
        </c:scaling>
        <c:delete val="0"/>
        <c:axPos val="l"/>
        <c:majorGridlines>
          <c:spPr>
            <a:ln>
              <a:solidFill>
                <a:srgbClr val="D9DDE3"/>
              </a:solidFill>
            </a:ln>
          </c:spPr>
        </c:majorGridlines>
        <c:numFmt formatCode="+0.000;-0.000;0" sourceLinked="0"/>
        <c:majorTickMark val="out"/>
        <c:minorTickMark val="none"/>
        <c:tickLblPos val="nextTo"/>
        <c:spPr>
          <a:ln>
            <a:noFill/>
          </a:ln>
        </c:spPr>
        <c:txPr>
          <a:bodyPr/>
          <a:lstStyle/>
          <a:p>
            <a:pPr>
              <a:defRPr sz="1100">
                <a:solidFill>
                  <a:srgbClr val="6B7280"/>
                </a:solidFill>
              </a:defRPr>
            </a:pPr>
          </a:p>
        </c:txPr>
        <c:crossAx val="-2068027336"/>
        <c:crosses val="autoZero"/>
        <c:majorUnit val="0.004"/>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Introduce the group and the question in one sentence: crypto tokens publish their unlock calendars in advance; we test whether that calendar helps forecast how volatile a token will be over the next two weeks, beyond what its recent volatility already tells 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Motivation: most token supply is locked at launch and released on a published schedule, and traders treat big unlocks as volatility events. The schedule is public in advance, so it is a legitimate forward-looking input, but volatility is very persistent, so the bar is high. Design: every model is trained twice with the same rows, folds and tuning grid: once on the nine controls and once with the 23 unlock and static features added. The difference in out-of-sample R squared is the finding. We decided up front that a null result is a valid result and we did not tune to change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Data first: 176 tokens, one row per token per day from September 2024 to August 2026, prices from Binance and unlock schedules from Tokenomist; every feature is known at the close of the day. Then the hook: unconditionally, there is a relationship. Forward volatility climbs from about 0.97 in the lowest unlock decile to 1.14 in the highest, and the correlation is positive for three quarters of tokens. But heavy-unlock tokens are young, small and already volatile, so the question is whether this survives once trailing volatility is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Five folds cut by calendar date, all tokens pooled. Training expands; a 30-day embargo separates train from test because the target looks 14 days ahead. Inside each fold the last 90 days of training are the validation slice used for tuning; the winner is refit on all training data and scored once on the next 90 days. Scalers live inside the sklearn pipeline, so nothing is fit on test data. Hand over: with the protocol fixed, [Member 2] shows what six models do under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Each model sees identical rows, folds and features. KNN tests a local, similarity-based view; Random Forest can find non-linear effects and interactions, for example unlocks mattering only in calm markets, and LightGBM boosts small trees on the residuals; Ridge and Elastic Net are strong linear benchmarks, and Elastic Net can drop features entirely; logistic regression re-asks the question as classifying high-volatility events. Note what tuning chose: very large neighbourhoods, large leaves and strong penalties, all signs of a noisy target.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Read the chart pair by pair: blue is controls only, orange adds the unlock and static features. Every model clears the training-mean benchmark of 0.17 and the persistence benchmark of zero. But within each pair the bars are almost identical. Ridge on controls alone is as good as anything we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This is the per-fold paired difference. For the Random Forest the unlock block helps in the two oldest folds and hurts in the three most recent, which are trained on the most data. KNN swings even more. Linear models barely move because they shrink the unlock coefficients to almost zero. Meanwhile R squared itself varies by about 0.15 from fold to fold, so a difference of 0.006 is far inside the noise.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We explain each model with the tool that suits it. Random Forest permutation importance: shuffling all controls costs three times more test RMSE than shuffling all 13 emission features, and partial dependence on unlock pressure is flat. Coefficients: the largest unlock coefficient is positive, as the narrative says, but five times smaller than trailing volatility, and Elastic Net drops everything in two folds. A shallow tree never splits on an unlock feature. Neighbours: for the most unlock-heavy token-day there is no comparable history, so KNN falls back on trailing volatility. Hand over: on average the answer is no; [Member 3] shows where the remaining errors are and whether any of this matters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We pool all test rows and ask where the errors are. If unlock features carried signal, FULL should beat CONTROLS where more than 5% of the float unlocks, or where a cliff is two weeks away. The opposite happens: positive bars mean adding unlock features made the forecast worse. What remains is regression to the mean: too high for tokens that turn calm, too low for tokens that spike. The models' real gain over persistence is fewer large misses.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We re-ran the comparison on the weekly panel, on three alternative volatility targets and on the tokens Tokenomist curates by hand, where schedules should be most accurate. The largest gain anywhere is +0.017, for the Random Forest on the curated subsample, still about a tenth of the fold-to-fold spread. Ridge on the Parkinson target is the only case that wins all five folds, by 0.011. LightGBM shows the same picture, and on the small weekly panel it falls just below the training mean. Classification tells the same story: logistic regression on controls beats ranking by recent volatility (AUC 0.69 vs 0.65), and adding unlock features lowers AUC for both high-volatility events.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Translate the errors into volatility points. The typical error is large for every forecast, and on the median the model is no better than persistence. What it does buy is fewer forecasts that are off by a factor of two, which is what matters for margin and position limits. Unlock features add nothing to that and cost a data subscription and a maintenance pipeline, so our recommendation to a risk desk is not to pay for them as a volatility input, and to keep a human in the loop for the cases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State the answer plainly: once you know a token's recent volatility and the market regime, its unlock calendar does not help forecast the next two weeks. Give the interpretation: the unconditional correlation comes from young, volatile tokens having big unlocks. Practical takeaway: do not bump a volatility forecast just because an unlock is coming. Limitations in one breath: one calm-to-moderate regime, and back-filled schedule revisions, which can only flatter the unlock features. Then invite questions; each member takes questions on their own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lIns="0" rIns="0" tIns="0" bIns="0" anchor="t">
            <a:spAutoFit/>
          </a:bodyPr>
          <a:lstStyle/>
          <a:p>
            <a:pPr algn="l"/>
            <a:r>
              <a:rPr sz="1400" b="1" i="0">
                <a:solidFill>
                  <a:srgbClr val="EB6A35"/>
                </a:solidFill>
                <a:latin typeface="Calibri"/>
              </a:rPr>
              <a:t>MH6805 MACHINE LEARNING IN FINANCE  |  GROUP 7</a:t>
            </a:r>
          </a:p>
        </p:txBody>
      </p:sp>
      <p:sp>
        <p:nvSpPr>
          <p:cNvPr id="3" name="TextBox 2"/>
          <p:cNvSpPr txBox="1"/>
          <p:nvPr/>
        </p:nvSpPr>
        <p:spPr>
          <a:xfrm>
            <a:off x="731520" y="1737360"/>
            <a:ext cx="10515600" cy="2011680"/>
          </a:xfrm>
          <a:prstGeom prst="rect">
            <a:avLst/>
          </a:prstGeom>
          <a:noFill/>
        </p:spPr>
        <p:txBody>
          <a:bodyPr wrap="square" lIns="0" rIns="0" tIns="0" bIns="0" anchor="t">
            <a:spAutoFit/>
          </a:bodyPr>
          <a:lstStyle/>
          <a:p>
            <a:pPr algn="l"/>
            <a:r>
              <a:rPr sz="4600" b="1" i="0">
                <a:solidFill>
                  <a:srgbClr val="FFFFFF"/>
                </a:solidFill>
                <a:latin typeface="Cambria"/>
              </a:rPr>
              <a:t>Do scheduled token unlocks help forecast crypto volatility?</a:t>
            </a:r>
          </a:p>
        </p:txBody>
      </p:sp>
      <p:sp>
        <p:nvSpPr>
          <p:cNvPr id="4" name="TextBox 3"/>
          <p:cNvSpPr txBox="1"/>
          <p:nvPr/>
        </p:nvSpPr>
        <p:spPr>
          <a:xfrm>
            <a:off x="731520" y="3886200"/>
            <a:ext cx="10058400" cy="548640"/>
          </a:xfrm>
          <a:prstGeom prst="rect">
            <a:avLst/>
          </a:prstGeom>
          <a:noFill/>
        </p:spPr>
        <p:txBody>
          <a:bodyPr wrap="square" lIns="0" rIns="0" tIns="0" bIns="0" anchor="t">
            <a:spAutoFit/>
          </a:bodyPr>
          <a:lstStyle/>
          <a:p>
            <a:pPr algn="l"/>
            <a:r>
              <a:rPr sz="2000" b="0" i="0">
                <a:solidFill>
                  <a:srgbClr val="C9D3E6"/>
                </a:solidFill>
                <a:latin typeface="Calibri"/>
              </a:rPr>
              <a:t>Walk-forward evidence from 176 tokens and six machine-learning models</a:t>
            </a:r>
          </a:p>
        </p:txBody>
      </p:sp>
      <p:sp>
        <p:nvSpPr>
          <p:cNvPr id="5" name="TextBox 4"/>
          <p:cNvSpPr txBox="1"/>
          <p:nvPr/>
        </p:nvSpPr>
        <p:spPr>
          <a:xfrm>
            <a:off x="731520" y="5212080"/>
            <a:ext cx="10058400" cy="365760"/>
          </a:xfrm>
          <a:prstGeom prst="rect">
            <a:avLst/>
          </a:prstGeom>
          <a:noFill/>
        </p:spPr>
        <p:txBody>
          <a:bodyPr wrap="square" lIns="0" rIns="0" tIns="0" bIns="0" anchor="t">
            <a:spAutoFit/>
          </a:bodyPr>
          <a:lstStyle/>
          <a:p>
            <a:pPr algn="l"/>
            <a:r>
              <a:rPr sz="1600" b="1" i="0">
                <a:solidFill>
                  <a:srgbClr val="FF9F80"/>
                </a:solidFill>
                <a:latin typeface="Calibri"/>
              </a:rPr>
              <a:t>[Member 1]   [Member 2]   [Member 3]</a:t>
            </a:r>
          </a:p>
        </p:txBody>
      </p:sp>
      <p:sp>
        <p:nvSpPr>
          <p:cNvPr id="6" name="TextBox 5"/>
          <p:cNvSpPr txBox="1"/>
          <p:nvPr/>
        </p:nvSpPr>
        <p:spPr>
          <a:xfrm>
            <a:off x="731520" y="5623560"/>
            <a:ext cx="10058400" cy="365760"/>
          </a:xfrm>
          <a:prstGeom prst="rect">
            <a:avLst/>
          </a:prstGeom>
          <a:noFill/>
        </p:spPr>
        <p:txBody>
          <a:bodyPr wrap="square" lIns="0" rIns="0" tIns="0" bIns="0" anchor="t">
            <a:spAutoFit/>
          </a:bodyPr>
          <a:lstStyle/>
          <a:p>
            <a:pPr algn="l"/>
            <a:r>
              <a:rPr sz="1400" b="0" i="0">
                <a:solidFill>
                  <a:srgbClr val="C9D3E6"/>
                </a:solidFill>
                <a:latin typeface="Calibri"/>
              </a:rPr>
              <a:t>[Presentation 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QUESTION AND DESIGN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Do unlocks add anything beyond persistence?</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2</a:t>
            </a:r>
          </a:p>
        </p:txBody>
      </p:sp>
      <p:sp>
        <p:nvSpPr>
          <p:cNvPr id="6" name="Controls card"/>
          <p:cNvSpPr/>
          <p:nvPr/>
        </p:nvSpPr>
        <p:spPr>
          <a:xfrm>
            <a:off x="548640" y="1828800"/>
            <a:ext cx="3566160" cy="3383280"/>
          </a:xfrm>
          <a:prstGeom prst="roundRect">
            <a:avLst>
              <a:gd name="adj" fmla="val 8000"/>
            </a:avLst>
          </a:prstGeom>
          <a:solidFill>
            <a:srgbClr val="E6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57400"/>
            <a:ext cx="3108960" cy="457200"/>
          </a:xfrm>
          <a:prstGeom prst="rect">
            <a:avLst/>
          </a:prstGeom>
          <a:noFill/>
        </p:spPr>
        <p:txBody>
          <a:bodyPr wrap="square" lIns="0" rIns="0" tIns="0" bIns="0" anchor="t">
            <a:spAutoFit/>
          </a:bodyPr>
          <a:lstStyle/>
          <a:p>
            <a:pPr algn="l"/>
            <a:r>
              <a:rPr sz="2000" b="1" i="0">
                <a:solidFill>
                  <a:srgbClr val="2B7BD6"/>
                </a:solidFill>
                <a:latin typeface="Cambria"/>
              </a:rPr>
              <a:t>CONTROLS  (9)</a:t>
            </a:r>
          </a:p>
        </p:txBody>
      </p:sp>
      <p:sp>
        <p:nvSpPr>
          <p:cNvPr id="8" name="TextBox 7"/>
          <p:cNvSpPr txBox="1"/>
          <p:nvPr/>
        </p:nvSpPr>
        <p:spPr>
          <a:xfrm>
            <a:off x="82296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Trailing volatility 7, 14, 30d</a:t>
            </a:r>
          </a:p>
          <a:p>
            <a:pPr algn="l">
              <a:spcAft>
                <a:spcPts val="800"/>
              </a:spcAft>
            </a:pPr>
            <a:r>
              <a:rPr sz="1500" b="0" i="0">
                <a:solidFill>
                  <a:srgbClr val="1F2433"/>
                </a:solidFill>
                <a:latin typeface="Calibri"/>
              </a:rPr>
              <a:t>Trailing return 7, 30d</a:t>
            </a:r>
          </a:p>
          <a:p>
            <a:pPr algn="l">
              <a:spcAft>
                <a:spcPts val="800"/>
              </a:spcAft>
            </a:pPr>
            <a:r>
              <a:rPr sz="1500" b="0" i="0">
                <a:solidFill>
                  <a:srgbClr val="1F2433"/>
                </a:solidFill>
                <a:latin typeface="Calibri"/>
              </a:rPr>
              <a:t>BTC and ETH volatility (regime)</a:t>
            </a:r>
          </a:p>
          <a:p>
            <a:pPr algn="l">
              <a:spcAft>
                <a:spcPts val="800"/>
              </a:spcAft>
            </a:pPr>
            <a:r>
              <a:rPr sz="1500" b="0" i="0">
                <a:solidFill>
                  <a:srgbClr val="1F2433"/>
                </a:solidFill>
                <a:latin typeface="Calibri"/>
              </a:rPr>
              <a:t>Log market cap, token age</a:t>
            </a:r>
          </a:p>
        </p:txBody>
      </p:sp>
      <p:sp>
        <p:nvSpPr>
          <p:cNvPr id="9" name="Full card"/>
          <p:cNvSpPr/>
          <p:nvPr/>
        </p:nvSpPr>
        <p:spPr>
          <a:xfrm>
            <a:off x="4343400" y="1828800"/>
            <a:ext cx="3566160" cy="338328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57400"/>
            <a:ext cx="3108960" cy="457200"/>
          </a:xfrm>
          <a:prstGeom prst="rect">
            <a:avLst/>
          </a:prstGeom>
          <a:noFill/>
        </p:spPr>
        <p:txBody>
          <a:bodyPr wrap="square" lIns="0" rIns="0" tIns="0" bIns="0" anchor="t">
            <a:spAutoFit/>
          </a:bodyPr>
          <a:lstStyle/>
          <a:p>
            <a:pPr algn="l"/>
            <a:r>
              <a:rPr sz="2000" b="1" i="0">
                <a:solidFill>
                  <a:srgbClr val="EB6A35"/>
                </a:solidFill>
                <a:latin typeface="Cambria"/>
              </a:rPr>
              <a:t>+ UNLOCK &amp; STATIC (23)</a:t>
            </a:r>
          </a:p>
        </p:txBody>
      </p:sp>
      <p:sp>
        <p:nvSpPr>
          <p:cNvPr id="11" name="TextBox 10"/>
          <p:cNvSpPr txBox="1"/>
          <p:nvPr/>
        </p:nvSpPr>
        <p:spPr>
          <a:xfrm>
            <a:off x="461772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Share of float unlocking in next 7, 30, 90 days</a:t>
            </a:r>
          </a:p>
          <a:p>
            <a:pPr algn="l">
              <a:spcAft>
                <a:spcPts val="800"/>
              </a:spcAft>
            </a:pPr>
            <a:r>
              <a:rPr sz="1500" b="0" i="0">
                <a:solidFill>
                  <a:srgbClr val="1F2433"/>
                </a:solidFill>
                <a:latin typeface="Calibri"/>
              </a:rPr>
              <a:t>Days to and size of next cliff</a:t>
            </a:r>
          </a:p>
          <a:p>
            <a:pPr algn="l">
              <a:spcAft>
                <a:spcPts val="800"/>
              </a:spcAft>
            </a:pPr>
            <a:r>
              <a:rPr sz="1500" b="0" i="0">
                <a:solidFill>
                  <a:srgbClr val="1F2433"/>
                </a:solidFill>
                <a:latin typeface="Calibri"/>
              </a:rPr>
              <a:t>30d unlocks by recipient (team, investors, community ...)</a:t>
            </a:r>
          </a:p>
          <a:p>
            <a:pPr algn="l">
              <a:spcAft>
                <a:spcPts val="800"/>
              </a:spcAft>
            </a:pPr>
            <a:r>
              <a:rPr sz="1500" b="0" i="0">
                <a:solidFill>
                  <a:srgbClr val="1F2433"/>
                </a:solidFill>
                <a:latin typeface="Calibri"/>
              </a:rPr>
              <a:t>Allocation shares, data-quality flags</a:t>
            </a:r>
          </a:p>
        </p:txBody>
      </p:sp>
      <p:sp>
        <p:nvSpPr>
          <p:cNvPr id="12" name="Right Arrow 11"/>
          <p:cNvSpPr/>
          <p:nvPr/>
        </p:nvSpPr>
        <p:spPr>
          <a:xfrm>
            <a:off x="8092440" y="3200400"/>
            <a:ext cx="640080" cy="548640"/>
          </a:xfrm>
          <a:prstGeom prst="rightArrow">
            <a:avLst/>
          </a:prstGeom>
          <a:solidFill>
            <a:srgbClr val="14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elta card"/>
          <p:cNvSpPr/>
          <p:nvPr/>
        </p:nvSpPr>
        <p:spPr>
          <a:xfrm>
            <a:off x="8915400" y="1828800"/>
            <a:ext cx="2743200" cy="338328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194560"/>
            <a:ext cx="2743200" cy="914400"/>
          </a:xfrm>
          <a:prstGeom prst="rect">
            <a:avLst/>
          </a:prstGeom>
          <a:noFill/>
        </p:spPr>
        <p:txBody>
          <a:bodyPr wrap="square" lIns="0" rIns="0" tIns="0" bIns="0" anchor="t">
            <a:spAutoFit/>
          </a:bodyPr>
          <a:lstStyle/>
          <a:p>
            <a:pPr algn="ctr"/>
            <a:r>
              <a:rPr sz="4800" b="1" i="0">
                <a:solidFill>
                  <a:srgbClr val="FFFFFF"/>
                </a:solidFill>
                <a:latin typeface="Cambria"/>
              </a:rPr>
              <a:t>Δ R²</a:t>
            </a:r>
          </a:p>
        </p:txBody>
      </p:sp>
      <p:sp>
        <p:nvSpPr>
          <p:cNvPr id="15" name="TextBox 14"/>
          <p:cNvSpPr txBox="1"/>
          <p:nvPr/>
        </p:nvSpPr>
        <p:spPr>
          <a:xfrm>
            <a:off x="9144000" y="3291840"/>
            <a:ext cx="2286000" cy="1645920"/>
          </a:xfrm>
          <a:prstGeom prst="rect">
            <a:avLst/>
          </a:prstGeom>
          <a:noFill/>
        </p:spPr>
        <p:txBody>
          <a:bodyPr wrap="square" lIns="0" rIns="0" tIns="0" bIns="0" anchor="t">
            <a:spAutoFit/>
          </a:bodyPr>
          <a:lstStyle/>
          <a:p>
            <a:pPr algn="ctr"/>
            <a:r>
              <a:rPr sz="1500" b="0" i="0">
                <a:solidFill>
                  <a:srgbClr val="C9D3E6"/>
                </a:solidFill>
                <a:latin typeface="Calibri"/>
              </a:rPr>
              <a:t>FULL minus CONTROLS, per fold, same model, same data</a:t>
            </a:r>
          </a:p>
        </p:txBody>
      </p:sp>
      <p:sp>
        <p:nvSpPr>
          <p:cNvPr id="16" name="TextBox 15"/>
          <p:cNvSpPr txBox="1"/>
          <p:nvPr/>
        </p:nvSpPr>
        <p:spPr>
          <a:xfrm>
            <a:off x="548640" y="5532120"/>
            <a:ext cx="11064240" cy="548640"/>
          </a:xfrm>
          <a:prstGeom prst="rect">
            <a:avLst/>
          </a:prstGeom>
          <a:noFill/>
        </p:spPr>
        <p:txBody>
          <a:bodyPr wrap="square" lIns="0" rIns="0" tIns="0" bIns="0" anchor="t">
            <a:spAutoFit/>
          </a:bodyPr>
          <a:lstStyle/>
          <a:p>
            <a:pPr algn="l"/>
            <a:r>
              <a:rPr sz="1500" b="0" i="0">
                <a:solidFill>
                  <a:srgbClr val="6B7280"/>
                </a:solidFill>
                <a:latin typeface="Calibri"/>
              </a:rPr>
              <a:t>Why ask: traders treat big unlocks as volatility events, and the schedule is public in advance. Y = log forward 14-day realized volatility; metric = out-of-sample R² vs the persistence forecast.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DATA AND FIRST LOOK</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 the raw data, volatility does rise with unlocks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3</a:t>
            </a:r>
          </a:p>
        </p:txBody>
      </p:sp>
      <p:pic>
        <p:nvPicPr>
          <p:cNvPr id="6" name="Picture 5" descr="eda_decile_emission_vs_rv.png"/>
          <p:cNvPicPr>
            <a:picLocks noChangeAspect="1"/>
          </p:cNvPicPr>
          <p:nvPr/>
        </p:nvPicPr>
        <p:blipFill>
          <a:blip r:embed="rId3"/>
          <a:stretch>
            <a:fillRect/>
          </a:stretch>
        </p:blipFill>
        <p:spPr>
          <a:xfrm>
            <a:off x="548640" y="2240280"/>
            <a:ext cx="6151294" cy="3931920"/>
          </a:xfrm>
          <a:prstGeom prst="rect">
            <a:avLst/>
          </a:prstGeom>
        </p:spPr>
      </p:pic>
      <p:sp>
        <p:nvSpPr>
          <p:cNvPr id="7" name="Data strip"/>
          <p:cNvSpPr/>
          <p:nvPr/>
        </p:nvSpPr>
        <p:spPr>
          <a:xfrm>
            <a:off x="548640" y="1554480"/>
            <a:ext cx="11064240" cy="5029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10698480" cy="502920"/>
          </a:xfrm>
          <a:prstGeom prst="rect">
            <a:avLst/>
          </a:prstGeom>
          <a:noFill/>
        </p:spPr>
        <p:txBody>
          <a:bodyPr wrap="square" lIns="0" rIns="0" tIns="0" bIns="0" anchor="ctr">
            <a:spAutoFit/>
          </a:bodyPr>
          <a:lstStyle/>
          <a:p>
            <a:pPr algn="l"/>
            <a:r>
              <a:rPr sz="1400" b="1" i="0">
                <a:solidFill>
                  <a:srgbClr val="1F2433"/>
                </a:solidFill>
                <a:latin typeface="Calibri"/>
              </a:rPr>
              <a:t>176 tokens</a:t>
            </a:r>
            <a:r>
              <a:rPr sz="1400" b="0" i="0">
                <a:solidFill>
                  <a:srgbClr val="1F2433"/>
                </a:solidFill>
                <a:latin typeface="Calibri"/>
              </a:rPr>
              <a:t>  ·  101,393 token-days, 2024-09-14 to 2026-08-15  ·  </a:t>
            </a:r>
            <a:r>
              <a:rPr sz="1400" b="1" i="0">
                <a:solidFill>
                  <a:srgbClr val="1F2433"/>
                </a:solidFill>
                <a:latin typeface="Calibri"/>
              </a:rPr>
              <a:t>prices: </a:t>
            </a:r>
            <a:r>
              <a:rPr sz="1400" b="0" i="0">
                <a:solidFill>
                  <a:srgbClr val="1F2433"/>
                </a:solidFill>
                <a:latin typeface="Calibri"/>
              </a:rPr>
              <a:t>Binance daily klines  ·  </a:t>
            </a:r>
            <a:r>
              <a:rPr sz="1400" b="1" i="0">
                <a:solidFill>
                  <a:srgbClr val="1F2433"/>
                </a:solidFill>
                <a:latin typeface="Calibri"/>
              </a:rPr>
              <a:t>unlocks: </a:t>
            </a:r>
            <a:r>
              <a:rPr sz="1400" b="0" i="0">
                <a:solidFill>
                  <a:srgbClr val="1F2433"/>
                </a:solidFill>
                <a:latin typeface="Calibri"/>
              </a:rPr>
              <a:t>Tokenomist schedules  ·  32 features</a:t>
            </a:r>
          </a:p>
        </p:txBody>
      </p:sp>
      <p:sp>
        <p:nvSpPr>
          <p:cNvPr id="9" name="TextBox 8"/>
          <p:cNvSpPr txBox="1"/>
          <p:nvPr/>
        </p:nvSpPr>
        <p:spPr>
          <a:xfrm>
            <a:off x="7955279" y="2286000"/>
            <a:ext cx="3657600" cy="731520"/>
          </a:xfrm>
          <a:prstGeom prst="rect">
            <a:avLst/>
          </a:prstGeom>
          <a:noFill/>
        </p:spPr>
        <p:txBody>
          <a:bodyPr wrap="square" lIns="0" rIns="0" tIns="0" bIns="0" anchor="t">
            <a:spAutoFit/>
          </a:bodyPr>
          <a:lstStyle/>
          <a:p>
            <a:pPr algn="l"/>
            <a:r>
              <a:rPr sz="4000" b="1" i="0">
                <a:solidFill>
                  <a:srgbClr val="141B2D"/>
                </a:solidFill>
                <a:latin typeface="Cambria"/>
              </a:rPr>
              <a:t>0.14</a:t>
            </a:r>
          </a:p>
        </p:txBody>
      </p:sp>
      <p:sp>
        <p:nvSpPr>
          <p:cNvPr id="10" name="TextBox 9"/>
          <p:cNvSpPr txBox="1"/>
          <p:nvPr/>
        </p:nvSpPr>
        <p:spPr>
          <a:xfrm>
            <a:off x="7955279" y="2971800"/>
            <a:ext cx="3657600" cy="731520"/>
          </a:xfrm>
          <a:prstGeom prst="rect">
            <a:avLst/>
          </a:prstGeom>
          <a:noFill/>
        </p:spPr>
        <p:txBody>
          <a:bodyPr wrap="square" lIns="0" rIns="0" tIns="0" bIns="0" anchor="t">
            <a:spAutoFit/>
          </a:bodyPr>
          <a:lstStyle/>
          <a:p>
            <a:pPr algn="l"/>
            <a:r>
              <a:rPr sz="1400" b="0" i="0">
                <a:solidFill>
                  <a:srgbClr val="6B7280"/>
                </a:solidFill>
                <a:latin typeface="Calibri"/>
              </a:rPr>
              <a:t>pooled Spearman ρ between 30-day unlock pressure and forward volatility</a:t>
            </a:r>
          </a:p>
        </p:txBody>
      </p:sp>
      <p:sp>
        <p:nvSpPr>
          <p:cNvPr id="11" name="TextBox 10"/>
          <p:cNvSpPr txBox="1"/>
          <p:nvPr/>
        </p:nvSpPr>
        <p:spPr>
          <a:xfrm>
            <a:off x="7955279" y="3657600"/>
            <a:ext cx="3657600" cy="731520"/>
          </a:xfrm>
          <a:prstGeom prst="rect">
            <a:avLst/>
          </a:prstGeom>
          <a:noFill/>
        </p:spPr>
        <p:txBody>
          <a:bodyPr wrap="square" lIns="0" rIns="0" tIns="0" bIns="0" anchor="t">
            <a:spAutoFit/>
          </a:bodyPr>
          <a:lstStyle/>
          <a:p>
            <a:pPr algn="l"/>
            <a:r>
              <a:rPr sz="4000" b="1" i="0">
                <a:solidFill>
                  <a:srgbClr val="141B2D"/>
                </a:solidFill>
                <a:latin typeface="Cambria"/>
              </a:rPr>
              <a:t>74%</a:t>
            </a:r>
          </a:p>
        </p:txBody>
      </p:sp>
      <p:sp>
        <p:nvSpPr>
          <p:cNvPr id="12" name="TextBox 11"/>
          <p:cNvSpPr txBox="1"/>
          <p:nvPr/>
        </p:nvSpPr>
        <p:spPr>
          <a:xfrm>
            <a:off x="7955279" y="4343400"/>
            <a:ext cx="3657600" cy="731520"/>
          </a:xfrm>
          <a:prstGeom prst="rect">
            <a:avLst/>
          </a:prstGeom>
          <a:noFill/>
        </p:spPr>
        <p:txBody>
          <a:bodyPr wrap="square" lIns="0" rIns="0" tIns="0" bIns="0" anchor="t">
            <a:spAutoFit/>
          </a:bodyPr>
          <a:lstStyle/>
          <a:p>
            <a:pPr algn="l"/>
            <a:r>
              <a:rPr sz="1400" b="0" i="0">
                <a:solidFill>
                  <a:srgbClr val="6B7280"/>
                </a:solidFill>
                <a:latin typeface="Calibri"/>
              </a:rPr>
              <a:t>of tokens show a positive correlation (per-token median ρ = 0.22)</a:t>
            </a:r>
          </a:p>
        </p:txBody>
      </p:sp>
      <p:sp>
        <p:nvSpPr>
          <p:cNvPr id="13" name="But"/>
          <p:cNvSpPr/>
          <p:nvPr/>
        </p:nvSpPr>
        <p:spPr>
          <a:xfrm>
            <a:off x="7955279" y="5074920"/>
            <a:ext cx="3657600" cy="109728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5166360"/>
            <a:ext cx="3200400" cy="914400"/>
          </a:xfrm>
          <a:prstGeom prst="rect">
            <a:avLst/>
          </a:prstGeom>
          <a:noFill/>
        </p:spPr>
        <p:txBody>
          <a:bodyPr wrap="square" lIns="0" rIns="0" tIns="0" bIns="0" anchor="t">
            <a:spAutoFit/>
          </a:bodyPr>
          <a:lstStyle/>
          <a:p>
            <a:pPr algn="l"/>
            <a:r>
              <a:rPr sz="1500" b="1" i="0">
                <a:solidFill>
                  <a:srgbClr val="EB6A35"/>
                </a:solidFill>
                <a:latin typeface="Calibri"/>
              </a:rPr>
              <a:t>But: </a:t>
            </a:r>
            <a:r>
              <a:rPr sz="1500" b="0" i="0">
                <a:solidFill>
                  <a:srgbClr val="1F2433"/>
                </a:solidFill>
                <a:latin typeface="Calibri"/>
              </a:rPr>
              <a:t>heavy-unlock tokens are young and already volatile. Is this just persistence in disguise?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PROTOCOL</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Walk-forward validation: never shuffle, never peek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4</a:t>
            </a:r>
          </a:p>
        </p:txBody>
      </p:sp>
      <p:sp>
        <p:nvSpPr>
          <p:cNvPr id="6" name="TextBox 5"/>
          <p:cNvSpPr txBox="1"/>
          <p:nvPr/>
        </p:nvSpPr>
        <p:spPr>
          <a:xfrm>
            <a:off x="548640" y="1847088"/>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1</a:t>
            </a:r>
          </a:p>
        </p:txBody>
      </p:sp>
      <p:sp>
        <p:nvSpPr>
          <p:cNvPr id="7" name="Train 1"/>
          <p:cNvSpPr/>
          <p:nvPr/>
        </p:nvSpPr>
        <p:spPr>
          <a:xfrm>
            <a:off x="1828800" y="1828800"/>
            <a:ext cx="180006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al 1"/>
          <p:cNvSpPr/>
          <p:nvPr/>
        </p:nvSpPr>
        <p:spPr>
          <a:xfrm>
            <a:off x="3628861" y="1828800"/>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st 1"/>
          <p:cNvSpPr/>
          <p:nvPr/>
        </p:nvSpPr>
        <p:spPr>
          <a:xfrm>
            <a:off x="5290457" y="1828800"/>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14016"/>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2</a:t>
            </a:r>
          </a:p>
        </p:txBody>
      </p:sp>
      <p:sp>
        <p:nvSpPr>
          <p:cNvPr id="11" name="Train 2"/>
          <p:cNvSpPr/>
          <p:nvPr/>
        </p:nvSpPr>
        <p:spPr>
          <a:xfrm>
            <a:off x="1828800" y="2395728"/>
            <a:ext cx="304625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al 2"/>
          <p:cNvSpPr/>
          <p:nvPr/>
        </p:nvSpPr>
        <p:spPr>
          <a:xfrm>
            <a:off x="4875058" y="2395728"/>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st 2"/>
          <p:cNvSpPr/>
          <p:nvPr/>
        </p:nvSpPr>
        <p:spPr>
          <a:xfrm>
            <a:off x="6536653" y="2395728"/>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980944"/>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3</a:t>
            </a:r>
          </a:p>
        </p:txBody>
      </p:sp>
      <p:sp>
        <p:nvSpPr>
          <p:cNvPr id="15" name="Train 3"/>
          <p:cNvSpPr/>
          <p:nvPr/>
        </p:nvSpPr>
        <p:spPr>
          <a:xfrm>
            <a:off x="1828800" y="2962656"/>
            <a:ext cx="4292454"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Val 3"/>
          <p:cNvSpPr/>
          <p:nvPr/>
        </p:nvSpPr>
        <p:spPr>
          <a:xfrm>
            <a:off x="6121254" y="2962656"/>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st 3"/>
          <p:cNvSpPr/>
          <p:nvPr/>
        </p:nvSpPr>
        <p:spPr>
          <a:xfrm>
            <a:off x="7782850" y="2962656"/>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547872"/>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4</a:t>
            </a:r>
          </a:p>
        </p:txBody>
      </p:sp>
      <p:sp>
        <p:nvSpPr>
          <p:cNvPr id="19" name="Train 4"/>
          <p:cNvSpPr/>
          <p:nvPr/>
        </p:nvSpPr>
        <p:spPr>
          <a:xfrm>
            <a:off x="1828800" y="3529584"/>
            <a:ext cx="553865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Val 4"/>
          <p:cNvSpPr/>
          <p:nvPr/>
        </p:nvSpPr>
        <p:spPr>
          <a:xfrm>
            <a:off x="7367451" y="3529584"/>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st 4"/>
          <p:cNvSpPr/>
          <p:nvPr/>
        </p:nvSpPr>
        <p:spPr>
          <a:xfrm>
            <a:off x="9029046" y="3529584"/>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114800"/>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5</a:t>
            </a:r>
          </a:p>
        </p:txBody>
      </p:sp>
      <p:sp>
        <p:nvSpPr>
          <p:cNvPr id="23" name="Train 5"/>
          <p:cNvSpPr/>
          <p:nvPr/>
        </p:nvSpPr>
        <p:spPr>
          <a:xfrm>
            <a:off x="1828800" y="4096512"/>
            <a:ext cx="678484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al 5"/>
          <p:cNvSpPr/>
          <p:nvPr/>
        </p:nvSpPr>
        <p:spPr>
          <a:xfrm>
            <a:off x="8613648" y="4096512"/>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st 5"/>
          <p:cNvSpPr/>
          <p:nvPr/>
        </p:nvSpPr>
        <p:spPr>
          <a:xfrm>
            <a:off x="10275243" y="4096512"/>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2024-09</a:t>
            </a:r>
          </a:p>
        </p:txBody>
      </p:sp>
      <p:sp>
        <p:nvSpPr>
          <p:cNvPr id="27" name="TextBox 26"/>
          <p:cNvSpPr txBox="1"/>
          <p:nvPr/>
        </p:nvSpPr>
        <p:spPr>
          <a:xfrm>
            <a:off x="4971723"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2025-06</a:t>
            </a:r>
          </a:p>
        </p:txBody>
      </p:sp>
      <p:sp>
        <p:nvSpPr>
          <p:cNvPr id="28" name="TextBox 27"/>
          <p:cNvSpPr txBox="1"/>
          <p:nvPr/>
        </p:nvSpPr>
        <p:spPr>
          <a:xfrm>
            <a:off x="7934901"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2026-01</a:t>
            </a:r>
          </a:p>
        </p:txBody>
      </p:sp>
      <p:sp>
        <p:nvSpPr>
          <p:cNvPr id="29" name="TextBox 28"/>
          <p:cNvSpPr txBox="1"/>
          <p:nvPr/>
        </p:nvSpPr>
        <p:spPr>
          <a:xfrm>
            <a:off x="1106424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2026-08</a:t>
            </a:r>
          </a:p>
        </p:txBody>
      </p:sp>
      <p:sp>
        <p:nvSpPr>
          <p:cNvPr id="30" name="Rectangle 29"/>
          <p:cNvSpPr/>
          <p:nvPr/>
        </p:nvSpPr>
        <p:spPr>
          <a:xfrm>
            <a:off x="1828800" y="5166360"/>
            <a:ext cx="274320" cy="27432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Train</a:t>
            </a:r>
          </a:p>
        </p:txBody>
      </p:sp>
      <p:sp>
        <p:nvSpPr>
          <p:cNvPr id="32" name="Rectangle 31"/>
          <p:cNvSpPr/>
          <p:nvPr/>
        </p:nvSpPr>
        <p:spPr>
          <a:xfrm>
            <a:off x="2720340" y="5166360"/>
            <a:ext cx="274320" cy="27432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8610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Validation (last 90d of train, for tuning)</a:t>
            </a:r>
          </a:p>
        </p:txBody>
      </p:sp>
      <p:sp>
        <p:nvSpPr>
          <p:cNvPr id="34" name="Rectangle 33"/>
          <p:cNvSpPr/>
          <p:nvPr/>
        </p:nvSpPr>
        <p:spPr>
          <a:xfrm>
            <a:off x="6487668" y="5166360"/>
            <a:ext cx="274320" cy="27432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3428"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30-day embargo</a:t>
            </a:r>
          </a:p>
        </p:txBody>
      </p:sp>
      <p:sp>
        <p:nvSpPr>
          <p:cNvPr id="36" name="Rectangle 35"/>
          <p:cNvSpPr/>
          <p:nvPr/>
        </p:nvSpPr>
        <p:spPr>
          <a:xfrm>
            <a:off x="8078724" y="5166360"/>
            <a:ext cx="274320" cy="27432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44484"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Test (90 days, scored once)</a:t>
            </a:r>
          </a:p>
        </p:txBody>
      </p:sp>
      <p:sp>
        <p:nvSpPr>
          <p:cNvPr id="38" name="TextBox 37"/>
          <p:cNvSpPr txBox="1"/>
          <p:nvPr/>
        </p:nvSpPr>
        <p:spPr>
          <a:xfrm>
            <a:off x="548640" y="5715000"/>
            <a:ext cx="11064240" cy="457200"/>
          </a:xfrm>
          <a:prstGeom prst="rect">
            <a:avLst/>
          </a:prstGeom>
          <a:noFill/>
        </p:spPr>
        <p:txBody>
          <a:bodyPr wrap="square" lIns="0" rIns="0" tIns="0" bIns="0" anchor="t">
            <a:spAutoFit/>
          </a:bodyPr>
          <a:lstStyle/>
          <a:p>
            <a:pPr algn="l"/>
            <a:r>
              <a:rPr sz="1400" b="0" i="0">
                <a:solidFill>
                  <a:srgbClr val="6B7280"/>
                </a:solidFill>
                <a:latin typeface="Calibri"/>
              </a:rPr>
              <a:t>Candidates (pre-processing + model + settings) are compared on validation only; the winner is refit and the test window is scored once, never used to change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METHODS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Six models, one shared harness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5</a:t>
            </a:r>
          </a:p>
        </p:txBody>
      </p:sp>
      <p:sp>
        <p:nvSpPr>
          <p:cNvPr id="6" name="Model card KNN"/>
          <p:cNvSpPr/>
          <p:nvPr/>
        </p:nvSpPr>
        <p:spPr>
          <a:xfrm>
            <a:off x="548640"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8" name="TextBox 7"/>
          <p:cNvSpPr txBox="1"/>
          <p:nvPr/>
        </p:nvSpPr>
        <p:spPr>
          <a:xfrm>
            <a:off x="72237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KNN</a:t>
            </a:r>
          </a:p>
        </p:txBody>
      </p:sp>
      <p:sp>
        <p:nvSpPr>
          <p:cNvPr id="9" name="TextBox 8"/>
          <p:cNvSpPr txBox="1"/>
          <p:nvPr/>
        </p:nvSpPr>
        <p:spPr>
          <a:xfrm>
            <a:off x="72237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Quantile-scaled distance; k from 5 to 250</a:t>
            </a:r>
          </a:p>
        </p:txBody>
      </p:sp>
      <p:sp>
        <p:nvSpPr>
          <p:cNvPr id="10" name="TextBox 9"/>
          <p:cNvSpPr txBox="1"/>
          <p:nvPr/>
        </p:nvSpPr>
        <p:spPr>
          <a:xfrm>
            <a:off x="72237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k = 100–250</a:t>
            </a:r>
          </a:p>
        </p:txBody>
      </p:sp>
      <p:sp>
        <p:nvSpPr>
          <p:cNvPr id="11" name="Model card Random Forest"/>
          <p:cNvSpPr/>
          <p:nvPr/>
        </p:nvSpPr>
        <p:spPr>
          <a:xfrm>
            <a:off x="2423160"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3" name="TextBox 12"/>
          <p:cNvSpPr txBox="1"/>
          <p:nvPr/>
        </p:nvSpPr>
        <p:spPr>
          <a:xfrm>
            <a:off x="259689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Random Forest</a:t>
            </a:r>
          </a:p>
        </p:txBody>
      </p:sp>
      <p:sp>
        <p:nvSpPr>
          <p:cNvPr id="14" name="TextBox 13"/>
          <p:cNvSpPr txBox="1"/>
          <p:nvPr/>
        </p:nvSpPr>
        <p:spPr>
          <a:xfrm>
            <a:off x="259689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400 trees, depth × leaf × features grid</a:t>
            </a:r>
          </a:p>
        </p:txBody>
      </p:sp>
      <p:sp>
        <p:nvSpPr>
          <p:cNvPr id="15" name="TextBox 14"/>
          <p:cNvSpPr txBox="1"/>
          <p:nvPr/>
        </p:nvSpPr>
        <p:spPr>
          <a:xfrm>
            <a:off x="259689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leaves of 50–100 rows</a:t>
            </a:r>
          </a:p>
        </p:txBody>
      </p:sp>
      <p:sp>
        <p:nvSpPr>
          <p:cNvPr id="16" name="Model card LightGBM"/>
          <p:cNvSpPr/>
          <p:nvPr/>
        </p:nvSpPr>
        <p:spPr>
          <a:xfrm>
            <a:off x="429767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8" name="TextBox 17"/>
          <p:cNvSpPr txBox="1"/>
          <p:nvPr/>
        </p:nvSpPr>
        <p:spPr>
          <a:xfrm>
            <a:off x="447141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LightGBM</a:t>
            </a:r>
          </a:p>
        </p:txBody>
      </p:sp>
      <p:sp>
        <p:nvSpPr>
          <p:cNvPr id="19" name="TextBox 18"/>
          <p:cNvSpPr txBox="1"/>
          <p:nvPr/>
        </p:nvSpPr>
        <p:spPr>
          <a:xfrm>
            <a:off x="447141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Boosted trees; 200 or 500 trees, 7 or 15 leaves</a:t>
            </a:r>
          </a:p>
        </p:txBody>
      </p:sp>
      <p:sp>
        <p:nvSpPr>
          <p:cNvPr id="20" name="TextBox 19"/>
          <p:cNvSpPr txBox="1"/>
          <p:nvPr/>
        </p:nvSpPr>
        <p:spPr>
          <a:xfrm>
            <a:off x="447141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slowest, lr 0.02</a:t>
            </a:r>
          </a:p>
        </p:txBody>
      </p:sp>
      <p:sp>
        <p:nvSpPr>
          <p:cNvPr id="21" name="Model card Ridge"/>
          <p:cNvSpPr/>
          <p:nvPr/>
        </p:nvSpPr>
        <p:spPr>
          <a:xfrm>
            <a:off x="617219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3" name="TextBox 22"/>
          <p:cNvSpPr txBox="1"/>
          <p:nvPr/>
        </p:nvSpPr>
        <p:spPr>
          <a:xfrm>
            <a:off x="634593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Ridge</a:t>
            </a:r>
          </a:p>
        </p:txBody>
      </p:sp>
      <p:sp>
        <p:nvSpPr>
          <p:cNvPr id="24" name="TextBox 23"/>
          <p:cNvSpPr txBox="1"/>
          <p:nvPr/>
        </p:nvSpPr>
        <p:spPr>
          <a:xfrm>
            <a:off x="634593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L2 penalty; α from 0.1 to 10⁷</a:t>
            </a:r>
          </a:p>
        </p:txBody>
      </p:sp>
      <p:sp>
        <p:nvSpPr>
          <p:cNvPr id="25" name="TextBox 24"/>
          <p:cNvSpPr txBox="1"/>
          <p:nvPr/>
        </p:nvSpPr>
        <p:spPr>
          <a:xfrm>
            <a:off x="634593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α = 10⁴–10⁷</a:t>
            </a:r>
          </a:p>
        </p:txBody>
      </p:sp>
      <p:sp>
        <p:nvSpPr>
          <p:cNvPr id="26" name="Model card Elastic Net"/>
          <p:cNvSpPr/>
          <p:nvPr/>
        </p:nvSpPr>
        <p:spPr>
          <a:xfrm>
            <a:off x="804671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0455"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8" name="TextBox 27"/>
          <p:cNvSpPr txBox="1"/>
          <p:nvPr/>
        </p:nvSpPr>
        <p:spPr>
          <a:xfrm>
            <a:off x="8220455"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Elastic Net</a:t>
            </a:r>
          </a:p>
        </p:txBody>
      </p:sp>
      <p:sp>
        <p:nvSpPr>
          <p:cNvPr id="29" name="TextBox 28"/>
          <p:cNvSpPr txBox="1"/>
          <p:nvPr/>
        </p:nvSpPr>
        <p:spPr>
          <a:xfrm>
            <a:off x="8220455"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L1 + L2, α × l1_ratio grid</a:t>
            </a:r>
          </a:p>
        </p:txBody>
      </p:sp>
      <p:sp>
        <p:nvSpPr>
          <p:cNvPr id="30" name="TextBox 29"/>
          <p:cNvSpPr txBox="1"/>
          <p:nvPr/>
        </p:nvSpPr>
        <p:spPr>
          <a:xfrm>
            <a:off x="8220455"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all-zero in 2 of 5 folds</a:t>
            </a:r>
          </a:p>
        </p:txBody>
      </p:sp>
      <p:sp>
        <p:nvSpPr>
          <p:cNvPr id="31" name="Model card Logistic"/>
          <p:cNvSpPr/>
          <p:nvPr/>
        </p:nvSpPr>
        <p:spPr>
          <a:xfrm>
            <a:off x="9921240" y="1783080"/>
            <a:ext cx="1719072" cy="420624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9497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CLASSIFICATION</a:t>
            </a:r>
          </a:p>
        </p:txBody>
      </p:sp>
      <p:sp>
        <p:nvSpPr>
          <p:cNvPr id="33" name="TextBox 32"/>
          <p:cNvSpPr txBox="1"/>
          <p:nvPr/>
        </p:nvSpPr>
        <p:spPr>
          <a:xfrm>
            <a:off x="10094976" y="2331720"/>
            <a:ext cx="1371600" cy="822960"/>
          </a:xfrm>
          <a:prstGeom prst="rect">
            <a:avLst/>
          </a:prstGeom>
          <a:noFill/>
        </p:spPr>
        <p:txBody>
          <a:bodyPr wrap="square" lIns="0" rIns="0" tIns="0" bIns="0" anchor="t">
            <a:spAutoFit/>
          </a:bodyPr>
          <a:lstStyle/>
          <a:p>
            <a:pPr algn="l"/>
            <a:r>
              <a:rPr sz="2000" b="1" i="0">
                <a:solidFill>
                  <a:srgbClr val="FFFFFF"/>
                </a:solidFill>
                <a:latin typeface="Cambria"/>
              </a:rPr>
              <a:t>Logistic</a:t>
            </a:r>
          </a:p>
        </p:txBody>
      </p:sp>
      <p:sp>
        <p:nvSpPr>
          <p:cNvPr id="34" name="TextBox 33"/>
          <p:cNvSpPr txBox="1"/>
          <p:nvPr/>
        </p:nvSpPr>
        <p:spPr>
          <a:xfrm>
            <a:off x="10094976" y="3200400"/>
            <a:ext cx="1371600" cy="1280160"/>
          </a:xfrm>
          <a:prstGeom prst="rect">
            <a:avLst/>
          </a:prstGeom>
          <a:noFill/>
        </p:spPr>
        <p:txBody>
          <a:bodyPr wrap="square" lIns="0" rIns="0" tIns="0" bIns="0" anchor="t">
            <a:spAutoFit/>
          </a:bodyPr>
          <a:lstStyle/>
          <a:p>
            <a:pPr algn="l"/>
            <a:r>
              <a:rPr sz="1400" b="0" i="0">
                <a:solidFill>
                  <a:srgbClr val="C9D3E6"/>
                </a:solidFill>
                <a:latin typeface="Calibri"/>
              </a:rPr>
              <a:t>L2; C from 10⁻⁵ to 10, log-loss tuning</a:t>
            </a:r>
          </a:p>
        </p:txBody>
      </p:sp>
      <p:sp>
        <p:nvSpPr>
          <p:cNvPr id="35" name="TextBox 34"/>
          <p:cNvSpPr txBox="1"/>
          <p:nvPr/>
        </p:nvSpPr>
        <p:spPr>
          <a:xfrm>
            <a:off x="10094976" y="4572000"/>
            <a:ext cx="1371600" cy="1188720"/>
          </a:xfrm>
          <a:prstGeom prst="rect">
            <a:avLst/>
          </a:prstGeom>
          <a:noFill/>
        </p:spPr>
        <p:txBody>
          <a:bodyPr wrap="square" lIns="0" rIns="0" tIns="0" bIns="0" anchor="t">
            <a:spAutoFit/>
          </a:bodyPr>
          <a:lstStyle/>
          <a:p>
            <a:pPr algn="l"/>
            <a:r>
              <a:rPr sz="1400" b="1" i="0">
                <a:solidFill>
                  <a:srgbClr val="FFFFFF"/>
                </a:solidFill>
                <a:latin typeface="Calibri"/>
              </a:rPr>
              <a:t>Events: top-20% vol, 1.5× spike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1</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All models beat the benchmarks on controls alone</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6</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Out-of-sample R² vs persistence</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daily panel, 5 test folds, same test rows for every forecast</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141B2D"/>
                </a:solidFill>
                <a:latin typeface="Cambria"/>
              </a:rPr>
              <a:t>0.17</a:t>
            </a:r>
          </a:p>
        </p:txBody>
      </p:sp>
      <p:sp>
        <p:nvSpPr>
          <p:cNvPr id="10" name="TextBox 9"/>
          <p:cNvSpPr txBox="1"/>
          <p:nvPr/>
        </p:nvSpPr>
        <p:spPr>
          <a:xfrm>
            <a:off x="8503920" y="3429000"/>
            <a:ext cx="3108960" cy="731520"/>
          </a:xfrm>
          <a:prstGeom prst="rect">
            <a:avLst/>
          </a:prstGeom>
          <a:noFill/>
        </p:spPr>
        <p:txBody>
          <a:bodyPr wrap="square" lIns="0" rIns="0" tIns="0" bIns="0" anchor="t">
            <a:spAutoFit/>
          </a:bodyPr>
          <a:lstStyle/>
          <a:p>
            <a:pPr algn="l"/>
            <a:r>
              <a:rPr sz="1500" b="0" i="0">
                <a:solidFill>
                  <a:srgbClr val="6B7280"/>
                </a:solidFill>
                <a:latin typeface="Calibri"/>
              </a:rPr>
              <a:t>training-mean benchmark: every model is above it</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000" b="1" i="0">
                <a:solidFill>
                  <a:srgbClr val="EB6A35"/>
                </a:solidFill>
                <a:latin typeface="Cambria"/>
              </a:rPr>
              <a:t>+0.001 to +0.006</a:t>
            </a:r>
          </a:p>
        </p:txBody>
      </p:sp>
      <p:sp>
        <p:nvSpPr>
          <p:cNvPr id="12" name="TextBox 11"/>
          <p:cNvSpPr txBox="1"/>
          <p:nvPr/>
        </p:nvSpPr>
        <p:spPr>
          <a:xfrm>
            <a:off x="8503920" y="5029200"/>
            <a:ext cx="3108960" cy="731520"/>
          </a:xfrm>
          <a:prstGeom prst="rect">
            <a:avLst/>
          </a:prstGeom>
          <a:noFill/>
        </p:spPr>
        <p:txBody>
          <a:bodyPr wrap="square" lIns="0" rIns="0" tIns="0" bIns="0" anchor="t">
            <a:spAutoFit/>
          </a:bodyPr>
          <a:lstStyle/>
          <a:p>
            <a:pPr algn="l"/>
            <a:r>
              <a:rPr sz="1500" b="0" i="0">
                <a:solidFill>
                  <a:srgbClr val="6B7280"/>
                </a:solidFill>
                <a:latin typeface="Calibri"/>
              </a:rPr>
              <a:t>gain from adding 23 unlock and static features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2</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small gain is noise: it flips sign across folds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7</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Δ R²oos = FULL − CONTROLS</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per test fold, in calendar order</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EB6A35"/>
                </a:solidFill>
                <a:latin typeface="Cambria"/>
              </a:rPr>
              <a:t>1–2 of 5</a:t>
            </a:r>
          </a:p>
        </p:txBody>
      </p:sp>
      <p:sp>
        <p:nvSpPr>
          <p:cNvPr id="10" name="TextBox 9"/>
          <p:cNvSpPr txBox="1"/>
          <p:nvPr/>
        </p:nvSpPr>
        <p:spPr>
          <a:xfrm>
            <a:off x="8503920" y="34290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folds where FULL beats CONTROLS for the tree models and KNN; 3 of 5 for the linear ones</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600" b="1" i="0">
                <a:solidFill>
                  <a:srgbClr val="141B2D"/>
                </a:solidFill>
                <a:latin typeface="Cambria"/>
              </a:rPr>
              <a:t>±0.15</a:t>
            </a:r>
          </a:p>
        </p:txBody>
      </p:sp>
      <p:sp>
        <p:nvSpPr>
          <p:cNvPr id="12" name="TextBox 11"/>
          <p:cNvSpPr txBox="1"/>
          <p:nvPr/>
        </p:nvSpPr>
        <p:spPr>
          <a:xfrm>
            <a:off x="8503920" y="50292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fold-to-fold s.d. of R²oos itself, 25× the largest mean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INTERPRETATION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Inside the models, unlock features barely register</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8</a:t>
            </a:r>
          </a:p>
        </p:txBody>
      </p:sp>
      <p:graphicFrame>
        <p:nvGraphicFramePr>
          <p:cNvPr id="6" name="Chart 5"/>
          <p:cNvGraphicFramePr>
            <a:graphicFrameLocks noGrp="1"/>
          </p:cNvGraphicFramePr>
          <p:nvPr/>
        </p:nvGraphicFramePr>
        <p:xfrm>
          <a:off x="548640" y="2057400"/>
          <a:ext cx="5486400" cy="329184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5486400" cy="365760"/>
          </a:xfrm>
          <a:prstGeom prst="rect">
            <a:avLst/>
          </a:prstGeom>
          <a:noFill/>
        </p:spPr>
        <p:txBody>
          <a:bodyPr wrap="square" lIns="0" rIns="0" tIns="0" bIns="0" anchor="t">
            <a:spAutoFit/>
          </a:bodyPr>
          <a:lstStyle/>
          <a:p>
            <a:pPr algn="l"/>
            <a:r>
              <a:rPr sz="1400" b="1" i="0">
                <a:solidFill>
                  <a:srgbClr val="1F2433"/>
                </a:solidFill>
                <a:latin typeface="Calibri"/>
              </a:rPr>
              <a:t>Random Forest: test-RMSE increase when a feature group is shuffled</a:t>
            </a:r>
          </a:p>
        </p:txBody>
      </p:sp>
      <p:sp>
        <p:nvSpPr>
          <p:cNvPr id="8" name="TextBox 7"/>
          <p:cNvSpPr txBox="1"/>
          <p:nvPr/>
        </p:nvSpPr>
        <p:spPr>
          <a:xfrm>
            <a:off x="548640" y="5440680"/>
            <a:ext cx="5486400" cy="640080"/>
          </a:xfrm>
          <a:prstGeom prst="rect">
            <a:avLst/>
          </a:prstGeom>
          <a:noFill/>
        </p:spPr>
        <p:txBody>
          <a:bodyPr wrap="square" lIns="0" rIns="0" tIns="0" bIns="0" anchor="t">
            <a:spAutoFit/>
          </a:bodyPr>
          <a:lstStyle/>
          <a:p>
            <a:pPr algn="l"/>
            <a:r>
              <a:rPr sz="1300" b="0" i="0">
                <a:solidFill>
                  <a:srgbClr val="6B7280"/>
                </a:solidFill>
                <a:latin typeface="Calibri"/>
              </a:rPr>
              <a:t>Top 5 RF features are all controls; partial dependence on unlock pressure is flat. LightGBM: controls take 92% of split gain, emission 4%.</a:t>
            </a:r>
          </a:p>
        </p:txBody>
      </p:sp>
      <p:sp>
        <p:nvSpPr>
          <p:cNvPr id="9" name="Interpretation card 0"/>
          <p:cNvSpPr/>
          <p:nvPr/>
        </p:nvSpPr>
        <p:spPr>
          <a:xfrm>
            <a:off x="6492240" y="1691640"/>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1856232"/>
            <a:ext cx="4663440" cy="274320"/>
          </a:xfrm>
          <a:prstGeom prst="rect">
            <a:avLst/>
          </a:prstGeom>
          <a:noFill/>
        </p:spPr>
        <p:txBody>
          <a:bodyPr wrap="square" lIns="0" rIns="0" tIns="0" bIns="0" anchor="t">
            <a:spAutoFit/>
          </a:bodyPr>
          <a:lstStyle/>
          <a:p>
            <a:pPr algn="l"/>
            <a:r>
              <a:rPr sz="1100" b="1" i="0">
                <a:solidFill>
                  <a:srgbClr val="EB6A35"/>
                </a:solidFill>
                <a:latin typeface="Calibri"/>
              </a:rPr>
              <a:t>COEFFICIENTS</a:t>
            </a:r>
          </a:p>
        </p:txBody>
      </p:sp>
      <p:sp>
        <p:nvSpPr>
          <p:cNvPr id="11" name="TextBox 10"/>
          <p:cNvSpPr txBox="1"/>
          <p:nvPr/>
        </p:nvSpPr>
        <p:spPr>
          <a:xfrm>
            <a:off x="6720840" y="2103120"/>
            <a:ext cx="4663440" cy="365760"/>
          </a:xfrm>
          <a:prstGeom prst="rect">
            <a:avLst/>
          </a:prstGeom>
          <a:noFill/>
        </p:spPr>
        <p:txBody>
          <a:bodyPr wrap="square" lIns="0" rIns="0" tIns="0" bIns="0" anchor="t">
            <a:spAutoFit/>
          </a:bodyPr>
          <a:lstStyle/>
          <a:p>
            <a:pPr algn="l"/>
            <a:r>
              <a:rPr sz="1500" b="1" i="0">
                <a:solidFill>
                  <a:srgbClr val="1F2433"/>
                </a:solidFill>
                <a:latin typeface="Calibri"/>
              </a:rPr>
              <a:t>Ridge / Elastic Net</a:t>
            </a:r>
          </a:p>
        </p:txBody>
      </p:sp>
      <p:sp>
        <p:nvSpPr>
          <p:cNvPr id="12" name="TextBox 11"/>
          <p:cNvSpPr txBox="1"/>
          <p:nvPr/>
        </p:nvSpPr>
        <p:spPr>
          <a:xfrm>
            <a:off x="6720840" y="2441448"/>
            <a:ext cx="4663440" cy="548640"/>
          </a:xfrm>
          <a:prstGeom prst="rect">
            <a:avLst/>
          </a:prstGeom>
          <a:noFill/>
        </p:spPr>
        <p:txBody>
          <a:bodyPr wrap="square" lIns="0" rIns="0" tIns="0" bIns="0" anchor="t">
            <a:spAutoFit/>
          </a:bodyPr>
          <a:lstStyle/>
          <a:p>
            <a:pPr algn="l"/>
            <a:r>
              <a:rPr sz="1300" b="0" i="0">
                <a:solidFill>
                  <a:srgbClr val="6B7280"/>
                </a:solidFill>
                <a:latin typeface="Calibri"/>
              </a:rPr>
              <a:t>Largest unlock coefficient +0.008 vs +0.040 for trailing 30d vol; EN drops every feature in 2 of 5 folds</a:t>
            </a:r>
          </a:p>
        </p:txBody>
      </p:sp>
      <p:sp>
        <p:nvSpPr>
          <p:cNvPr id="13" name="Interpretation card 1"/>
          <p:cNvSpPr/>
          <p:nvPr/>
        </p:nvSpPr>
        <p:spPr>
          <a:xfrm>
            <a:off x="6492240" y="3172968"/>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3337560"/>
            <a:ext cx="4663440" cy="274320"/>
          </a:xfrm>
          <a:prstGeom prst="rect">
            <a:avLst/>
          </a:prstGeom>
          <a:noFill/>
        </p:spPr>
        <p:txBody>
          <a:bodyPr wrap="square" lIns="0" rIns="0" tIns="0" bIns="0" anchor="t">
            <a:spAutoFit/>
          </a:bodyPr>
          <a:lstStyle/>
          <a:p>
            <a:pPr algn="l"/>
            <a:r>
              <a:rPr sz="1100" b="1" i="0">
                <a:solidFill>
                  <a:srgbClr val="EB6A35"/>
                </a:solidFill>
                <a:latin typeface="Calibri"/>
              </a:rPr>
              <a:t>A TREE</a:t>
            </a:r>
          </a:p>
        </p:txBody>
      </p:sp>
      <p:sp>
        <p:nvSpPr>
          <p:cNvPr id="15" name="TextBox 14"/>
          <p:cNvSpPr txBox="1"/>
          <p:nvPr/>
        </p:nvSpPr>
        <p:spPr>
          <a:xfrm>
            <a:off x="6720840" y="3584448"/>
            <a:ext cx="4663440" cy="365760"/>
          </a:xfrm>
          <a:prstGeom prst="rect">
            <a:avLst/>
          </a:prstGeom>
          <a:noFill/>
        </p:spPr>
        <p:txBody>
          <a:bodyPr wrap="square" lIns="0" rIns="0" tIns="0" bIns="0" anchor="t">
            <a:spAutoFit/>
          </a:bodyPr>
          <a:lstStyle/>
          <a:p>
            <a:pPr algn="l"/>
            <a:r>
              <a:rPr sz="1500" b="1" i="0">
                <a:solidFill>
                  <a:srgbClr val="1F2433"/>
                </a:solidFill>
                <a:latin typeface="Calibri"/>
              </a:rPr>
              <a:t>Depth-3 tree, all 32 features</a:t>
            </a:r>
          </a:p>
        </p:txBody>
      </p:sp>
      <p:sp>
        <p:nvSpPr>
          <p:cNvPr id="16" name="TextBox 15"/>
          <p:cNvSpPr txBox="1"/>
          <p:nvPr/>
        </p:nvSpPr>
        <p:spPr>
          <a:xfrm>
            <a:off x="6720840" y="3922776"/>
            <a:ext cx="4663440" cy="548640"/>
          </a:xfrm>
          <a:prstGeom prst="rect">
            <a:avLst/>
          </a:prstGeom>
          <a:noFill/>
        </p:spPr>
        <p:txBody>
          <a:bodyPr wrap="square" lIns="0" rIns="0" tIns="0" bIns="0" anchor="t">
            <a:spAutoFit/>
          </a:bodyPr>
          <a:lstStyle/>
          <a:p>
            <a:pPr algn="l"/>
            <a:r>
              <a:rPr sz="1300" b="0" i="0">
                <a:solidFill>
                  <a:srgbClr val="6B7280"/>
                </a:solidFill>
                <a:latin typeface="Calibri"/>
              </a:rPr>
              <a:t>Splits only on trailing vol, BTC/ETH vol, token age and 30d return</a:t>
            </a:r>
          </a:p>
        </p:txBody>
      </p:sp>
      <p:sp>
        <p:nvSpPr>
          <p:cNvPr id="17" name="Interpretation card 2"/>
          <p:cNvSpPr/>
          <p:nvPr/>
        </p:nvSpPr>
        <p:spPr>
          <a:xfrm>
            <a:off x="6492240" y="4654296"/>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818888"/>
            <a:ext cx="4663440" cy="274320"/>
          </a:xfrm>
          <a:prstGeom prst="rect">
            <a:avLst/>
          </a:prstGeom>
          <a:noFill/>
        </p:spPr>
        <p:txBody>
          <a:bodyPr wrap="square" lIns="0" rIns="0" tIns="0" bIns="0" anchor="t">
            <a:spAutoFit/>
          </a:bodyPr>
          <a:lstStyle/>
          <a:p>
            <a:pPr algn="l"/>
            <a:r>
              <a:rPr sz="1100" b="1" i="0">
                <a:solidFill>
                  <a:srgbClr val="EB6A35"/>
                </a:solidFill>
                <a:latin typeface="Calibri"/>
              </a:rPr>
              <a:t>NEIGHBOURS</a:t>
            </a:r>
          </a:p>
        </p:txBody>
      </p:sp>
      <p:sp>
        <p:nvSpPr>
          <p:cNvPr id="19" name="TextBox 18"/>
          <p:cNvSpPr txBox="1"/>
          <p:nvPr/>
        </p:nvSpPr>
        <p:spPr>
          <a:xfrm>
            <a:off x="6720840" y="5065776"/>
            <a:ext cx="4663440" cy="365760"/>
          </a:xfrm>
          <a:prstGeom prst="rect">
            <a:avLst/>
          </a:prstGeom>
          <a:noFill/>
        </p:spPr>
        <p:txBody>
          <a:bodyPr wrap="square" lIns="0" rIns="0" tIns="0" bIns="0" anchor="t">
            <a:spAutoFit/>
          </a:bodyPr>
          <a:lstStyle/>
          <a:p>
            <a:pPr algn="l"/>
            <a:r>
              <a:rPr sz="1500" b="1" i="0">
                <a:solidFill>
                  <a:srgbClr val="1F2433"/>
                </a:solidFill>
                <a:latin typeface="Calibri"/>
              </a:rPr>
              <a:t>KNN, most unlock-heavy row</a:t>
            </a:r>
          </a:p>
        </p:txBody>
      </p:sp>
      <p:sp>
        <p:nvSpPr>
          <p:cNvPr id="20" name="TextBox 19"/>
          <p:cNvSpPr txBox="1"/>
          <p:nvPr/>
        </p:nvSpPr>
        <p:spPr>
          <a:xfrm>
            <a:off x="6720840" y="5404104"/>
            <a:ext cx="4663440" cy="548640"/>
          </a:xfrm>
          <a:prstGeom prst="rect">
            <a:avLst/>
          </a:prstGeom>
          <a:noFill/>
        </p:spPr>
        <p:txBody>
          <a:bodyPr wrap="square" lIns="0" rIns="0" tIns="0" bIns="0" anchor="t">
            <a:spAutoFit/>
          </a:bodyPr>
          <a:lstStyle/>
          <a:p>
            <a:pPr algn="l"/>
            <a:r>
              <a:rPr sz="1300" b="0" i="0">
                <a:solidFill>
                  <a:srgbClr val="6B7280"/>
                </a:solidFill>
                <a:latin typeface="Calibri"/>
              </a:rPr>
              <a:t>104% of float unlocking; neighbours' median 12.5%. Forecast 0.78, realized 0.55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WHICH MISTAKES REMAIN?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Unlock features do not help even where unlocks are big</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9</a:t>
            </a:r>
          </a:p>
        </p:txBody>
      </p:sp>
      <p:graphicFrame>
        <p:nvGraphicFramePr>
          <p:cNvPr id="6" name="Chart 5"/>
          <p:cNvGraphicFramePr>
            <a:graphicFrameLocks noGrp="1"/>
          </p:cNvGraphicFramePr>
          <p:nvPr/>
        </p:nvGraphicFramePr>
        <p:xfrm>
          <a:off x="548640" y="2011680"/>
          <a:ext cx="7589520" cy="416052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7589520" cy="365760"/>
          </a:xfrm>
          <a:prstGeom prst="rect">
            <a:avLst/>
          </a:prstGeom>
          <a:noFill/>
        </p:spPr>
        <p:txBody>
          <a:bodyPr wrap="square" lIns="0" rIns="0" tIns="0" bIns="0" anchor="t">
            <a:spAutoFit/>
          </a:bodyPr>
          <a:lstStyle/>
          <a:p>
            <a:pPr algn="l"/>
            <a:r>
              <a:rPr sz="1400" b="1" i="0">
                <a:solidFill>
                  <a:srgbClr val="1F2433"/>
                </a:solidFill>
                <a:latin typeface="Calibri"/>
              </a:rPr>
              <a:t>Change in test RMSE from adding unlock features (positive = worse), by 30-day unlock share of float</a:t>
            </a:r>
          </a:p>
        </p:txBody>
      </p:sp>
      <p:sp>
        <p:nvSpPr>
          <p:cNvPr id="8" name="TextBox 7"/>
          <p:cNvSpPr txBox="1"/>
          <p:nvPr/>
        </p:nvSpPr>
        <p:spPr>
          <a:xfrm>
            <a:off x="8503920" y="1737360"/>
            <a:ext cx="3200400" cy="640080"/>
          </a:xfrm>
          <a:prstGeom prst="rect">
            <a:avLst/>
          </a:prstGeom>
          <a:noFill/>
        </p:spPr>
        <p:txBody>
          <a:bodyPr wrap="square" lIns="0" rIns="0" tIns="0" bIns="0" anchor="t">
            <a:spAutoFit/>
          </a:bodyPr>
          <a:lstStyle/>
          <a:p>
            <a:pPr algn="l"/>
            <a:r>
              <a:rPr sz="3200" b="1" i="0">
                <a:solidFill>
                  <a:srgbClr val="141B2D"/>
                </a:solidFill>
                <a:latin typeface="Cambria"/>
              </a:rPr>
              <a:t>18% → 12%</a:t>
            </a:r>
          </a:p>
        </p:txBody>
      </p:sp>
      <p:sp>
        <p:nvSpPr>
          <p:cNvPr id="9" name="TextBox 8"/>
          <p:cNvSpPr txBox="1"/>
          <p:nvPr/>
        </p:nvSpPr>
        <p:spPr>
          <a:xfrm>
            <a:off x="8503920" y="2423160"/>
            <a:ext cx="3108960" cy="1097280"/>
          </a:xfrm>
          <a:prstGeom prst="rect">
            <a:avLst/>
          </a:prstGeom>
          <a:noFill/>
        </p:spPr>
        <p:txBody>
          <a:bodyPr wrap="square" lIns="0" rIns="0" tIns="0" bIns="0" anchor="t">
            <a:spAutoFit/>
          </a:bodyPr>
          <a:lstStyle/>
          <a:p>
            <a:pPr algn="l"/>
            <a:r>
              <a:rPr sz="1500" b="0" i="0">
                <a:solidFill>
                  <a:srgbClr val="6B7280"/>
                </a:solidFill>
                <a:latin typeface="Calibri"/>
              </a:rPr>
              <a:t>forecasts off by more than 2×: persistence vs Ridge. The real gain is fewer large misses</a:t>
            </a:r>
          </a:p>
        </p:txBody>
      </p:sp>
      <p:sp>
        <p:nvSpPr>
          <p:cNvPr id="10" name="TextBox 9"/>
          <p:cNvSpPr txBox="1"/>
          <p:nvPr/>
        </p:nvSpPr>
        <p:spPr>
          <a:xfrm>
            <a:off x="8503920" y="3886200"/>
            <a:ext cx="3200400" cy="640080"/>
          </a:xfrm>
          <a:prstGeom prst="rect">
            <a:avLst/>
          </a:prstGeom>
          <a:noFill/>
        </p:spPr>
        <p:txBody>
          <a:bodyPr wrap="square" lIns="0" rIns="0" tIns="0" bIns="0" anchor="t">
            <a:spAutoFit/>
          </a:bodyPr>
          <a:lstStyle/>
          <a:p>
            <a:pPr algn="l"/>
            <a:r>
              <a:rPr sz="3200" b="1" i="0">
                <a:solidFill>
                  <a:srgbClr val="EB6A35"/>
                </a:solidFill>
                <a:latin typeface="Cambria"/>
              </a:rPr>
              <a:t>62%</a:t>
            </a:r>
          </a:p>
        </p:txBody>
      </p:sp>
      <p:sp>
        <p:nvSpPr>
          <p:cNvPr id="11" name="TextBox 10"/>
          <p:cNvSpPr txBox="1"/>
          <p:nvPr/>
        </p:nvSpPr>
        <p:spPr>
          <a:xfrm>
            <a:off x="8503920" y="4572000"/>
            <a:ext cx="3108960" cy="1097280"/>
          </a:xfrm>
          <a:prstGeom prst="rect">
            <a:avLst/>
          </a:prstGeom>
          <a:noFill/>
        </p:spPr>
        <p:txBody>
          <a:bodyPr wrap="square" lIns="0" rIns="0" tIns="0" bIns="0" anchor="t">
            <a:spAutoFit/>
          </a:bodyPr>
          <a:lstStyle/>
          <a:p>
            <a:pPr algn="l"/>
            <a:r>
              <a:rPr sz="1500" b="0" i="0">
                <a:solidFill>
                  <a:srgbClr val="6B7280"/>
                </a:solidFill>
                <a:latin typeface="Calibri"/>
              </a:rPr>
              <a:t>of remaining 2× misses are over-forecasts: volatility collapsed. The rest are spikes no feature sees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ROBUSTNESS AND CLASSIFICATION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null result survives every robustness check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10</a:t>
            </a:r>
          </a:p>
        </p:txBody>
      </p:sp>
      <p:graphicFrame>
        <p:nvGraphicFramePr>
          <p:cNvPr id="6" name="Table 5"/>
          <p:cNvGraphicFramePr>
            <a:graphicFrameLocks noGrp="1"/>
          </p:cNvGraphicFramePr>
          <p:nvPr/>
        </p:nvGraphicFramePr>
        <p:xfrm>
          <a:off x="548640" y="1737360"/>
          <a:ext cx="9326880" cy="4114800"/>
        </p:xfrm>
        <a:graphic>
          <a:graphicData uri="http://schemas.openxmlformats.org/drawingml/2006/table">
            <a:tbl>
              <a:tblPr firstRow="1" bandRow="1">
                <a:tableStyleId>{5C22544A-7EE6-4342-B048-85BDC9FD1C3A}</a:tableStyleId>
              </a:tblPr>
              <a:tblGrid>
                <a:gridCol w="2926080"/>
                <a:gridCol w="1097280"/>
                <a:gridCol w="1554480"/>
                <a:gridCol w="1280160"/>
                <a:gridCol w="1097280"/>
                <a:gridCol w="1371600"/>
              </a:tblGrid>
              <a:tr h="587828">
                <a:tc>
                  <a:txBody>
                    <a:bodyPr/>
                    <a:lstStyle/>
                    <a:p>
                      <a:pPr algn="l"/>
                      <a:r>
                        <a:rPr sz="1400" b="1">
                          <a:solidFill>
                            <a:srgbClr val="FFFFFF"/>
                          </a:solidFill>
                          <a:latin typeface="Calibri"/>
                        </a:rPr>
                        <a:t>Specification</a:t>
                      </a:r>
                    </a:p>
                  </a:txBody>
                  <a:tcPr anchor="ctr">
                    <a:solidFill>
                      <a:srgbClr val="141B2D"/>
                    </a:solidFill>
                  </a:tcPr>
                </a:tc>
                <a:tc>
                  <a:txBody>
                    <a:bodyPr/>
                    <a:lstStyle/>
                    <a:p>
                      <a:pPr algn="ctr"/>
                      <a:r>
                        <a:rPr sz="1400" b="1">
                          <a:solidFill>
                            <a:srgbClr val="FFFFFF"/>
                          </a:solidFill>
                          <a:latin typeface="Calibri"/>
                        </a:rPr>
                        <a:t>KNN</a:t>
                      </a:r>
                    </a:p>
                  </a:txBody>
                  <a:tcPr anchor="ctr">
                    <a:solidFill>
                      <a:srgbClr val="141B2D"/>
                    </a:solidFill>
                  </a:tcPr>
                </a:tc>
                <a:tc>
                  <a:txBody>
                    <a:bodyPr/>
                    <a:lstStyle/>
                    <a:p>
                      <a:pPr algn="ctr"/>
                      <a:r>
                        <a:rPr sz="1400" b="1">
                          <a:solidFill>
                            <a:srgbClr val="FFFFFF"/>
                          </a:solidFill>
                          <a:latin typeface="Calibri"/>
                        </a:rPr>
                        <a:t>Random Forest</a:t>
                      </a:r>
                    </a:p>
                  </a:txBody>
                  <a:tcPr anchor="ctr">
                    <a:solidFill>
                      <a:srgbClr val="141B2D"/>
                    </a:solidFill>
                  </a:tcPr>
                </a:tc>
                <a:tc>
                  <a:txBody>
                    <a:bodyPr/>
                    <a:lstStyle/>
                    <a:p>
                      <a:pPr algn="ctr"/>
                      <a:r>
                        <a:rPr sz="1400" b="1">
                          <a:solidFill>
                            <a:srgbClr val="FFFFFF"/>
                          </a:solidFill>
                          <a:latin typeface="Calibri"/>
                        </a:rPr>
                        <a:t>LightGBM</a:t>
                      </a:r>
                    </a:p>
                  </a:txBody>
                  <a:tcPr anchor="ctr">
                    <a:solidFill>
                      <a:srgbClr val="141B2D"/>
                    </a:solidFill>
                  </a:tcPr>
                </a:tc>
                <a:tc>
                  <a:txBody>
                    <a:bodyPr/>
                    <a:lstStyle/>
                    <a:p>
                      <a:pPr algn="ctr"/>
                      <a:r>
                        <a:rPr sz="1400" b="1">
                          <a:solidFill>
                            <a:srgbClr val="FFFFFF"/>
                          </a:solidFill>
                          <a:latin typeface="Calibri"/>
                        </a:rPr>
                        <a:t>Ridge</a:t>
                      </a:r>
                    </a:p>
                  </a:txBody>
                  <a:tcPr anchor="ctr">
                    <a:solidFill>
                      <a:srgbClr val="141B2D"/>
                    </a:solidFill>
                  </a:tcPr>
                </a:tc>
                <a:tc>
                  <a:txBody>
                    <a:bodyPr/>
                    <a:lstStyle/>
                    <a:p>
                      <a:pPr algn="ctr"/>
                      <a:r>
                        <a:rPr sz="1400" b="1">
                          <a:solidFill>
                            <a:srgbClr val="FFFFFF"/>
                          </a:solidFill>
                          <a:latin typeface="Calibri"/>
                        </a:rPr>
                        <a:t>Elastic Net</a:t>
                      </a:r>
                    </a:p>
                  </a:txBody>
                  <a:tcPr anchor="ctr">
                    <a:solidFill>
                      <a:srgbClr val="141B2D"/>
                    </a:solidFill>
                  </a:tcPr>
                </a:tc>
              </a:tr>
              <a:tr h="587828">
                <a:tc>
                  <a:txBody>
                    <a:bodyPr/>
                    <a:lstStyle/>
                    <a:p>
                      <a:pPr algn="l"/>
                      <a:r>
                        <a:rPr sz="1400" b="0">
                          <a:solidFill>
                            <a:srgbClr val="1F2433"/>
                          </a:solidFill>
                          <a:latin typeface="Calibri"/>
                        </a:rPr>
                        <a:t>Daily panel (main)</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+0.006</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r>
              <a:tr h="587828">
                <a:tc>
                  <a:txBody>
                    <a:bodyPr/>
                    <a:lstStyle/>
                    <a:p>
                      <a:pPr algn="l"/>
                      <a:r>
                        <a:rPr sz="1400" b="0">
                          <a:solidFill>
                            <a:srgbClr val="1F2433"/>
                          </a:solidFill>
                          <a:latin typeface="Calibri"/>
                        </a:rPr>
                        <a:t>Weekly panel</a:t>
                      </a:r>
                    </a:p>
                  </a:txBody>
                  <a:tcPr anchor="ctr">
                    <a:solidFill>
                      <a:srgbClr val="F2F4F7"/>
                    </a:solidFill>
                  </a:tcPr>
                </a:tc>
                <a:tc>
                  <a:txBody>
                    <a:bodyPr/>
                    <a:lstStyle/>
                    <a:p>
                      <a:pPr algn="ctr"/>
                      <a:r>
                        <a:rPr sz="1400" b="0">
                          <a:solidFill>
                            <a:srgbClr val="1F2433"/>
                          </a:solidFill>
                          <a:latin typeface="Calibri"/>
                        </a:rPr>
                        <a:t>-0.008</a:t>
                      </a:r>
                    </a:p>
                  </a:txBody>
                  <a:tcPr anchor="ctr">
                    <a:solidFill>
                      <a:srgbClr val="F2F4F7"/>
                    </a:solidFill>
                  </a:tcPr>
                </a:tc>
                <a:tc>
                  <a:txBody>
                    <a:bodyPr/>
                    <a:lstStyle/>
                    <a:p>
                      <a:pPr algn="ctr"/>
                      <a:r>
                        <a:rPr sz="1400" b="0">
                          <a:solidFill>
                            <a:srgbClr val="1F2433"/>
                          </a:solidFill>
                          <a:latin typeface="Calibri"/>
                        </a:rPr>
                        <a:t>+0.007</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+0.014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Hand-curated tokens only</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+0.013</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0.000</a:t>
                      </a:r>
                    </a:p>
                  </a:txBody>
                  <a:tcPr anchor="ctr">
                    <a:solidFill>
                      <a:srgbClr val="FFFFFF"/>
                    </a:solidFill>
                  </a:tcPr>
                </a:tc>
              </a:tr>
              <a:tr h="587828">
                <a:tc>
                  <a:txBody>
                    <a:bodyPr/>
                    <a:lstStyle/>
                    <a:p>
                      <a:pPr algn="l"/>
                      <a:r>
                        <a:rPr sz="1400" b="0">
                          <a:solidFill>
                            <a:srgbClr val="1F2433"/>
                          </a:solidFill>
                          <a:latin typeface="Calibri"/>
                        </a:rPr>
                        <a:t>Target: 7-day vol</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Target: 30-day vol</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r>
              <a:tr h="587832">
                <a:tc>
                  <a:txBody>
                    <a:bodyPr/>
                    <a:lstStyle/>
                    <a:p>
                      <a:pPr algn="l"/>
                      <a:r>
                        <a:rPr sz="1400" b="0">
                          <a:solidFill>
                            <a:srgbClr val="1F2433"/>
                          </a:solidFill>
                          <a:latin typeface="Calibri"/>
                        </a:rPr>
                        <a:t>Target: Parkinson 14-day</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+0.009</a:t>
                      </a:r>
                    </a:p>
                  </a:txBody>
                  <a:tcPr anchor="ctr">
                    <a:solidFill>
                      <a:srgbClr val="F2F4F7"/>
                    </a:solidFill>
                  </a:tcPr>
                </a:tc>
                <a:tc>
                  <a:txBody>
                    <a:bodyPr/>
                    <a:lstStyle/>
                    <a:p>
                      <a:pPr algn="ctr"/>
                      <a:r>
                        <a:rPr sz="1400" b="0">
                          <a:solidFill>
                            <a:srgbClr val="1F2433"/>
                          </a:solidFill>
                          <a:latin typeface="Calibri"/>
                        </a:rPr>
                        <a:t>+0.011</a:t>
                      </a:r>
                    </a:p>
                  </a:txBody>
                  <a:tcPr anchor="ctr">
                    <a:solidFill>
                      <a:srgbClr val="F2F4F7"/>
                    </a:solidFill>
                  </a:tcPr>
                </a:tc>
                <a:tc>
                  <a:txBody>
                    <a:bodyPr/>
                    <a:lstStyle/>
                    <a:p>
                      <a:pPr algn="ctr"/>
                      <a:r>
                        <a:rPr sz="1400" b="0">
                          <a:solidFill>
                            <a:srgbClr val="1F2433"/>
                          </a:solidFill>
                          <a:latin typeface="Calibri"/>
                        </a:rPr>
                        <a:t>+0.001</a:t>
                      </a:r>
                    </a:p>
                  </a:txBody>
                  <a:tcPr anchor="ctr">
                    <a:solidFill>
                      <a:srgbClr val="F2F4F7"/>
                    </a:solidFill>
                  </a:tcPr>
                </a:tc>
              </a:tr>
            </a:tbl>
          </a:graphicData>
        </a:graphic>
      </p:graphicFrame>
      <p:sp>
        <p:nvSpPr>
          <p:cNvPr id="7" name="TextBox 6"/>
          <p:cNvSpPr txBox="1"/>
          <p:nvPr/>
        </p:nvSpPr>
        <p:spPr>
          <a:xfrm>
            <a:off x="548640" y="5943600"/>
            <a:ext cx="9601200" cy="365760"/>
          </a:xfrm>
          <a:prstGeom prst="rect">
            <a:avLst/>
          </a:prstGeom>
          <a:noFill/>
        </p:spPr>
        <p:txBody>
          <a:bodyPr wrap="square" lIns="0" rIns="0" tIns="0" bIns="0" anchor="t">
            <a:spAutoFit/>
          </a:bodyPr>
          <a:lstStyle/>
          <a:p>
            <a:pPr algn="l"/>
            <a:r>
              <a:rPr sz="1200" b="0" i="0">
                <a:solidFill>
                  <a:srgbClr val="6B7280"/>
                </a:solidFill>
                <a:latin typeface="Calibri"/>
              </a:rPr>
              <a:t>Cells: mean Δ R²oos (FULL − CONTROLS) over 5 folds.  – = controls-only run not done for that specification.</a:t>
            </a:r>
          </a:p>
        </p:txBody>
      </p:sp>
      <p:sp>
        <p:nvSpPr>
          <p:cNvPr id="8" name="TextBox 7"/>
          <p:cNvSpPr txBox="1"/>
          <p:nvPr/>
        </p:nvSpPr>
        <p:spPr>
          <a:xfrm>
            <a:off x="10149840" y="1828800"/>
            <a:ext cx="1737360" cy="822960"/>
          </a:xfrm>
          <a:prstGeom prst="rect">
            <a:avLst/>
          </a:prstGeom>
          <a:noFill/>
        </p:spPr>
        <p:txBody>
          <a:bodyPr wrap="square" lIns="0" rIns="0" tIns="0" bIns="0" anchor="t">
            <a:spAutoFit/>
          </a:bodyPr>
          <a:lstStyle/>
          <a:p>
            <a:pPr algn="l"/>
            <a:r>
              <a:rPr sz="3000" b="1" i="0">
                <a:solidFill>
                  <a:srgbClr val="EB6A35"/>
                </a:solidFill>
                <a:latin typeface="Cambria"/>
              </a:rPr>
              <a:t>+0.017</a:t>
            </a:r>
          </a:p>
        </p:txBody>
      </p:sp>
      <p:sp>
        <p:nvSpPr>
          <p:cNvPr id="9" name="TextBox 8"/>
          <p:cNvSpPr txBox="1"/>
          <p:nvPr/>
        </p:nvSpPr>
        <p:spPr>
          <a:xfrm>
            <a:off x="10149840" y="2514600"/>
            <a:ext cx="1645920" cy="1280160"/>
          </a:xfrm>
          <a:prstGeom prst="rect">
            <a:avLst/>
          </a:prstGeom>
          <a:noFill/>
        </p:spPr>
        <p:txBody>
          <a:bodyPr wrap="square" lIns="0" rIns="0" tIns="0" bIns="0" anchor="t">
            <a:spAutoFit/>
          </a:bodyPr>
          <a:lstStyle/>
          <a:p>
            <a:pPr algn="l"/>
            <a:r>
              <a:rPr sz="1400" b="0" i="0">
                <a:solidFill>
                  <a:srgbClr val="6B7280"/>
                </a:solidFill>
                <a:latin typeface="Calibri"/>
              </a:rPr>
              <a:t>largest gain anywhere (RF curated; LightGBM 30d vol)</a:t>
            </a:r>
          </a:p>
        </p:txBody>
      </p:sp>
      <p:sp>
        <p:nvSpPr>
          <p:cNvPr id="10" name="TextBox 9"/>
          <p:cNvSpPr txBox="1"/>
          <p:nvPr/>
        </p:nvSpPr>
        <p:spPr>
          <a:xfrm>
            <a:off x="10149840" y="3840480"/>
            <a:ext cx="1737360" cy="822960"/>
          </a:xfrm>
          <a:prstGeom prst="rect">
            <a:avLst/>
          </a:prstGeom>
          <a:noFill/>
        </p:spPr>
        <p:txBody>
          <a:bodyPr wrap="square" lIns="0" rIns="0" tIns="0" bIns="0" anchor="t">
            <a:spAutoFit/>
          </a:bodyPr>
          <a:lstStyle/>
          <a:p>
            <a:pPr algn="l"/>
            <a:r>
              <a:rPr sz="3000" b="1" i="0">
                <a:solidFill>
                  <a:srgbClr val="141B2D"/>
                </a:solidFill>
                <a:latin typeface="Cambria"/>
              </a:rPr>
              <a:t>-0.002</a:t>
            </a:r>
          </a:p>
        </p:txBody>
      </p:sp>
      <p:sp>
        <p:nvSpPr>
          <p:cNvPr id="11" name="TextBox 10"/>
          <p:cNvSpPr txBox="1"/>
          <p:nvPr/>
        </p:nvSpPr>
        <p:spPr>
          <a:xfrm>
            <a:off x="10149840" y="4526280"/>
            <a:ext cx="1645920" cy="1371600"/>
          </a:xfrm>
          <a:prstGeom prst="rect">
            <a:avLst/>
          </a:prstGeom>
          <a:noFill/>
        </p:spPr>
        <p:txBody>
          <a:bodyPr wrap="square" lIns="0" rIns="0" tIns="0" bIns="0" anchor="t">
            <a:spAutoFit/>
          </a:bodyPr>
          <a:lstStyle/>
          <a:p>
            <a:pPr algn="l"/>
            <a:r>
              <a:rPr sz="1400" b="0" i="0">
                <a:solidFill>
                  <a:srgbClr val="6B7280"/>
                </a:solidFill>
                <a:latin typeface="Calibri"/>
              </a:rPr>
              <a:t>logistic AUC change from unlocks: top-20% event (spike: -0.004)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PRACTICAL RELEVANCE</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Is any improvement useful for the decision?</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11</a:t>
            </a:r>
          </a:p>
        </p:txBody>
      </p:sp>
      <p:sp>
        <p:nvSpPr>
          <p:cNvPr id="6" name="TextBox 5"/>
          <p:cNvSpPr txBox="1"/>
          <p:nvPr/>
        </p:nvSpPr>
        <p:spPr>
          <a:xfrm>
            <a:off x="548640" y="1737360"/>
            <a:ext cx="2377440" cy="822960"/>
          </a:xfrm>
          <a:prstGeom prst="rect">
            <a:avLst/>
          </a:prstGeom>
          <a:noFill/>
        </p:spPr>
        <p:txBody>
          <a:bodyPr wrap="square" lIns="0" rIns="0" tIns="0" bIns="0" anchor="t">
            <a:spAutoFit/>
          </a:bodyPr>
          <a:lstStyle/>
          <a:p>
            <a:pPr algn="l"/>
            <a:r>
              <a:rPr sz="4000" b="1" i="0">
                <a:solidFill>
                  <a:srgbClr val="141B2D"/>
                </a:solidFill>
                <a:latin typeface="Cambria"/>
              </a:rPr>
              <a:t>0.27</a:t>
            </a:r>
          </a:p>
        </p:txBody>
      </p:sp>
      <p:sp>
        <p:nvSpPr>
          <p:cNvPr id="7" name="TextBox 6"/>
          <p:cNvSpPr txBox="1"/>
          <p:nvPr/>
        </p:nvSpPr>
        <p:spPr>
          <a:xfrm>
            <a:off x="3017520" y="1874519"/>
            <a:ext cx="3291840" cy="1097280"/>
          </a:xfrm>
          <a:prstGeom prst="rect">
            <a:avLst/>
          </a:prstGeom>
          <a:noFill/>
        </p:spPr>
        <p:txBody>
          <a:bodyPr wrap="square" lIns="0" rIns="0" tIns="0" bIns="0" anchor="t">
            <a:spAutoFit/>
          </a:bodyPr>
          <a:lstStyle/>
          <a:p>
            <a:pPr algn="l"/>
            <a:r>
              <a:rPr sz="1500" b="0" i="0">
                <a:solidFill>
                  <a:srgbClr val="6B7280"/>
                </a:solidFill>
                <a:latin typeface="Calibri"/>
              </a:rPr>
              <a:t>median absolute error, annualized-vol points (32% of the level)</a:t>
            </a:r>
          </a:p>
        </p:txBody>
      </p:sp>
      <p:sp>
        <p:nvSpPr>
          <p:cNvPr id="8" name="TextBox 7"/>
          <p:cNvSpPr txBox="1"/>
          <p:nvPr/>
        </p:nvSpPr>
        <p:spPr>
          <a:xfrm>
            <a:off x="548640" y="3200400"/>
            <a:ext cx="2377440" cy="822960"/>
          </a:xfrm>
          <a:prstGeom prst="rect">
            <a:avLst/>
          </a:prstGeom>
          <a:noFill/>
        </p:spPr>
        <p:txBody>
          <a:bodyPr wrap="square" lIns="0" rIns="0" tIns="0" bIns="0" anchor="t">
            <a:spAutoFit/>
          </a:bodyPr>
          <a:lstStyle/>
          <a:p>
            <a:pPr algn="l"/>
            <a:r>
              <a:rPr sz="4000" b="1" i="0">
                <a:solidFill>
                  <a:srgbClr val="141B2D"/>
                </a:solidFill>
                <a:latin typeface="Cambria"/>
              </a:rPr>
              <a:t>41%</a:t>
            </a:r>
          </a:p>
        </p:txBody>
      </p:sp>
      <p:sp>
        <p:nvSpPr>
          <p:cNvPr id="9" name="TextBox 8"/>
          <p:cNvSpPr txBox="1"/>
          <p:nvPr/>
        </p:nvSpPr>
        <p:spPr>
          <a:xfrm>
            <a:off x="3017520" y="3337560"/>
            <a:ext cx="3291840" cy="1097280"/>
          </a:xfrm>
          <a:prstGeom prst="rect">
            <a:avLst/>
          </a:prstGeom>
          <a:noFill/>
        </p:spPr>
        <p:txBody>
          <a:bodyPr wrap="square" lIns="0" rIns="0" tIns="0" bIns="0" anchor="t">
            <a:spAutoFit/>
          </a:bodyPr>
          <a:lstStyle/>
          <a:p>
            <a:pPr algn="l"/>
            <a:r>
              <a:rPr sz="1500" b="0" i="0">
                <a:solidFill>
                  <a:srgbClr val="6B7280"/>
                </a:solidFill>
                <a:latin typeface="Calibri"/>
              </a:rPr>
              <a:t>of forecasts within 25% of realized (persistence 41%)</a:t>
            </a:r>
          </a:p>
        </p:txBody>
      </p:sp>
      <p:sp>
        <p:nvSpPr>
          <p:cNvPr id="10" name="TextBox 9"/>
          <p:cNvSpPr txBox="1"/>
          <p:nvPr/>
        </p:nvSpPr>
        <p:spPr>
          <a:xfrm>
            <a:off x="548640" y="4663440"/>
            <a:ext cx="2377440" cy="822960"/>
          </a:xfrm>
          <a:prstGeom prst="rect">
            <a:avLst/>
          </a:prstGeom>
          <a:noFill/>
        </p:spPr>
        <p:txBody>
          <a:bodyPr wrap="square" lIns="0" rIns="0" tIns="0" bIns="0" anchor="t">
            <a:spAutoFit/>
          </a:bodyPr>
          <a:lstStyle/>
          <a:p>
            <a:pPr algn="l"/>
            <a:r>
              <a:rPr sz="4000" b="1" i="0">
                <a:solidFill>
                  <a:srgbClr val="EB6A35"/>
                </a:solidFill>
                <a:latin typeface="Cambria"/>
              </a:rPr>
              <a:t>None</a:t>
            </a:r>
          </a:p>
        </p:txBody>
      </p:sp>
      <p:sp>
        <p:nvSpPr>
          <p:cNvPr id="11" name="TextBox 10"/>
          <p:cNvSpPr txBox="1"/>
          <p:nvPr/>
        </p:nvSpPr>
        <p:spPr>
          <a:xfrm>
            <a:off x="3017520" y="4800600"/>
            <a:ext cx="3291840" cy="1097280"/>
          </a:xfrm>
          <a:prstGeom prst="rect">
            <a:avLst/>
          </a:prstGeom>
          <a:noFill/>
        </p:spPr>
        <p:txBody>
          <a:bodyPr wrap="square" lIns="0" rIns="0" tIns="0" bIns="0" anchor="t">
            <a:spAutoFit/>
          </a:bodyPr>
          <a:lstStyle/>
          <a:p>
            <a:pPr algn="l"/>
            <a:r>
              <a:rPr sz="1500" b="0" i="0">
                <a:solidFill>
                  <a:srgbClr val="6B7280"/>
                </a:solidFill>
                <a:latin typeface="Calibri"/>
              </a:rPr>
              <a:t>useful gain from unlock features, at the cost of a data subscription and upkeep</a:t>
            </a:r>
          </a:p>
        </p:txBody>
      </p:sp>
      <p:sp>
        <p:nvSpPr>
          <p:cNvPr id="12" name="Human review"/>
          <p:cNvSpPr/>
          <p:nvPr/>
        </p:nvSpPr>
        <p:spPr>
          <a:xfrm>
            <a:off x="6675120" y="1737360"/>
            <a:ext cx="49377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0" y="1920240"/>
            <a:ext cx="4480560" cy="457200"/>
          </a:xfrm>
          <a:prstGeom prst="rect">
            <a:avLst/>
          </a:prstGeom>
          <a:noFill/>
        </p:spPr>
        <p:txBody>
          <a:bodyPr wrap="square" lIns="0" rIns="0" tIns="0" bIns="0" anchor="t">
            <a:spAutoFit/>
          </a:bodyPr>
          <a:lstStyle/>
          <a:p>
            <a:pPr algn="l"/>
            <a:r>
              <a:rPr sz="2000" b="1" i="0">
                <a:solidFill>
                  <a:srgbClr val="1F2433"/>
                </a:solidFill>
                <a:latin typeface="Cambria"/>
              </a:rPr>
              <a:t>Still needs human review</a:t>
            </a:r>
          </a:p>
        </p:txBody>
      </p:sp>
      <p:sp>
        <p:nvSpPr>
          <p:cNvPr id="14" name="Oval 13"/>
          <p:cNvSpPr/>
          <p:nvPr/>
        </p:nvSpPr>
        <p:spPr>
          <a:xfrm>
            <a:off x="6949440" y="256032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15" name="TextBox 14"/>
          <p:cNvSpPr txBox="1"/>
          <p:nvPr/>
        </p:nvSpPr>
        <p:spPr>
          <a:xfrm>
            <a:off x="7498079" y="256032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entering a spike (listings, delistings, hacks): the forecast is too low</a:t>
            </a:r>
          </a:p>
        </p:txBody>
      </p:sp>
      <p:sp>
        <p:nvSpPr>
          <p:cNvPr id="16" name="Oval 15"/>
          <p:cNvSpPr/>
          <p:nvPr/>
        </p:nvSpPr>
        <p:spPr>
          <a:xfrm>
            <a:off x="6949440" y="342900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7" name="TextBox 16"/>
          <p:cNvSpPr txBox="1"/>
          <p:nvPr/>
        </p:nvSpPr>
        <p:spPr>
          <a:xfrm>
            <a:off x="7498079" y="342900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whose volatility is collapsing: most remaining 2× misses are over-forecasts</a:t>
            </a:r>
          </a:p>
        </p:txBody>
      </p:sp>
      <p:sp>
        <p:nvSpPr>
          <p:cNvPr id="18" name="Oval 17"/>
          <p:cNvSpPr/>
          <p:nvPr/>
        </p:nvSpPr>
        <p:spPr>
          <a:xfrm>
            <a:off x="6949440" y="429767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9" name="TextBox 18"/>
          <p:cNvSpPr txBox="1"/>
          <p:nvPr/>
        </p:nvSpPr>
        <p:spPr>
          <a:xfrm>
            <a:off x="7498079" y="4297679"/>
            <a:ext cx="3931920" cy="822960"/>
          </a:xfrm>
          <a:prstGeom prst="rect">
            <a:avLst/>
          </a:prstGeom>
          <a:noFill/>
        </p:spPr>
        <p:txBody>
          <a:bodyPr wrap="square" lIns="0" rIns="0" tIns="0" bIns="0" anchor="t">
            <a:spAutoFit/>
          </a:bodyPr>
          <a:lstStyle/>
          <a:p>
            <a:pPr algn="l"/>
            <a:r>
              <a:rPr sz="1500" b="0" i="0">
                <a:solidFill>
                  <a:srgbClr val="1F2433"/>
                </a:solidFill>
                <a:latin typeface="Calibri"/>
              </a:rPr>
              <a:t>New listings with under 30 days of history: the model cannot score them</a:t>
            </a:r>
          </a:p>
        </p:txBody>
      </p:sp>
      <p:sp>
        <p:nvSpPr>
          <p:cNvPr id="20" name="Oval 19"/>
          <p:cNvSpPr/>
          <p:nvPr/>
        </p:nvSpPr>
        <p:spPr>
          <a:xfrm>
            <a:off x="6949440" y="516635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21" name="TextBox 20"/>
          <p:cNvSpPr txBox="1"/>
          <p:nvPr/>
        </p:nvSpPr>
        <p:spPr>
          <a:xfrm>
            <a:off x="7498079" y="5166359"/>
            <a:ext cx="3931920" cy="822960"/>
          </a:xfrm>
          <a:prstGeom prst="rect">
            <a:avLst/>
          </a:prstGeom>
          <a:noFill/>
        </p:spPr>
        <p:txBody>
          <a:bodyPr wrap="square" lIns="0" rIns="0" tIns="0" bIns="0" anchor="t">
            <a:spAutoFit/>
          </a:bodyPr>
          <a:lstStyle/>
          <a:p>
            <a:pPr algn="l"/>
            <a:r>
              <a:rPr sz="1500" b="0" i="0">
                <a:solidFill>
                  <a:srgbClr val="1F2433"/>
                </a:solidFill>
                <a:latin typeface="Calibri"/>
              </a:rPr>
              <a:t>Regime shifts not seen in 2024–26 training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chor="t">
            <a:spAutoFit/>
          </a:bodyPr>
          <a:lstStyle/>
          <a:p>
            <a:pPr algn="l"/>
            <a:r>
              <a:rPr sz="1200" b="1" i="0">
                <a:solidFill>
                  <a:srgbClr val="EB6A35"/>
                </a:solidFill>
                <a:latin typeface="Calibri"/>
              </a:rPr>
              <a:t>CONCLUSION</a:t>
            </a:r>
          </a:p>
        </p:txBody>
      </p:sp>
      <p:sp>
        <p:nvSpPr>
          <p:cNvPr id="3" name="TextBox 2"/>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FFFFFF"/>
                </a:solidFill>
                <a:latin typeface="Cambria"/>
              </a:rPr>
              <a:t>Unlocks are not a reliable incremental volatility signal</a:t>
            </a:r>
          </a:p>
        </p:txBody>
      </p:sp>
      <p:sp>
        <p:nvSpPr>
          <p:cNvPr id="4" name="Oval 3"/>
          <p:cNvSpPr/>
          <p:nvPr/>
        </p:nvSpPr>
        <p:spPr>
          <a:xfrm>
            <a:off x="54864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5" name="TextBox 4"/>
          <p:cNvSpPr txBox="1"/>
          <p:nvPr/>
        </p:nvSpPr>
        <p:spPr>
          <a:xfrm>
            <a:off x="1325880"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Raw link is real, not incremental</a:t>
            </a:r>
          </a:p>
        </p:txBody>
      </p:sp>
      <p:sp>
        <p:nvSpPr>
          <p:cNvPr id="6" name="TextBox 5"/>
          <p:cNvSpPr txBox="1"/>
          <p:nvPr/>
        </p:nvSpPr>
        <p:spPr>
          <a:xfrm>
            <a:off x="1325880"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Heavy-unlock tokens are young and already volatile; trailing volatility absorbs the effect.</a:t>
            </a:r>
          </a:p>
        </p:txBody>
      </p:sp>
      <p:sp>
        <p:nvSpPr>
          <p:cNvPr id="7" name="Oval 6"/>
          <p:cNvSpPr/>
          <p:nvPr/>
        </p:nvSpPr>
        <p:spPr>
          <a:xfrm>
            <a:off x="621792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8" name="TextBox 7"/>
          <p:cNvSpPr txBox="1"/>
          <p:nvPr/>
        </p:nvSpPr>
        <p:spPr>
          <a:xfrm>
            <a:off x="6995159"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Six models agree</a:t>
            </a:r>
          </a:p>
        </p:txBody>
      </p:sp>
      <p:sp>
        <p:nvSpPr>
          <p:cNvPr id="9" name="TextBox 8"/>
          <p:cNvSpPr txBox="1"/>
          <p:nvPr/>
        </p:nvSpPr>
        <p:spPr>
          <a:xfrm>
            <a:off x="6995159"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Regressors gain only +0.001 to +0.006 R², with unstable sign; logistic AUC falls slightly.</a:t>
            </a:r>
          </a:p>
        </p:txBody>
      </p:sp>
      <p:sp>
        <p:nvSpPr>
          <p:cNvPr id="10" name="Oval 9"/>
          <p:cNvSpPr/>
          <p:nvPr/>
        </p:nvSpPr>
        <p:spPr>
          <a:xfrm>
            <a:off x="54864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1" name="TextBox 10"/>
          <p:cNvSpPr txBox="1"/>
          <p:nvPr/>
        </p:nvSpPr>
        <p:spPr>
          <a:xfrm>
            <a:off x="1325880"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Best forecaster: Ridge on controls</a:t>
            </a:r>
          </a:p>
        </p:txBody>
      </p:sp>
      <p:sp>
        <p:nvSpPr>
          <p:cNvPr id="12" name="TextBox 11"/>
          <p:cNvSpPr txBox="1"/>
          <p:nvPr/>
        </p:nvSpPr>
        <p:spPr>
          <a:xfrm>
            <a:off x="1325880"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Best RMSE and rank correlation, seconds to train, interpretable. RF close second.</a:t>
            </a:r>
          </a:p>
        </p:txBody>
      </p:sp>
      <p:sp>
        <p:nvSpPr>
          <p:cNvPr id="13" name="Oval 12"/>
          <p:cNvSpPr/>
          <p:nvPr/>
        </p:nvSpPr>
        <p:spPr>
          <a:xfrm>
            <a:off x="621792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14" name="TextBox 13"/>
          <p:cNvSpPr txBox="1"/>
          <p:nvPr/>
        </p:nvSpPr>
        <p:spPr>
          <a:xfrm>
            <a:off x="6995159"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Consistent with an efficient market</a:t>
            </a:r>
          </a:p>
        </p:txBody>
      </p:sp>
      <p:sp>
        <p:nvSpPr>
          <p:cNvPr id="15" name="TextBox 14"/>
          <p:cNvSpPr txBox="1"/>
          <p:nvPr/>
        </p:nvSpPr>
        <p:spPr>
          <a:xfrm>
            <a:off x="6995159"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Schedules are public months ahead, so any predictable effect is likely priced before the date.</a:t>
            </a:r>
          </a:p>
        </p:txBody>
      </p:sp>
      <p:sp>
        <p:nvSpPr>
          <p:cNvPr id="16" name="TextBox 15"/>
          <p:cNvSpPr txBox="1"/>
          <p:nvPr/>
        </p:nvSpPr>
        <p:spPr>
          <a:xfrm>
            <a:off x="548640" y="5989320"/>
            <a:ext cx="10972800" cy="365760"/>
          </a:xfrm>
          <a:prstGeom prst="rect">
            <a:avLst/>
          </a:prstGeom>
          <a:noFill/>
        </p:spPr>
        <p:txBody>
          <a:bodyPr wrap="square" lIns="0" rIns="0" tIns="0" bIns="0" anchor="t">
            <a:spAutoFit/>
          </a:bodyPr>
          <a:lstStyle/>
          <a:p>
            <a:pPr algn="l"/>
            <a:r>
              <a:rPr sz="1600" b="0" i="0">
                <a:solidFill>
                  <a:srgbClr val="C9D3E6"/>
                </a:solidFill>
                <a:latin typeface="Calibri"/>
              </a:rPr>
              <a:t>Limits: one 2024–26 regime; schedules as curated in Sept 2026, so revisions are back-filled.   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