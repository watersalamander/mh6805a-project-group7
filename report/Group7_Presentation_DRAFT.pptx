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8" r:id="rId10"/>
    <p:sldId id="260" r:id="rId12"/>
    <p:sldId id="261" r:id="rId13"/>
    <p:sldId id="262" r:id="rId14"/>
    <p:sldId id="263" r:id="rId15"/>
    <p:sldId id="264" r:id="rId16"/>
    <p:sldId id="265" r:id="rId17"/>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0" Type="http://schemas.openxmlformats.org/officeDocument/2006/relationships/slide" Target="slides/slide3.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Controls only</c:v>
                </c:pt>
              </c:strCache>
            </c:strRef>
          </c:tx>
          <c:spPr>
            <a:solidFill>
              <a:srgbClr val="2B7BD6"/>
            </a:solidFill>
          </c:spPr>
          <c:cat>
            <c:strRef>
              <c:f>Sheet1!$A$2:$A$6</c:f>
              <c:strCache>
                <c:ptCount val="5"/>
                <c:pt idx="0">
                  <c:v>KNN</c:v>
                </c:pt>
                <c:pt idx="1">
                  <c:v>Random Forest</c:v>
                </c:pt>
                <c:pt idx="2">
                  <c:v>LightGBM</c:v>
                </c:pt>
                <c:pt idx="3">
                  <c:v>Ridge</c:v>
                </c:pt>
                <c:pt idx="4">
                  <c:v>Elastic Net</c:v>
                </c:pt>
              </c:strCache>
            </c:strRef>
          </c:cat>
          <c:val>
            <c:numRef>
              <c:f>Sheet1!$B$2:$B$6</c:f>
              <c:numCache>
                <c:formatCode>General</c:formatCode>
                <c:ptCount val="5"/>
                <c:pt idx="0">
                  <c:v>0.234</c:v>
                </c:pt>
                <c:pt idx="1">
                  <c:v>0.262</c:v>
                </c:pt>
                <c:pt idx="2">
                  <c:v>0.225</c:v>
                </c:pt>
                <c:pt idx="3">
                  <c:v>0.266</c:v>
                </c:pt>
                <c:pt idx="4">
                  <c:v>0.254</c:v>
                </c:pt>
              </c:numCache>
            </c:numRef>
          </c:val>
        </c:ser>
        <c:ser>
          <c:idx val="1"/>
          <c:order val="1"/>
          <c:tx>
            <c:strRef>
              <c:f>Sheet1!$C$1</c:f>
              <c:strCache>
                <c:ptCount val="1"/>
                <c:pt idx="0">
                  <c:v>Controls + emission + static</c:v>
                </c:pt>
              </c:strCache>
            </c:strRef>
          </c:tx>
          <c:spPr>
            <a:solidFill>
              <a:srgbClr val="EB6A35"/>
            </a:solidFill>
          </c:spPr>
          <c:cat>
            <c:strRef>
              <c:f>Sheet1!$A$2:$A$6</c:f>
              <c:strCache>
                <c:ptCount val="5"/>
                <c:pt idx="0">
                  <c:v>KNN</c:v>
                </c:pt>
                <c:pt idx="1">
                  <c:v>Random Forest</c:v>
                </c:pt>
                <c:pt idx="2">
                  <c:v>LightGBM</c:v>
                </c:pt>
                <c:pt idx="3">
                  <c:v>Ridge</c:v>
                </c:pt>
                <c:pt idx="4">
                  <c:v>Elastic Net</c:v>
                </c:pt>
              </c:strCache>
            </c:strRef>
          </c:cat>
          <c:val>
            <c:numRef>
              <c:f>Sheet1!$C$2:$C$6</c:f>
              <c:numCache>
                <c:formatCode>General</c:formatCode>
                <c:ptCount val="5"/>
                <c:pt idx="0">
                  <c:v>0.235</c:v>
                </c:pt>
                <c:pt idx="1">
                  <c:v>0.268</c:v>
                </c:pt>
                <c:pt idx="2">
                  <c:v>0.23</c:v>
                </c:pt>
                <c:pt idx="3">
                  <c:v>0.266</c:v>
                </c:pt>
                <c:pt idx="4">
                  <c:v>0.255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3"/>
          <c:min val="0.0"/>
        </c:scaling>
        <c:delete val="0"/>
        <c:axPos val="l"/>
        <c:majorGridlines>
          <c:spPr>
            <a:ln>
              <a:solidFill>
                <a:srgbClr val="D9DDE3"/>
              </a:solidFill>
            </a:ln>
          </c:spPr>
        </c:majorGridlines>
        <c:numFmt formatCode="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KNN</c:v>
                </c:pt>
              </c:strCache>
            </c:strRef>
          </c:tx>
          <c:spPr>
            <a:solidFill>
              <a:srgbClr val="9AA3B2"/>
            </a:solidFill>
          </c:spPr>
          <c:invertIfNegative val="0"/>
          <c:cat>
            <c:strRef>
              <c:f>Sheet1!$A$2:$A$6</c:f>
              <c:strCache>
                <c:ptCount val="5"/>
                <c:pt idx="0">
                  <c:v>Fold 1</c:v>
                </c:pt>
                <c:pt idx="1">
                  <c:v>Fold 2</c:v>
                </c:pt>
                <c:pt idx="2">
                  <c:v>Fold 3</c:v>
                </c:pt>
                <c:pt idx="3">
                  <c:v>Fold 4</c:v>
                </c:pt>
                <c:pt idx="4">
                  <c:v>Fold 5</c:v>
                </c:pt>
              </c:strCache>
            </c:strRef>
          </c:cat>
          <c:val>
            <c:numRef>
              <c:f>Sheet1!$B$2:$B$6</c:f>
              <c:numCache>
                <c:formatCode>General</c:formatCode>
                <c:ptCount val="5"/>
                <c:pt idx="0">
                  <c:v>0.104</c:v>
                </c:pt>
                <c:pt idx="1">
                  <c:v>0.029</c:v>
                </c:pt>
                <c:pt idx="2">
                  <c:v>-0.058</c:v>
                </c:pt>
                <c:pt idx="3">
                  <c:v>-0.032</c:v>
                </c:pt>
                <c:pt idx="4">
                  <c:v>-0.036</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Fold 1</c:v>
                </c:pt>
                <c:pt idx="1">
                  <c:v>Fold 2</c:v>
                </c:pt>
                <c:pt idx="2">
                  <c:v>Fold 3</c:v>
                </c:pt>
                <c:pt idx="3">
                  <c:v>Fold 4</c:v>
                </c:pt>
                <c:pt idx="4">
                  <c:v>Fold 5</c:v>
                </c:pt>
              </c:strCache>
            </c:strRef>
          </c:cat>
          <c:val>
            <c:numRef>
              <c:f>Sheet1!$C$2:$C$6</c:f>
              <c:numCache>
                <c:formatCode>General</c:formatCode>
                <c:ptCount val="5"/>
                <c:pt idx="0">
                  <c:v>0.031</c:v>
                </c:pt>
                <c:pt idx="1">
                  <c:v>0.03</c:v>
                </c:pt>
                <c:pt idx="2">
                  <c:v>-0.017</c:v>
                </c:pt>
                <c:pt idx="3">
                  <c:v>-0.01</c:v>
                </c:pt>
                <c:pt idx="4">
                  <c:v>-0.002</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Fold 1</c:v>
                </c:pt>
                <c:pt idx="1">
                  <c:v>Fold 2</c:v>
                </c:pt>
                <c:pt idx="2">
                  <c:v>Fold 3</c:v>
                </c:pt>
                <c:pt idx="3">
                  <c:v>Fold 4</c:v>
                </c:pt>
                <c:pt idx="4">
                  <c:v>Fold 5</c:v>
                </c:pt>
              </c:strCache>
            </c:strRef>
          </c:cat>
          <c:val>
            <c:numRef>
              <c:f>Sheet1!$D$2:$D$6</c:f>
              <c:numCache>
                <c:formatCode>General</c:formatCode>
                <c:ptCount val="5"/>
                <c:pt idx="0">
                  <c:v>-0.013</c:v>
                </c:pt>
                <c:pt idx="1">
                  <c:v>0.044</c:v>
                </c:pt>
                <c:pt idx="2">
                  <c:v>-0.0</c:v>
                </c:pt>
                <c:pt idx="3">
                  <c:v>-0.005</c:v>
                </c:pt>
                <c:pt idx="4">
                  <c:v>-0.002</c:v>
                </c:pt>
              </c:numCache>
            </c:numRef>
          </c:val>
        </c:ser>
        <c:ser>
          <c:idx val="3"/>
          <c:order val="3"/>
          <c:tx>
            <c:strRef>
              <c:f>Sheet1!$E$1</c:f>
              <c:strCache>
                <c:ptCount val="1"/>
                <c:pt idx="0">
                  <c:v>Ridge</c:v>
                </c:pt>
              </c:strCache>
            </c:strRef>
          </c:tx>
          <c:spPr>
            <a:solidFill>
              <a:srgbClr val="141B2D"/>
            </a:solidFill>
          </c:spPr>
          <c:invertIfNegative val="0"/>
          <c:cat>
            <c:strRef>
              <c:f>Sheet1!$A$2:$A$6</c:f>
              <c:strCache>
                <c:ptCount val="5"/>
                <c:pt idx="0">
                  <c:v>Fold 1</c:v>
                </c:pt>
                <c:pt idx="1">
                  <c:v>Fold 2</c:v>
                </c:pt>
                <c:pt idx="2">
                  <c:v>Fold 3</c:v>
                </c:pt>
                <c:pt idx="3">
                  <c:v>Fold 4</c:v>
                </c:pt>
                <c:pt idx="4">
                  <c:v>Fold 5</c:v>
                </c:pt>
              </c:strCache>
            </c:strRef>
          </c:cat>
          <c:val>
            <c:numRef>
              <c:f>Sheet1!$E$2:$E$6</c:f>
              <c:numCache>
                <c:formatCode>General</c:formatCode>
                <c:ptCount val="5"/>
                <c:pt idx="0">
                  <c:v>0.001</c:v>
                </c:pt>
                <c:pt idx="1">
                  <c:v>-0.006</c:v>
                </c:pt>
                <c:pt idx="2">
                  <c:v>-0.003</c:v>
                </c:pt>
                <c:pt idx="3">
                  <c:v>0.008</c:v>
                </c:pt>
                <c:pt idx="4">
                  <c:v>0.004</c:v>
                </c:pt>
              </c:numCache>
            </c:numRef>
          </c:val>
        </c:ser>
        <c:ser>
          <c:idx val="4"/>
          <c:order val="4"/>
          <c:tx>
            <c:strRef>
              <c:f>Sheet1!$F$1</c:f>
              <c:strCache>
                <c:ptCount val="1"/>
                <c:pt idx="0">
                  <c:v>Elastic Net</c:v>
                </c:pt>
              </c:strCache>
            </c:strRef>
          </c:tx>
          <c:spPr>
            <a:solidFill>
              <a:srgbClr val="2B7BD6"/>
            </a:solidFill>
          </c:spPr>
          <c:invertIfNegative val="0"/>
          <c:cat>
            <c:strRef>
              <c:f>Sheet1!$A$2:$A$6</c:f>
              <c:strCache>
                <c:ptCount val="5"/>
                <c:pt idx="0">
                  <c:v>Fold 1</c:v>
                </c:pt>
                <c:pt idx="1">
                  <c:v>Fold 2</c:v>
                </c:pt>
                <c:pt idx="2">
                  <c:v>Fold 3</c:v>
                </c:pt>
                <c:pt idx="3">
                  <c:v>Fold 4</c:v>
                </c:pt>
                <c:pt idx="4">
                  <c:v>Fold 5</c:v>
                </c:pt>
              </c:strCache>
            </c:strRef>
          </c:cat>
          <c:val>
            <c:numRef>
              <c:f>Sheet1!$F$2:$F$6</c:f>
              <c:numCache>
                <c:formatCode>General</c:formatCode>
                <c:ptCount val="5"/>
                <c:pt idx="0">
                  <c:v>0.0</c:v>
                </c:pt>
                <c:pt idx="1">
                  <c:v>0.0</c:v>
                </c:pt>
                <c:pt idx="2">
                  <c:v>0.0</c:v>
                </c:pt>
                <c:pt idx="3">
                  <c:v>0.001</c:v>
                </c:pt>
                <c:pt idx="4">
                  <c:v>0.003</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12"/>
          <c:min val="-0.08"/>
        </c:scaling>
        <c:delete val="0"/>
        <c:axPos val="l"/>
        <c:majorGridlines>
          <c:spPr>
            <a:ln>
              <a:solidFill>
                <a:srgbClr val="D9DDE3"/>
              </a:solidFill>
            </a:ln>
          </c:spPr>
        </c:majorGridlines>
        <c:numFmt formatCode="+0.00;-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RMSE increase</c:v>
                </c:pt>
              </c:strCache>
            </c:strRef>
          </c:tx>
          <c:spPr>
            <a:solidFill>
              <a:srgbClr val="141B2D"/>
            </a:solidFill>
          </c:spPr>
          <c:dPt>
            <c:idx val="1"/>
            <c:spPr>
              <a:solidFill>
                <a:srgbClr val="EB6A35"/>
              </a:solidFill>
            </c:spPr>
          </c:dPt>
          <c:dPt>
            <c:idx val="2"/>
            <c:spPr>
              <a:solidFill>
                <a:srgbClr val="9AA3B2"/>
              </a:solidFill>
            </c:spPr>
          </c:dPt>
          <c:cat>
            <c:strRef>
              <c:f>Sheet1!$A$2:$A$4</c:f>
              <c:strCache>
                <c:ptCount val="3"/>
                <c:pt idx="0">
                  <c:v>Controls (9)</c:v>
                </c:pt>
                <c:pt idx="1">
                  <c:v>Emission (13)</c:v>
                </c:pt>
                <c:pt idx="2">
                  <c:v>Static (10)</c:v>
                </c:pt>
              </c:strCache>
            </c:strRef>
          </c:cat>
          <c:val>
            <c:numRef>
              <c:f>Sheet1!$B$2:$B$4</c:f>
              <c:numCache>
                <c:formatCode>General</c:formatCode>
                <c:ptCount val="3"/>
                <c:pt idx="0">
                  <c:v>0.031</c:v>
                </c:pt>
                <c:pt idx="1">
                  <c:v>0.01</c:v>
                </c:pt>
                <c:pt idx="2">
                  <c:v>0.005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36"/>
          <c:min val="0.0"/>
        </c:scaling>
        <c:delete val="0"/>
        <c:axPos val="b"/>
        <c:majorGridlines>
          <c:spPr>
            <a:ln>
              <a:solidFill>
                <a:srgbClr val="D9DDE3"/>
              </a:solidFill>
            </a:ln>
          </c:spPr>
        </c:majorGridlines>
        <c:numFmt formatCode="0.000" sourceLinked="0"/>
        <c:majorTickMark val="out"/>
        <c:minorTickMark val="none"/>
        <c:tickLblPos val="nextTo"/>
        <c:spPr>
          <a:ln>
            <a:noFill/>
          </a:ln>
        </c:spPr>
        <c:txPr>
          <a:bodyPr/>
          <a:lstStyle/>
          <a:p>
            <a:pPr>
              <a:defRPr sz="1100">
                <a:solidFill>
                  <a:srgbClr val="6B7280"/>
                </a:solidFill>
              </a:defRPr>
            </a:pPr>
          </a:p>
        </c:txPr>
        <c:crossAx val="-2068027336"/>
        <c:crosses val="autoZero"/>
      </c:valAx>
    </c:plotArea>
    <c:dispBlanksAs val="gap"/>
  </c:chart>
  <c:txPr>
    <a:bodyPr/>
    <a:lstStyle/>
    <a:p>
      <a:pPr>
        <a:defRPr sz="1200">
          <a:solidFill>
            <a:srgbClr val="1F24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Ridge</c:v>
                </c:pt>
              </c:strCache>
            </c:strRef>
          </c:tx>
          <c:spPr>
            <a:solidFill>
              <a:srgbClr val="141B2D"/>
            </a:solidFill>
          </c:spPr>
          <c:invertIfNegative val="0"/>
          <c:cat>
            <c:strRef>
              <c:f>Sheet1!$A$2:$A$6</c:f>
              <c:strCache>
                <c:ptCount val="5"/>
                <c:pt idx="0">
                  <c:v>Unlock &lt;0.5%</c:v>
                </c:pt>
                <c:pt idx="1">
                  <c:v>Unlock 0.5–2%</c:v>
                </c:pt>
                <c:pt idx="2">
                  <c:v>Unlock 2–5%</c:v>
                </c:pt>
                <c:pt idx="3">
                  <c:v>Unlock &gt;5%</c:v>
                </c:pt>
                <c:pt idx="4">
                  <c:v>Cliff ≤14d</c:v>
                </c:pt>
              </c:strCache>
            </c:strRef>
          </c:cat>
          <c:val>
            <c:numRef>
              <c:f>Sheet1!$B$2:$B$6</c:f>
              <c:numCache>
                <c:formatCode>General</c:formatCode>
                <c:ptCount val="5"/>
                <c:pt idx="0">
                  <c:v>-0.0043</c:v>
                </c:pt>
                <c:pt idx="1">
                  <c:v>-0.0035</c:v>
                </c:pt>
                <c:pt idx="2">
                  <c:v>0.0028</c:v>
                </c:pt>
                <c:pt idx="3">
                  <c:v>0.0126</c:v>
                </c:pt>
                <c:pt idx="4">
                  <c:v>0.0069</c:v>
                </c:pt>
              </c:numCache>
            </c:numRef>
          </c:val>
        </c:ser>
        <c:ser>
          <c:idx val="1"/>
          <c:order val="1"/>
          <c:tx>
            <c:strRef>
              <c:f>Sheet1!$C$1</c:f>
              <c:strCache>
                <c:ptCount val="1"/>
                <c:pt idx="0">
                  <c:v>Random Forest</c:v>
                </c:pt>
              </c:strCache>
            </c:strRef>
          </c:tx>
          <c:spPr>
            <a:solidFill>
              <a:srgbClr val="EB6A35"/>
            </a:solidFill>
          </c:spPr>
          <c:invertIfNegative val="0"/>
          <c:cat>
            <c:strRef>
              <c:f>Sheet1!$A$2:$A$6</c:f>
              <c:strCache>
                <c:ptCount val="5"/>
                <c:pt idx="0">
                  <c:v>Unlock &lt;0.5%</c:v>
                </c:pt>
                <c:pt idx="1">
                  <c:v>Unlock 0.5–2%</c:v>
                </c:pt>
                <c:pt idx="2">
                  <c:v>Unlock 2–5%</c:v>
                </c:pt>
                <c:pt idx="3">
                  <c:v>Unlock &gt;5%</c:v>
                </c:pt>
                <c:pt idx="4">
                  <c:v>Cliff ≤14d</c:v>
                </c:pt>
              </c:strCache>
            </c:strRef>
          </c:cat>
          <c:val>
            <c:numRef>
              <c:f>Sheet1!$C$2:$C$6</c:f>
              <c:numCache>
                <c:formatCode>General</c:formatCode>
                <c:ptCount val="5"/>
                <c:pt idx="0">
                  <c:v>-0.0053</c:v>
                </c:pt>
                <c:pt idx="1">
                  <c:v>-0.0056</c:v>
                </c:pt>
                <c:pt idx="2">
                  <c:v>0.0043</c:v>
                </c:pt>
                <c:pt idx="3">
                  <c:v>0.0043</c:v>
                </c:pt>
                <c:pt idx="4">
                  <c:v>0.003</c:v>
                </c:pt>
              </c:numCache>
            </c:numRef>
          </c:val>
        </c:ser>
        <c:ser>
          <c:idx val="2"/>
          <c:order val="2"/>
          <c:tx>
            <c:strRef>
              <c:f>Sheet1!$D$1</c:f>
              <c:strCache>
                <c:ptCount val="1"/>
                <c:pt idx="0">
                  <c:v>LightGBM</c:v>
                </c:pt>
              </c:strCache>
            </c:strRef>
          </c:tx>
          <c:spPr>
            <a:solidFill>
              <a:srgbClr val="1BAF7A"/>
            </a:solidFill>
          </c:spPr>
          <c:invertIfNegative val="0"/>
          <c:cat>
            <c:strRef>
              <c:f>Sheet1!$A$2:$A$6</c:f>
              <c:strCache>
                <c:ptCount val="5"/>
                <c:pt idx="0">
                  <c:v>Unlock &lt;0.5%</c:v>
                </c:pt>
                <c:pt idx="1">
                  <c:v>Unlock 0.5–2%</c:v>
                </c:pt>
                <c:pt idx="2">
                  <c:v>Unlock 2–5%</c:v>
                </c:pt>
                <c:pt idx="3">
                  <c:v>Unlock &gt;5%</c:v>
                </c:pt>
                <c:pt idx="4">
                  <c:v>Cliff ≤14d</c:v>
                </c:pt>
              </c:strCache>
            </c:strRef>
          </c:cat>
          <c:val>
            <c:numRef>
              <c:f>Sheet1!$D$2:$D$6</c:f>
              <c:numCache>
                <c:formatCode>General</c:formatCode>
                <c:ptCount val="5"/>
                <c:pt idx="0">
                  <c:v>-0.0053</c:v>
                </c:pt>
                <c:pt idx="1">
                  <c:v>-0.0049</c:v>
                </c:pt>
                <c:pt idx="2">
                  <c:v>0.0002</c:v>
                </c:pt>
                <c:pt idx="3">
                  <c:v>0.0001</c:v>
                </c:pt>
                <c:pt idx="4">
                  <c:v>-0.0009</c:v>
                </c:pt>
              </c:numCache>
            </c:numRef>
          </c:val>
        </c:ser>
        <c:gapWidth val="70"/>
        <c:axId val="-2068027336"/>
        <c:axId val="-2113994440"/>
      </c:barChart>
      <c:catAx>
        <c:axId val="-2068027336"/>
        <c:scaling>
          <c:orientation val="minMax"/>
        </c:scaling>
        <c:delete val="0"/>
        <c:axPos val="b"/>
        <c:majorTickMark val="out"/>
        <c:minorTickMark val="none"/>
        <c:tickLblPos val="low"/>
        <c:spPr>
          <a:ln>
            <a:solidFill>
              <a:srgbClr val="D9DDE3"/>
            </a:solidFill>
          </a:ln>
        </c:spPr>
        <c:txPr>
          <a:bodyPr/>
          <a:lstStyle/>
          <a:p>
            <a:pPr>
              <a:defRPr sz="1200"/>
            </a:pPr>
          </a:p>
        </c:txPr>
        <c:crossAx val="-2113994440"/>
        <c:crosses val="autoZero"/>
        <c:auto val="1"/>
        <c:lblAlgn val="ctr"/>
        <c:lblOffset val="100"/>
        <c:noMultiLvlLbl val="0"/>
      </c:catAx>
      <c:valAx>
        <c:axId val="-2113994440"/>
        <c:scaling>
          <c:max val="0.016"/>
          <c:min val="-0.008"/>
        </c:scaling>
        <c:delete val="0"/>
        <c:axPos val="l"/>
        <c:majorGridlines>
          <c:spPr>
            <a:ln>
              <a:solidFill>
                <a:srgbClr val="D9DDE3"/>
              </a:solidFill>
            </a:ln>
          </c:spPr>
        </c:majorGridlines>
        <c:numFmt formatCode="+0.000;-0.000;0" sourceLinked="0"/>
        <c:majorTickMark val="out"/>
        <c:minorTickMark val="none"/>
        <c:tickLblPos val="nextTo"/>
        <c:spPr>
          <a:ln>
            <a:noFill/>
          </a:ln>
        </c:spPr>
        <c:txPr>
          <a:bodyPr/>
          <a:lstStyle/>
          <a:p>
            <a:pPr>
              <a:defRPr sz="1100">
                <a:solidFill>
                  <a:srgbClr val="6B7280"/>
                </a:solidFill>
              </a:defRPr>
            </a:pPr>
          </a:p>
        </c:txPr>
        <c:crossAx val="-2068027336"/>
        <c:crosses val="autoZero"/>
        <c:majorUnit val="0.004"/>
      </c:valAx>
    </c:plotArea>
    <c:legend>
      <c:legendPos val="t"/>
      <c:overlay val="0"/>
      <c:txPr>
        <a:bodyPr/>
        <a:lstStyle/>
        <a:p>
          <a:pPr>
            <a:defRPr sz="1200"/>
          </a:pPr>
        </a:p>
      </c:txPr>
    </c:legend>
    <c:dispBlanksAs val="gap"/>
  </c:chart>
  <c:txPr>
    <a:bodyPr/>
    <a:lstStyle/>
    <a:p>
      <a:pPr>
        <a:defRPr sz="1200">
          <a:solidFill>
            <a:srgbClr val="1F24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(~20 s)</a:t>
            </a:r>
          </a:p>
          <a:p/>
          <a:p>
            <a:r>
              <a:t>Good morning, we are Group 7: [Member 1], [Member 2] and [Member 3]. Crypto tokens publish their unlock calendars months in advance. Our question: does that calendar help predict how volatile a token will be over the next two weeks?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(~45 s)</a:t>
            </a:r>
          </a:p>
          <a:p/>
          <a:p>
            <a:r>
              <a:t>Most of a token's supply is locked at launch and released on a published schedule, and traders treat a big unlock as a volatility event, because new supply may be sold. The catch is that volatility is very persistent: last fortnight already predicts the next one well. So we ask whether unlocks add anything beyond that.</a:t>
            </a:r>
          </a:p>
          <a:p/>
          <a:p>
            <a:r>
              <a:t>One comparison answers it. Every model is trained twice on the same rows and folds: once on nine controls, such as trailing volatility and the BTC regime, and once with 23 unlock and allocation features added. The difference in out-of-sample R-squared is our finding.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(~40 s)</a:t>
            </a:r>
          </a:p>
          <a:p/>
          <a:p>
            <a:r>
              <a:t>Our data covers 176 tokens, daily, from September 2024 to August 2026: about 101,000 token-days, with prices from Binance and unlock schedules from Tokenomist.</a:t>
            </a:r>
          </a:p>
          <a:p/>
          <a:p>
            <a:r>
              <a:t>The raw data does show a link. Sort token-days by how much of the float unlocks in the next month, and forward volatility rises from about 0.97 in the lowest decile to 1.14 in the highest. The correlation is positive for 74% of tokens. But heavy-unlock tokens are also young and already volatile. Is this just persistence in disguise?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1]  (~50 s)</a:t>
            </a:r>
          </a:p>
          <a:p/>
          <a:p>
            <a:r>
              <a:t>To test that fairly, we never shuffle. Five walk-forward folds are cut by date: each model trains on the past, skips a 30-day gap because the target looks 14 days ahead, and is tested on the next 90 days.</a:t>
            </a:r>
          </a:p>
          <a:p/>
          <a:p>
            <a:r>
              <a:t>Each candidate, meaning pre-processing, model and settings together, is chosen on a validation slice at the end of the training window. It is then refit and scored once on test, and no model was changed after seeing test results. Two simple baselines, persistence and the training mean, are scored on exactly the same rows.</a:t>
            </a:r>
          </a:p>
          <a:p/>
          <a:p>
            <a:r>
              <a:t>With the protocol fixed, [Member 2] will show what six models do under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(~30 s)</a:t>
            </a:r>
          </a:p>
          <a:p/>
          <a:p>
            <a:r>
              <a:t>Thank you. We ran six models on that same harness:</a:t>
            </a:r>
          </a:p>
          <a:p>
            <a:r>
              <a:t>• K-nearest neighbours, for similarity;</a:t>
            </a:r>
          </a:p>
          <a:p>
            <a:r>
              <a:t>• Random Forest and LightGBM, for non-linear effects;</a:t>
            </a:r>
          </a:p>
          <a:p>
            <a:r>
              <a:t>• Ridge and Elastic Net, as linear benchmarks (Elastic Net can drop features entirely);</a:t>
            </a:r>
          </a:p>
          <a:p>
            <a:r>
              <a:t>• logistic regression, for classifying high-volatility events.</a:t>
            </a:r>
          </a:p>
          <a:p/>
          <a:p>
            <a:r>
              <a:t>Notice what validation chose: huge neighbourhoods, large leaves, strong penalties, the slowest boosting. That already hints that the target is noisy relative to the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(~30 s)</a:t>
            </a:r>
          </a:p>
          <a:p/>
          <a:p>
            <a:r>
              <a:t>Here is the headline. Blue is controls only, orange adds the unlock features. Every model beats persistence and the training-mean baseline of 0.17, with out-of-sample R-squared between 0.22 and 0.27. Ridge on controls alone is as good as anything we built.</a:t>
            </a:r>
          </a:p>
          <a:p/>
          <a:p>
            <a:r>
              <a:t>But compare each blue bar with its orange partner. Adding 23 unlock features raises R-squared by only 0.001 to 0.006.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(~35 s)</a:t>
            </a:r>
          </a:p>
          <a:p/>
          <a:p>
            <a:r>
              <a:t>Is even that gain real? Fold by fold, in calendar order, the Random Forest gains about 0.03 in the two oldest folds, then loses in the three most recent, which have the most training data. KNN swings more, and LightGBM gains in just one fold.</a:t>
            </a:r>
          </a:p>
          <a:p/>
          <a:p>
            <a:r>
              <a:t>Meanwhile R-squared itself moves by about 0.15 from fold to fold, 25 times the largest average gain. A gain that flips sign like this is noise, not signal.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2]  (~45 s)</a:t>
            </a:r>
          </a:p>
          <a:p/>
          <a:p>
            <a:r>
              <a:t>We also looked inside each model with the tool that suits it. In the Random Forest, shuffling the controls hurts three times more than shuffling all emission features. In LightGBM, controls take 92% of the split gain. Ridge's largest unlock coefficient is positive, as the story predicts, but five times smaller than trailing volatility. A shallow tree never splits on an unlock feature. And for the most unlock-heavy token, KNN finds no comparable history at all.</a:t>
            </a:r>
          </a:p>
          <a:p/>
          <a:p>
            <a:r>
              <a:t>So on average the answer is no. [Member 3] will show where the remaining errors are, and whether this matters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(~45 s)</a:t>
            </a:r>
          </a:p>
          <a:p/>
          <a:p>
            <a:r>
              <a:t>Thank you. If unlocks carried signal, it would show where unlocks are largest. Bars above zero mean the unlock features made forecasts worse. Where more than 5% of the float unlocks within a month, they make Ridge and the Random Forest worse, and LightGBM gains nothing. The same two models are also worse just before a cliff unlock.</a:t>
            </a:r>
          </a:p>
          <a:p/>
          <a:p>
            <a:r>
              <a:t>What the models really fix is large mistakes. Forecasts off by more than a factor of two fall from 18% under persistence to 12%. Most misses that remain are over-forecasts for tokens that suddenly calm down.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(~25 s)</a:t>
            </a:r>
          </a:p>
          <a:p/>
          <a:p>
            <a:r>
              <a:t>The result holds with weekly data, three other volatility measures, and only the hand-curated tokens. The largest gain anywhere is 0.017, a tenth of the fold-to-fold spread.</a:t>
            </a:r>
          </a:p>
          <a:p/>
          <a:p>
            <a:r>
              <a:t>Classification agrees. Logistic regression on controls spots the most volatile tokens better than ranking by recent volatility, but unlock features slightly lower its AUC.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(~40 s)</a:t>
            </a:r>
          </a:p>
          <a:p/>
          <a:p>
            <a:r>
              <a:t>Is any of this useful in practice? Errors are still large: the typical miss is about 0.27 volatility points, a third of the level, and on a typical day the model is no closer than persistence. Its value is avoiding the big misses that matter for margins and position limits.</a:t>
            </a:r>
          </a:p>
          <a:p/>
          <a:p>
            <a:r>
              <a:t>Unlock features add nothing there, yet cost a data subscription and a pipeline. Our advice to a risk desk: don't pay for them as a volatility input, and keep a person in the loop for the cases on the right.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[Member 3]  (~35 s)</a:t>
            </a:r>
          </a:p>
          <a:p/>
          <a:p>
            <a:r>
              <a:t>To conclude:</a:t>
            </a:r>
          </a:p>
          <a:p>
            <a:r>
              <a:t>• The raw link is real, but trailing volatility already explains it.</a:t>
            </a:r>
          </a:p>
          <a:p>
            <a:r>
              <a:t>• Six models agree.</a:t>
            </a:r>
          </a:p>
          <a:p>
            <a:r>
              <a:t>• The best forecaster is a simple Ridge model on the controls.</a:t>
            </a:r>
          </a:p>
          <a:p>
            <a:r>
              <a:t>• This fits an efficient market: schedules are public months ahead, so the effect is likely priced in early.</a:t>
            </a:r>
          </a:p>
          <a:p/>
          <a:p>
            <a:r>
              <a:t>Our limits are one market regime and today's schedule versions, which can only flatter unlocks.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lIns="0" rIns="0" tIns="0" bIns="0" anchor="t">
            <a:spAutoFit/>
          </a:bodyPr>
          <a:lstStyle/>
          <a:p>
            <a:pPr algn="l"/>
            <a:r>
              <a:rPr sz="1400" b="1" i="0">
                <a:solidFill>
                  <a:srgbClr val="EB6A35"/>
                </a:solidFill>
                <a:latin typeface="Calibri"/>
              </a:rPr>
              <a:t>MH6805 MACHINE LEARNING IN FINANCE  |  GROUP 7</a:t>
            </a:r>
          </a:p>
        </p:txBody>
      </p:sp>
      <p:sp>
        <p:nvSpPr>
          <p:cNvPr id="3" name="TextBox 2"/>
          <p:cNvSpPr txBox="1"/>
          <p:nvPr/>
        </p:nvSpPr>
        <p:spPr>
          <a:xfrm>
            <a:off x="731520" y="1737360"/>
            <a:ext cx="10515600" cy="2011680"/>
          </a:xfrm>
          <a:prstGeom prst="rect">
            <a:avLst/>
          </a:prstGeom>
          <a:noFill/>
        </p:spPr>
        <p:txBody>
          <a:bodyPr wrap="square" lIns="0" rIns="0" tIns="0" bIns="0" anchor="t">
            <a:spAutoFit/>
          </a:bodyPr>
          <a:lstStyle/>
          <a:p>
            <a:pPr algn="l"/>
            <a:r>
              <a:rPr sz="4600" b="1" i="0">
                <a:solidFill>
                  <a:srgbClr val="FFFFFF"/>
                </a:solidFill>
                <a:latin typeface="Cambria"/>
              </a:rPr>
              <a:t>Do scheduled token unlocks help forecast crypto volatility?</a:t>
            </a:r>
          </a:p>
        </p:txBody>
      </p:sp>
      <p:sp>
        <p:nvSpPr>
          <p:cNvPr id="4" name="TextBox 3"/>
          <p:cNvSpPr txBox="1"/>
          <p:nvPr/>
        </p:nvSpPr>
        <p:spPr>
          <a:xfrm>
            <a:off x="731520" y="3886200"/>
            <a:ext cx="10058400" cy="548640"/>
          </a:xfrm>
          <a:prstGeom prst="rect">
            <a:avLst/>
          </a:prstGeom>
          <a:noFill/>
        </p:spPr>
        <p:txBody>
          <a:bodyPr wrap="square" lIns="0" rIns="0" tIns="0" bIns="0" anchor="t">
            <a:spAutoFit/>
          </a:bodyPr>
          <a:lstStyle/>
          <a:p>
            <a:pPr algn="l"/>
            <a:r>
              <a:rPr sz="2000" b="0" i="0">
                <a:solidFill>
                  <a:srgbClr val="C9D3E6"/>
                </a:solidFill>
                <a:latin typeface="Calibri"/>
              </a:rPr>
              <a:t>Walk-forward evidence from 176 tokens and six machine-learning models</a:t>
            </a:r>
          </a:p>
        </p:txBody>
      </p:sp>
      <p:sp>
        <p:nvSpPr>
          <p:cNvPr id="5" name="TextBox 4"/>
          <p:cNvSpPr txBox="1"/>
          <p:nvPr/>
        </p:nvSpPr>
        <p:spPr>
          <a:xfrm>
            <a:off x="731520" y="5212080"/>
            <a:ext cx="10058400" cy="365760"/>
          </a:xfrm>
          <a:prstGeom prst="rect">
            <a:avLst/>
          </a:prstGeom>
          <a:noFill/>
        </p:spPr>
        <p:txBody>
          <a:bodyPr wrap="square" lIns="0" rIns="0" tIns="0" bIns="0" anchor="t">
            <a:spAutoFit/>
          </a:bodyPr>
          <a:lstStyle/>
          <a:p>
            <a:pPr algn="l"/>
            <a:r>
              <a:rPr sz="1600" b="1" i="0">
                <a:solidFill>
                  <a:srgbClr val="FF9F80"/>
                </a:solidFill>
                <a:latin typeface="Calibri"/>
              </a:rPr>
              <a:t>[Member 1]   [Member 2]   [Member 3]</a:t>
            </a:r>
          </a:p>
        </p:txBody>
      </p:sp>
      <p:sp>
        <p:nvSpPr>
          <p:cNvPr id="6" name="TextBox 5"/>
          <p:cNvSpPr txBox="1"/>
          <p:nvPr/>
        </p:nvSpPr>
        <p:spPr>
          <a:xfrm>
            <a:off x="731520" y="5623560"/>
            <a:ext cx="10058400" cy="365760"/>
          </a:xfrm>
          <a:prstGeom prst="rect">
            <a:avLst/>
          </a:prstGeom>
          <a:noFill/>
        </p:spPr>
        <p:txBody>
          <a:bodyPr wrap="square" lIns="0" rIns="0" tIns="0" bIns="0" anchor="t">
            <a:spAutoFit/>
          </a:bodyPr>
          <a:lstStyle/>
          <a:p>
            <a:pPr algn="l"/>
            <a:r>
              <a:rPr sz="1400" b="0" i="0">
                <a:solidFill>
                  <a:srgbClr val="C9D3E6"/>
                </a:solidFill>
                <a:latin typeface="Calibri"/>
              </a:rPr>
              <a:t>[Presentation date]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QUESTION AND DESIGN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Do unlocks add anything beyond persistence?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2</a:t>
            </a:r>
          </a:p>
        </p:txBody>
      </p:sp>
      <p:sp>
        <p:nvSpPr>
          <p:cNvPr id="6" name="Controls card"/>
          <p:cNvSpPr/>
          <p:nvPr/>
        </p:nvSpPr>
        <p:spPr>
          <a:xfrm>
            <a:off x="548640" y="1828800"/>
            <a:ext cx="3566160" cy="3383280"/>
          </a:xfrm>
          <a:prstGeom prst="roundRect">
            <a:avLst>
              <a:gd name="adj" fmla="val 8000"/>
            </a:avLst>
          </a:prstGeom>
          <a:solidFill>
            <a:srgbClr val="E6F0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057400"/>
            <a:ext cx="3108960" cy="457200"/>
          </a:xfrm>
          <a:prstGeom prst="rect">
            <a:avLst/>
          </a:prstGeom>
          <a:noFill/>
        </p:spPr>
        <p:txBody>
          <a:bodyPr wrap="square" lIns="0" rIns="0" tIns="0" bIns="0" anchor="t">
            <a:spAutoFit/>
          </a:bodyPr>
          <a:lstStyle/>
          <a:p>
            <a:pPr algn="l"/>
            <a:r>
              <a:rPr sz="2000" b="1" i="0">
                <a:solidFill>
                  <a:srgbClr val="2B7BD6"/>
                </a:solidFill>
                <a:latin typeface="Cambria"/>
              </a:rPr>
              <a:t>CONTROLS  (9)</a:t>
            </a:r>
          </a:p>
        </p:txBody>
      </p:sp>
      <p:sp>
        <p:nvSpPr>
          <p:cNvPr id="8" name="TextBox 7"/>
          <p:cNvSpPr txBox="1"/>
          <p:nvPr/>
        </p:nvSpPr>
        <p:spPr>
          <a:xfrm>
            <a:off x="82296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Trailing volatility 7, 14, 30d</a:t>
            </a:r>
          </a:p>
          <a:p>
            <a:pPr algn="l">
              <a:spcAft>
                <a:spcPts val="800"/>
              </a:spcAft>
            </a:pPr>
            <a:r>
              <a:rPr sz="1500" b="0" i="0">
                <a:solidFill>
                  <a:srgbClr val="1F2433"/>
                </a:solidFill>
                <a:latin typeface="Calibri"/>
              </a:rPr>
              <a:t>Trailing return 7, 30d</a:t>
            </a:r>
          </a:p>
          <a:p>
            <a:pPr algn="l">
              <a:spcAft>
                <a:spcPts val="800"/>
              </a:spcAft>
            </a:pPr>
            <a:r>
              <a:rPr sz="1500" b="0" i="0">
                <a:solidFill>
                  <a:srgbClr val="1F2433"/>
                </a:solidFill>
                <a:latin typeface="Calibri"/>
              </a:rPr>
              <a:t>BTC and ETH volatility (regime)</a:t>
            </a:r>
          </a:p>
          <a:p>
            <a:pPr algn="l">
              <a:spcAft>
                <a:spcPts val="800"/>
              </a:spcAft>
            </a:pPr>
            <a:r>
              <a:rPr sz="1500" b="0" i="0">
                <a:solidFill>
                  <a:srgbClr val="1F2433"/>
                </a:solidFill>
                <a:latin typeface="Calibri"/>
              </a:rPr>
              <a:t>Log market cap, token age</a:t>
            </a:r>
          </a:p>
        </p:txBody>
      </p:sp>
      <p:sp>
        <p:nvSpPr>
          <p:cNvPr id="9" name="Full card"/>
          <p:cNvSpPr/>
          <p:nvPr/>
        </p:nvSpPr>
        <p:spPr>
          <a:xfrm>
            <a:off x="4343400" y="1828800"/>
            <a:ext cx="3566160" cy="3383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057400"/>
            <a:ext cx="3108960" cy="457200"/>
          </a:xfrm>
          <a:prstGeom prst="rect">
            <a:avLst/>
          </a:prstGeom>
          <a:noFill/>
        </p:spPr>
        <p:txBody>
          <a:bodyPr wrap="square" lIns="0" rIns="0" tIns="0" bIns="0" anchor="t">
            <a:spAutoFit/>
          </a:bodyPr>
          <a:lstStyle/>
          <a:p>
            <a:pPr algn="l"/>
            <a:r>
              <a:rPr sz="2000" b="1" i="0">
                <a:solidFill>
                  <a:srgbClr val="EB6A35"/>
                </a:solidFill>
                <a:latin typeface="Cambria"/>
              </a:rPr>
              <a:t>+ UNLOCK &amp; STATIC (23)</a:t>
            </a:r>
          </a:p>
        </p:txBody>
      </p:sp>
      <p:sp>
        <p:nvSpPr>
          <p:cNvPr id="11" name="TextBox 10"/>
          <p:cNvSpPr txBox="1"/>
          <p:nvPr/>
        </p:nvSpPr>
        <p:spPr>
          <a:xfrm>
            <a:off x="4617720" y="2606040"/>
            <a:ext cx="3108960" cy="2560320"/>
          </a:xfrm>
          <a:prstGeom prst="rect">
            <a:avLst/>
          </a:prstGeom>
          <a:noFill/>
        </p:spPr>
        <p:txBody>
          <a:bodyPr wrap="square" lIns="0" rIns="0" tIns="0" bIns="0" anchor="t">
            <a:spAutoFit/>
          </a:bodyPr>
          <a:lstStyle/>
          <a:p>
            <a:pPr algn="l">
              <a:spcAft>
                <a:spcPts val="800"/>
              </a:spcAft>
            </a:pPr>
            <a:r>
              <a:rPr sz="1500" b="0" i="0">
                <a:solidFill>
                  <a:srgbClr val="1F2433"/>
                </a:solidFill>
                <a:latin typeface="Calibri"/>
              </a:rPr>
              <a:t>Share of float unlocking in next 7, 30, 90 days</a:t>
            </a:r>
          </a:p>
          <a:p>
            <a:pPr algn="l">
              <a:spcAft>
                <a:spcPts val="800"/>
              </a:spcAft>
            </a:pPr>
            <a:r>
              <a:rPr sz="1500" b="0" i="0">
                <a:solidFill>
                  <a:srgbClr val="1F2433"/>
                </a:solidFill>
                <a:latin typeface="Calibri"/>
              </a:rPr>
              <a:t>Days to and size of next cliff</a:t>
            </a:r>
          </a:p>
          <a:p>
            <a:pPr algn="l">
              <a:spcAft>
                <a:spcPts val="800"/>
              </a:spcAft>
            </a:pPr>
            <a:r>
              <a:rPr sz="1500" b="0" i="0">
                <a:solidFill>
                  <a:srgbClr val="1F2433"/>
                </a:solidFill>
                <a:latin typeface="Calibri"/>
              </a:rPr>
              <a:t>30d unlocks by recipient (team, investors, community ...)</a:t>
            </a:r>
          </a:p>
          <a:p>
            <a:pPr algn="l">
              <a:spcAft>
                <a:spcPts val="800"/>
              </a:spcAft>
            </a:pPr>
            <a:r>
              <a:rPr sz="1500" b="0" i="0">
                <a:solidFill>
                  <a:srgbClr val="1F2433"/>
                </a:solidFill>
                <a:latin typeface="Calibri"/>
              </a:rPr>
              <a:t>Allocation shares, data-quality flags</a:t>
            </a:r>
          </a:p>
        </p:txBody>
      </p:sp>
      <p:sp>
        <p:nvSpPr>
          <p:cNvPr id="12" name="Right Arrow 11"/>
          <p:cNvSpPr/>
          <p:nvPr/>
        </p:nvSpPr>
        <p:spPr>
          <a:xfrm>
            <a:off x="8092440" y="3200400"/>
            <a:ext cx="640080" cy="548640"/>
          </a:xfrm>
          <a:prstGeom prst="rightArrow">
            <a:avLst/>
          </a:prstGeom>
          <a:solidFill>
            <a:srgbClr val="14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lta card"/>
          <p:cNvSpPr/>
          <p:nvPr/>
        </p:nvSpPr>
        <p:spPr>
          <a:xfrm>
            <a:off x="8915400" y="1828800"/>
            <a:ext cx="2743200" cy="338328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2194560"/>
            <a:ext cx="2743200" cy="914400"/>
          </a:xfrm>
          <a:prstGeom prst="rect">
            <a:avLst/>
          </a:prstGeom>
          <a:noFill/>
        </p:spPr>
        <p:txBody>
          <a:bodyPr wrap="square" lIns="0" rIns="0" tIns="0" bIns="0" anchor="t">
            <a:spAutoFit/>
          </a:bodyPr>
          <a:lstStyle/>
          <a:p>
            <a:pPr algn="ctr"/>
            <a:r>
              <a:rPr sz="4800" b="1" i="0">
                <a:solidFill>
                  <a:srgbClr val="FFFFFF"/>
                </a:solidFill>
                <a:latin typeface="Cambria"/>
              </a:rPr>
              <a:t>Δ R²</a:t>
            </a:r>
          </a:p>
        </p:txBody>
      </p:sp>
      <p:sp>
        <p:nvSpPr>
          <p:cNvPr id="15" name="TextBox 14"/>
          <p:cNvSpPr txBox="1"/>
          <p:nvPr/>
        </p:nvSpPr>
        <p:spPr>
          <a:xfrm>
            <a:off x="9144000" y="3291840"/>
            <a:ext cx="2286000" cy="1645920"/>
          </a:xfrm>
          <a:prstGeom prst="rect">
            <a:avLst/>
          </a:prstGeom>
          <a:noFill/>
        </p:spPr>
        <p:txBody>
          <a:bodyPr wrap="square" lIns="0" rIns="0" tIns="0" bIns="0" anchor="t">
            <a:spAutoFit/>
          </a:bodyPr>
          <a:lstStyle/>
          <a:p>
            <a:pPr algn="ctr"/>
            <a:r>
              <a:rPr sz="1500" b="0" i="0">
                <a:solidFill>
                  <a:srgbClr val="C9D3E6"/>
                </a:solidFill>
                <a:latin typeface="Calibri"/>
              </a:rPr>
              <a:t>FULL minus CONTROLS, per fold, same model, same data</a:t>
            </a:r>
          </a:p>
        </p:txBody>
      </p:sp>
      <p:sp>
        <p:nvSpPr>
          <p:cNvPr id="16" name="TextBox 15"/>
          <p:cNvSpPr txBox="1"/>
          <p:nvPr/>
        </p:nvSpPr>
        <p:spPr>
          <a:xfrm>
            <a:off x="548640" y="5532120"/>
            <a:ext cx="11064240" cy="548640"/>
          </a:xfrm>
          <a:prstGeom prst="rect">
            <a:avLst/>
          </a:prstGeom>
          <a:noFill/>
        </p:spPr>
        <p:txBody>
          <a:bodyPr wrap="square" lIns="0" rIns="0" tIns="0" bIns="0" anchor="t">
            <a:spAutoFit/>
          </a:bodyPr>
          <a:lstStyle/>
          <a:p>
            <a:pPr algn="l"/>
            <a:r>
              <a:rPr sz="1500" b="0" i="0">
                <a:solidFill>
                  <a:srgbClr val="6B7280"/>
                </a:solidFill>
                <a:latin typeface="Calibri"/>
              </a:rPr>
              <a:t>Why ask: traders treat big unlocks as volatility events, and the schedule is public in advance. Y = log forward 14-day realized volatility; metric = out-of-sample R² vs the persistence forecast.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DATA AND FIRST LOOK</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 the raw data, volatility does rise with unlocks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3</a:t>
            </a:r>
          </a:p>
        </p:txBody>
      </p:sp>
      <p:pic>
        <p:nvPicPr>
          <p:cNvPr id="6" name="Picture 5" descr="eda_decile_emission_vs_rv.png"/>
          <p:cNvPicPr>
            <a:picLocks noChangeAspect="1"/>
          </p:cNvPicPr>
          <p:nvPr/>
        </p:nvPicPr>
        <p:blipFill>
          <a:blip r:embed="rId3"/>
          <a:stretch>
            <a:fillRect/>
          </a:stretch>
        </p:blipFill>
        <p:spPr>
          <a:xfrm>
            <a:off x="548640" y="2240280"/>
            <a:ext cx="6151294" cy="3931920"/>
          </a:xfrm>
          <a:prstGeom prst="rect">
            <a:avLst/>
          </a:prstGeom>
        </p:spPr>
      </p:pic>
      <p:sp>
        <p:nvSpPr>
          <p:cNvPr id="7" name="Data strip"/>
          <p:cNvSpPr/>
          <p:nvPr/>
        </p:nvSpPr>
        <p:spPr>
          <a:xfrm>
            <a:off x="548640" y="1554480"/>
            <a:ext cx="11064240" cy="5029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554480"/>
            <a:ext cx="10698480" cy="502920"/>
          </a:xfrm>
          <a:prstGeom prst="rect">
            <a:avLst/>
          </a:prstGeom>
          <a:noFill/>
        </p:spPr>
        <p:txBody>
          <a:bodyPr wrap="square" lIns="0" rIns="0" tIns="0" bIns="0" anchor="ctr">
            <a:spAutoFit/>
          </a:bodyPr>
          <a:lstStyle/>
          <a:p>
            <a:pPr algn="l"/>
            <a:r>
              <a:rPr sz="1400" b="1" i="0">
                <a:solidFill>
                  <a:srgbClr val="1F2433"/>
                </a:solidFill>
                <a:latin typeface="Calibri"/>
              </a:rPr>
              <a:t>176 tokens</a:t>
            </a:r>
            <a:r>
              <a:rPr sz="1400" b="0" i="0">
                <a:solidFill>
                  <a:srgbClr val="1F2433"/>
                </a:solidFill>
                <a:latin typeface="Calibri"/>
              </a:rPr>
              <a:t>  ·  101,393 token-days, 2024-09-14 to 2026-08-15  ·  </a:t>
            </a:r>
            <a:r>
              <a:rPr sz="1400" b="1" i="0">
                <a:solidFill>
                  <a:srgbClr val="1F2433"/>
                </a:solidFill>
                <a:latin typeface="Calibri"/>
              </a:rPr>
              <a:t>prices: </a:t>
            </a:r>
            <a:r>
              <a:rPr sz="1400" b="0" i="0">
                <a:solidFill>
                  <a:srgbClr val="1F2433"/>
                </a:solidFill>
                <a:latin typeface="Calibri"/>
              </a:rPr>
              <a:t>Binance daily klines  ·  </a:t>
            </a:r>
            <a:r>
              <a:rPr sz="1400" b="1" i="0">
                <a:solidFill>
                  <a:srgbClr val="1F2433"/>
                </a:solidFill>
                <a:latin typeface="Calibri"/>
              </a:rPr>
              <a:t>unlocks: </a:t>
            </a:r>
            <a:r>
              <a:rPr sz="1400" b="0" i="0">
                <a:solidFill>
                  <a:srgbClr val="1F2433"/>
                </a:solidFill>
                <a:latin typeface="Calibri"/>
              </a:rPr>
              <a:t>Tokenomist schedules  ·  32 features</a:t>
            </a:r>
          </a:p>
        </p:txBody>
      </p:sp>
      <p:sp>
        <p:nvSpPr>
          <p:cNvPr id="9" name="TextBox 8"/>
          <p:cNvSpPr txBox="1"/>
          <p:nvPr/>
        </p:nvSpPr>
        <p:spPr>
          <a:xfrm>
            <a:off x="7955279" y="2286000"/>
            <a:ext cx="3657600" cy="731520"/>
          </a:xfrm>
          <a:prstGeom prst="rect">
            <a:avLst/>
          </a:prstGeom>
          <a:noFill/>
        </p:spPr>
        <p:txBody>
          <a:bodyPr wrap="square" lIns="0" rIns="0" tIns="0" bIns="0" anchor="t">
            <a:spAutoFit/>
          </a:bodyPr>
          <a:lstStyle/>
          <a:p>
            <a:pPr algn="l"/>
            <a:r>
              <a:rPr sz="4000" b="1" i="0">
                <a:solidFill>
                  <a:srgbClr val="141B2D"/>
                </a:solidFill>
                <a:latin typeface="Cambria"/>
              </a:rPr>
              <a:t>0.14</a:t>
            </a:r>
          </a:p>
        </p:txBody>
      </p:sp>
      <p:sp>
        <p:nvSpPr>
          <p:cNvPr id="10" name="TextBox 9"/>
          <p:cNvSpPr txBox="1"/>
          <p:nvPr/>
        </p:nvSpPr>
        <p:spPr>
          <a:xfrm>
            <a:off x="7955279" y="2971800"/>
            <a:ext cx="3657600" cy="731520"/>
          </a:xfrm>
          <a:prstGeom prst="rect">
            <a:avLst/>
          </a:prstGeom>
          <a:noFill/>
        </p:spPr>
        <p:txBody>
          <a:bodyPr wrap="square" lIns="0" rIns="0" tIns="0" bIns="0" anchor="t">
            <a:spAutoFit/>
          </a:bodyPr>
          <a:lstStyle/>
          <a:p>
            <a:pPr algn="l"/>
            <a:r>
              <a:rPr sz="1400" b="0" i="0">
                <a:solidFill>
                  <a:srgbClr val="6B7280"/>
                </a:solidFill>
                <a:latin typeface="Calibri"/>
              </a:rPr>
              <a:t>pooled Spearman ρ between 30-day unlock pressure and forward volatility</a:t>
            </a:r>
          </a:p>
        </p:txBody>
      </p:sp>
      <p:sp>
        <p:nvSpPr>
          <p:cNvPr id="11" name="TextBox 10"/>
          <p:cNvSpPr txBox="1"/>
          <p:nvPr/>
        </p:nvSpPr>
        <p:spPr>
          <a:xfrm>
            <a:off x="7955279" y="3657600"/>
            <a:ext cx="3657600" cy="731520"/>
          </a:xfrm>
          <a:prstGeom prst="rect">
            <a:avLst/>
          </a:prstGeom>
          <a:noFill/>
        </p:spPr>
        <p:txBody>
          <a:bodyPr wrap="square" lIns="0" rIns="0" tIns="0" bIns="0" anchor="t">
            <a:spAutoFit/>
          </a:bodyPr>
          <a:lstStyle/>
          <a:p>
            <a:pPr algn="l"/>
            <a:r>
              <a:rPr sz="4000" b="1" i="0">
                <a:solidFill>
                  <a:srgbClr val="141B2D"/>
                </a:solidFill>
                <a:latin typeface="Cambria"/>
              </a:rPr>
              <a:t>74%</a:t>
            </a:r>
          </a:p>
        </p:txBody>
      </p:sp>
      <p:sp>
        <p:nvSpPr>
          <p:cNvPr id="12" name="TextBox 11"/>
          <p:cNvSpPr txBox="1"/>
          <p:nvPr/>
        </p:nvSpPr>
        <p:spPr>
          <a:xfrm>
            <a:off x="7955279" y="4343400"/>
            <a:ext cx="3657600" cy="731520"/>
          </a:xfrm>
          <a:prstGeom prst="rect">
            <a:avLst/>
          </a:prstGeom>
          <a:noFill/>
        </p:spPr>
        <p:txBody>
          <a:bodyPr wrap="square" lIns="0" rIns="0" tIns="0" bIns="0" anchor="t">
            <a:spAutoFit/>
          </a:bodyPr>
          <a:lstStyle/>
          <a:p>
            <a:pPr algn="l"/>
            <a:r>
              <a:rPr sz="1400" b="0" i="0">
                <a:solidFill>
                  <a:srgbClr val="6B7280"/>
                </a:solidFill>
                <a:latin typeface="Calibri"/>
              </a:rPr>
              <a:t>of tokens show a positive correlation (per-token median ρ = 0.22)</a:t>
            </a:r>
          </a:p>
        </p:txBody>
      </p:sp>
      <p:sp>
        <p:nvSpPr>
          <p:cNvPr id="13" name="But"/>
          <p:cNvSpPr/>
          <p:nvPr/>
        </p:nvSpPr>
        <p:spPr>
          <a:xfrm>
            <a:off x="7955279" y="5074920"/>
            <a:ext cx="3657600" cy="1097280"/>
          </a:xfrm>
          <a:prstGeom prst="roundRect">
            <a:avLst>
              <a:gd name="adj" fmla="val 8000"/>
            </a:avLst>
          </a:prstGeom>
          <a:solidFill>
            <a:srgbClr val="FDEC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83879" y="5166360"/>
            <a:ext cx="3200400" cy="914400"/>
          </a:xfrm>
          <a:prstGeom prst="rect">
            <a:avLst/>
          </a:prstGeom>
          <a:noFill/>
        </p:spPr>
        <p:txBody>
          <a:bodyPr wrap="square" lIns="0" rIns="0" tIns="0" bIns="0" anchor="t">
            <a:spAutoFit/>
          </a:bodyPr>
          <a:lstStyle/>
          <a:p>
            <a:pPr algn="l"/>
            <a:r>
              <a:rPr sz="1500" b="1" i="0">
                <a:solidFill>
                  <a:srgbClr val="EB6A35"/>
                </a:solidFill>
                <a:latin typeface="Calibri"/>
              </a:rPr>
              <a:t>But: </a:t>
            </a:r>
            <a:r>
              <a:rPr sz="1500" b="0" i="0">
                <a:solidFill>
                  <a:srgbClr val="1F2433"/>
                </a:solidFill>
                <a:latin typeface="Calibri"/>
              </a:rPr>
              <a:t>heavy-unlock tokens are young and already volatile. Is this just persistence in disguise?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PROTOCOL</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Walk-forward validation: never shuffle, never peek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4</a:t>
            </a:r>
          </a:p>
        </p:txBody>
      </p:sp>
      <p:sp>
        <p:nvSpPr>
          <p:cNvPr id="6" name="TextBox 5"/>
          <p:cNvSpPr txBox="1"/>
          <p:nvPr/>
        </p:nvSpPr>
        <p:spPr>
          <a:xfrm>
            <a:off x="548640" y="1847088"/>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1</a:t>
            </a:r>
          </a:p>
        </p:txBody>
      </p:sp>
      <p:sp>
        <p:nvSpPr>
          <p:cNvPr id="7" name="Train 1"/>
          <p:cNvSpPr/>
          <p:nvPr/>
        </p:nvSpPr>
        <p:spPr>
          <a:xfrm>
            <a:off x="1828800" y="1828800"/>
            <a:ext cx="180006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 1"/>
          <p:cNvSpPr/>
          <p:nvPr/>
        </p:nvSpPr>
        <p:spPr>
          <a:xfrm>
            <a:off x="3628861" y="1828800"/>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st 1"/>
          <p:cNvSpPr/>
          <p:nvPr/>
        </p:nvSpPr>
        <p:spPr>
          <a:xfrm>
            <a:off x="5290457" y="1828800"/>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414016"/>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2</a:t>
            </a:r>
          </a:p>
        </p:txBody>
      </p:sp>
      <p:sp>
        <p:nvSpPr>
          <p:cNvPr id="11" name="Train 2"/>
          <p:cNvSpPr/>
          <p:nvPr/>
        </p:nvSpPr>
        <p:spPr>
          <a:xfrm>
            <a:off x="1828800" y="2395728"/>
            <a:ext cx="304625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 2"/>
          <p:cNvSpPr/>
          <p:nvPr/>
        </p:nvSpPr>
        <p:spPr>
          <a:xfrm>
            <a:off x="4875058" y="2395728"/>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st 2"/>
          <p:cNvSpPr/>
          <p:nvPr/>
        </p:nvSpPr>
        <p:spPr>
          <a:xfrm>
            <a:off x="6536653" y="2395728"/>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980944"/>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3</a:t>
            </a:r>
          </a:p>
        </p:txBody>
      </p:sp>
      <p:sp>
        <p:nvSpPr>
          <p:cNvPr id="15" name="Train 3"/>
          <p:cNvSpPr/>
          <p:nvPr/>
        </p:nvSpPr>
        <p:spPr>
          <a:xfrm>
            <a:off x="1828800" y="2962656"/>
            <a:ext cx="4292454"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Val 3"/>
          <p:cNvSpPr/>
          <p:nvPr/>
        </p:nvSpPr>
        <p:spPr>
          <a:xfrm>
            <a:off x="6121254" y="2962656"/>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st 3"/>
          <p:cNvSpPr/>
          <p:nvPr/>
        </p:nvSpPr>
        <p:spPr>
          <a:xfrm>
            <a:off x="7782850" y="2962656"/>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547872"/>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4</a:t>
            </a:r>
          </a:p>
        </p:txBody>
      </p:sp>
      <p:sp>
        <p:nvSpPr>
          <p:cNvPr id="19" name="Train 4"/>
          <p:cNvSpPr/>
          <p:nvPr/>
        </p:nvSpPr>
        <p:spPr>
          <a:xfrm>
            <a:off x="1828800" y="3529584"/>
            <a:ext cx="5538651"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Val 4"/>
          <p:cNvSpPr/>
          <p:nvPr/>
        </p:nvSpPr>
        <p:spPr>
          <a:xfrm>
            <a:off x="7367451" y="3529584"/>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st 4"/>
          <p:cNvSpPr/>
          <p:nvPr/>
        </p:nvSpPr>
        <p:spPr>
          <a:xfrm>
            <a:off x="9029046" y="3529584"/>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114800"/>
            <a:ext cx="1188720" cy="365760"/>
          </a:xfrm>
          <a:prstGeom prst="rect">
            <a:avLst/>
          </a:prstGeom>
          <a:noFill/>
        </p:spPr>
        <p:txBody>
          <a:bodyPr wrap="square" lIns="0" rIns="0" tIns="0" bIns="0" anchor="t">
            <a:spAutoFit/>
          </a:bodyPr>
          <a:lstStyle/>
          <a:p>
            <a:pPr algn="l"/>
            <a:r>
              <a:rPr sz="1400" b="1" i="0">
                <a:solidFill>
                  <a:srgbClr val="1F2433"/>
                </a:solidFill>
                <a:latin typeface="Calibri"/>
              </a:rPr>
              <a:t>Fold 5</a:t>
            </a:r>
          </a:p>
        </p:txBody>
      </p:sp>
      <p:sp>
        <p:nvSpPr>
          <p:cNvPr id="23" name="Train 5"/>
          <p:cNvSpPr/>
          <p:nvPr/>
        </p:nvSpPr>
        <p:spPr>
          <a:xfrm>
            <a:off x="1828800" y="4096512"/>
            <a:ext cx="6784848" cy="36576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Val 5"/>
          <p:cNvSpPr/>
          <p:nvPr/>
        </p:nvSpPr>
        <p:spPr>
          <a:xfrm>
            <a:off x="8613648" y="4096512"/>
            <a:ext cx="1246196" cy="36576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st 5"/>
          <p:cNvSpPr/>
          <p:nvPr/>
        </p:nvSpPr>
        <p:spPr>
          <a:xfrm>
            <a:off x="10275243" y="4096512"/>
            <a:ext cx="1246196" cy="36576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7160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2024-09</a:t>
            </a:r>
          </a:p>
        </p:txBody>
      </p:sp>
      <p:sp>
        <p:nvSpPr>
          <p:cNvPr id="27" name="TextBox 26"/>
          <p:cNvSpPr txBox="1"/>
          <p:nvPr/>
        </p:nvSpPr>
        <p:spPr>
          <a:xfrm>
            <a:off x="4971723"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2025-06</a:t>
            </a:r>
          </a:p>
        </p:txBody>
      </p:sp>
      <p:sp>
        <p:nvSpPr>
          <p:cNvPr id="28" name="TextBox 27"/>
          <p:cNvSpPr txBox="1"/>
          <p:nvPr/>
        </p:nvSpPr>
        <p:spPr>
          <a:xfrm>
            <a:off x="7934901"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2026-01</a:t>
            </a:r>
          </a:p>
        </p:txBody>
      </p:sp>
      <p:sp>
        <p:nvSpPr>
          <p:cNvPr id="29" name="TextBox 28"/>
          <p:cNvSpPr txBox="1"/>
          <p:nvPr/>
        </p:nvSpPr>
        <p:spPr>
          <a:xfrm>
            <a:off x="11064240" y="4681728"/>
            <a:ext cx="914400" cy="274320"/>
          </a:xfrm>
          <a:prstGeom prst="rect">
            <a:avLst/>
          </a:prstGeom>
          <a:noFill/>
        </p:spPr>
        <p:txBody>
          <a:bodyPr wrap="square" lIns="0" rIns="0" tIns="0" bIns="0" anchor="t">
            <a:spAutoFit/>
          </a:bodyPr>
          <a:lstStyle/>
          <a:p>
            <a:pPr algn="ctr"/>
            <a:r>
              <a:rPr sz="1200" b="0" i="0">
                <a:solidFill>
                  <a:srgbClr val="6B7280"/>
                </a:solidFill>
                <a:latin typeface="Calibri"/>
              </a:rPr>
              <a:t>2026-08</a:t>
            </a:r>
          </a:p>
        </p:txBody>
      </p:sp>
      <p:sp>
        <p:nvSpPr>
          <p:cNvPr id="30" name="Rectangle 29"/>
          <p:cNvSpPr/>
          <p:nvPr/>
        </p:nvSpPr>
        <p:spPr>
          <a:xfrm>
            <a:off x="1828800" y="5166360"/>
            <a:ext cx="274320" cy="274320"/>
          </a:xfrm>
          <a:prstGeom prst="rect">
            <a:avLst/>
          </a:prstGeom>
          <a:solidFill>
            <a:srgbClr val="2B7B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9456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Train</a:t>
            </a:r>
          </a:p>
        </p:txBody>
      </p:sp>
      <p:sp>
        <p:nvSpPr>
          <p:cNvPr id="32" name="Rectangle 31"/>
          <p:cNvSpPr/>
          <p:nvPr/>
        </p:nvSpPr>
        <p:spPr>
          <a:xfrm>
            <a:off x="2720340" y="5166360"/>
            <a:ext cx="274320" cy="274320"/>
          </a:xfrm>
          <a:prstGeom prst="rect">
            <a:avLst/>
          </a:prstGeom>
          <a:solidFill>
            <a:srgbClr val="8F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86100"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Validation (last 90d of train, for tuning)</a:t>
            </a:r>
          </a:p>
        </p:txBody>
      </p:sp>
      <p:sp>
        <p:nvSpPr>
          <p:cNvPr id="34" name="Rectangle 33"/>
          <p:cNvSpPr/>
          <p:nvPr/>
        </p:nvSpPr>
        <p:spPr>
          <a:xfrm>
            <a:off x="6487668" y="5166360"/>
            <a:ext cx="274320" cy="274320"/>
          </a:xfrm>
          <a:prstGeom prst="rect">
            <a:avLst/>
          </a:prstGeom>
          <a:solidFill>
            <a:srgbClr val="FFFFFF"/>
          </a:solidFill>
          <a:ln w="12700">
            <a:solidFill>
              <a:srgbClr val="D9DD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3428"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30-day embargo</a:t>
            </a:r>
          </a:p>
        </p:txBody>
      </p:sp>
      <p:sp>
        <p:nvSpPr>
          <p:cNvPr id="36" name="Rectangle 35"/>
          <p:cNvSpPr/>
          <p:nvPr/>
        </p:nvSpPr>
        <p:spPr>
          <a:xfrm>
            <a:off x="8078724" y="5166360"/>
            <a:ext cx="274320" cy="274320"/>
          </a:xfrm>
          <a:prstGeom prst="rect">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44484" y="5175504"/>
            <a:ext cx="3200400" cy="274320"/>
          </a:xfrm>
          <a:prstGeom prst="rect">
            <a:avLst/>
          </a:prstGeom>
          <a:noFill/>
        </p:spPr>
        <p:txBody>
          <a:bodyPr wrap="square" lIns="0" rIns="0" tIns="0" bIns="0" anchor="t">
            <a:spAutoFit/>
          </a:bodyPr>
          <a:lstStyle/>
          <a:p>
            <a:pPr algn="l"/>
            <a:r>
              <a:rPr sz="1300" b="0" i="0">
                <a:solidFill>
                  <a:srgbClr val="1F2433"/>
                </a:solidFill>
                <a:latin typeface="Calibri"/>
              </a:rPr>
              <a:t>Test (90 days, scored once)</a:t>
            </a:r>
          </a:p>
        </p:txBody>
      </p:sp>
      <p:sp>
        <p:nvSpPr>
          <p:cNvPr id="38" name="TextBox 37"/>
          <p:cNvSpPr txBox="1"/>
          <p:nvPr/>
        </p:nvSpPr>
        <p:spPr>
          <a:xfrm>
            <a:off x="548640" y="5715000"/>
            <a:ext cx="11064240" cy="457200"/>
          </a:xfrm>
          <a:prstGeom prst="rect">
            <a:avLst/>
          </a:prstGeom>
          <a:noFill/>
        </p:spPr>
        <p:txBody>
          <a:bodyPr wrap="square" lIns="0" rIns="0" tIns="0" bIns="0" anchor="t">
            <a:spAutoFit/>
          </a:bodyPr>
          <a:lstStyle/>
          <a:p>
            <a:pPr algn="l"/>
            <a:r>
              <a:rPr sz="1400" b="0" i="0">
                <a:solidFill>
                  <a:srgbClr val="6B7280"/>
                </a:solidFill>
                <a:latin typeface="Calibri"/>
              </a:rPr>
              <a:t>Candidates (pre-processing + model + settings) are compared on validation only; the winner is refit and the test window is scored once, never used to change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METHODS</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Six models, one shared harness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5</a:t>
            </a:r>
          </a:p>
        </p:txBody>
      </p:sp>
      <p:sp>
        <p:nvSpPr>
          <p:cNvPr id="6" name="Model card KNN"/>
          <p:cNvSpPr/>
          <p:nvPr/>
        </p:nvSpPr>
        <p:spPr>
          <a:xfrm>
            <a:off x="54864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8" name="TextBox 7"/>
          <p:cNvSpPr txBox="1"/>
          <p:nvPr/>
        </p:nvSpPr>
        <p:spPr>
          <a:xfrm>
            <a:off x="72237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KNN</a:t>
            </a:r>
          </a:p>
        </p:txBody>
      </p:sp>
      <p:sp>
        <p:nvSpPr>
          <p:cNvPr id="9" name="TextBox 8"/>
          <p:cNvSpPr txBox="1"/>
          <p:nvPr/>
        </p:nvSpPr>
        <p:spPr>
          <a:xfrm>
            <a:off x="72237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Quantile-scaled distance; k from 5 to 250</a:t>
            </a:r>
          </a:p>
        </p:txBody>
      </p:sp>
      <p:sp>
        <p:nvSpPr>
          <p:cNvPr id="10" name="TextBox 9"/>
          <p:cNvSpPr txBox="1"/>
          <p:nvPr/>
        </p:nvSpPr>
        <p:spPr>
          <a:xfrm>
            <a:off x="72237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k = 100–250</a:t>
            </a:r>
          </a:p>
        </p:txBody>
      </p:sp>
      <p:sp>
        <p:nvSpPr>
          <p:cNvPr id="11" name="Model card Random Forest"/>
          <p:cNvSpPr/>
          <p:nvPr/>
        </p:nvSpPr>
        <p:spPr>
          <a:xfrm>
            <a:off x="2423160"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9689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3" name="TextBox 12"/>
          <p:cNvSpPr txBox="1"/>
          <p:nvPr/>
        </p:nvSpPr>
        <p:spPr>
          <a:xfrm>
            <a:off x="259689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Random Forest</a:t>
            </a:r>
          </a:p>
        </p:txBody>
      </p:sp>
      <p:sp>
        <p:nvSpPr>
          <p:cNvPr id="14" name="TextBox 13"/>
          <p:cNvSpPr txBox="1"/>
          <p:nvPr/>
        </p:nvSpPr>
        <p:spPr>
          <a:xfrm>
            <a:off x="259689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400 trees, depth × leaf × features grid</a:t>
            </a:r>
          </a:p>
        </p:txBody>
      </p:sp>
      <p:sp>
        <p:nvSpPr>
          <p:cNvPr id="15" name="TextBox 14"/>
          <p:cNvSpPr txBox="1"/>
          <p:nvPr/>
        </p:nvSpPr>
        <p:spPr>
          <a:xfrm>
            <a:off x="259689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leaves of 50–100 rows</a:t>
            </a:r>
          </a:p>
        </p:txBody>
      </p:sp>
      <p:sp>
        <p:nvSpPr>
          <p:cNvPr id="16" name="Model card LightGBM"/>
          <p:cNvSpPr/>
          <p:nvPr/>
        </p:nvSpPr>
        <p:spPr>
          <a:xfrm>
            <a:off x="429767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18" name="TextBox 17"/>
          <p:cNvSpPr txBox="1"/>
          <p:nvPr/>
        </p:nvSpPr>
        <p:spPr>
          <a:xfrm>
            <a:off x="447141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LightGBM</a:t>
            </a:r>
          </a:p>
        </p:txBody>
      </p:sp>
      <p:sp>
        <p:nvSpPr>
          <p:cNvPr id="19" name="TextBox 18"/>
          <p:cNvSpPr txBox="1"/>
          <p:nvPr/>
        </p:nvSpPr>
        <p:spPr>
          <a:xfrm>
            <a:off x="447141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Boosted trees; 200 or 500 trees, 7 or 15 leaves</a:t>
            </a:r>
          </a:p>
        </p:txBody>
      </p:sp>
      <p:sp>
        <p:nvSpPr>
          <p:cNvPr id="20" name="TextBox 19"/>
          <p:cNvSpPr txBox="1"/>
          <p:nvPr/>
        </p:nvSpPr>
        <p:spPr>
          <a:xfrm>
            <a:off x="447141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slowest, lr 0.02</a:t>
            </a:r>
          </a:p>
        </p:txBody>
      </p:sp>
      <p:sp>
        <p:nvSpPr>
          <p:cNvPr id="21" name="Model card Ridge"/>
          <p:cNvSpPr/>
          <p:nvPr/>
        </p:nvSpPr>
        <p:spPr>
          <a:xfrm>
            <a:off x="617219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3" name="TextBox 22"/>
          <p:cNvSpPr txBox="1"/>
          <p:nvPr/>
        </p:nvSpPr>
        <p:spPr>
          <a:xfrm>
            <a:off x="6345936"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Ridge</a:t>
            </a:r>
          </a:p>
        </p:txBody>
      </p:sp>
      <p:sp>
        <p:nvSpPr>
          <p:cNvPr id="24" name="TextBox 23"/>
          <p:cNvSpPr txBox="1"/>
          <p:nvPr/>
        </p:nvSpPr>
        <p:spPr>
          <a:xfrm>
            <a:off x="6345936"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L2 penalty; α from 0.1 to 10⁷</a:t>
            </a:r>
          </a:p>
        </p:txBody>
      </p:sp>
      <p:sp>
        <p:nvSpPr>
          <p:cNvPr id="25" name="TextBox 24"/>
          <p:cNvSpPr txBox="1"/>
          <p:nvPr/>
        </p:nvSpPr>
        <p:spPr>
          <a:xfrm>
            <a:off x="6345936"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α = 10⁴–10⁷</a:t>
            </a:r>
          </a:p>
        </p:txBody>
      </p:sp>
      <p:sp>
        <p:nvSpPr>
          <p:cNvPr id="26" name="Model card Elastic Net"/>
          <p:cNvSpPr/>
          <p:nvPr/>
        </p:nvSpPr>
        <p:spPr>
          <a:xfrm>
            <a:off x="8046719" y="1783080"/>
            <a:ext cx="1719072" cy="420624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0455"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REGRESSION</a:t>
            </a:r>
          </a:p>
        </p:txBody>
      </p:sp>
      <p:sp>
        <p:nvSpPr>
          <p:cNvPr id="28" name="TextBox 27"/>
          <p:cNvSpPr txBox="1"/>
          <p:nvPr/>
        </p:nvSpPr>
        <p:spPr>
          <a:xfrm>
            <a:off x="8220455" y="2331720"/>
            <a:ext cx="1371600" cy="822960"/>
          </a:xfrm>
          <a:prstGeom prst="rect">
            <a:avLst/>
          </a:prstGeom>
          <a:noFill/>
        </p:spPr>
        <p:txBody>
          <a:bodyPr wrap="square" lIns="0" rIns="0" tIns="0" bIns="0" anchor="t">
            <a:spAutoFit/>
          </a:bodyPr>
          <a:lstStyle/>
          <a:p>
            <a:pPr algn="l"/>
            <a:r>
              <a:rPr sz="2000" b="1" i="0">
                <a:solidFill>
                  <a:srgbClr val="1F2433"/>
                </a:solidFill>
                <a:latin typeface="Cambria"/>
              </a:rPr>
              <a:t>Elastic Net</a:t>
            </a:r>
          </a:p>
        </p:txBody>
      </p:sp>
      <p:sp>
        <p:nvSpPr>
          <p:cNvPr id="29" name="TextBox 28"/>
          <p:cNvSpPr txBox="1"/>
          <p:nvPr/>
        </p:nvSpPr>
        <p:spPr>
          <a:xfrm>
            <a:off x="8220455" y="3200400"/>
            <a:ext cx="1371600" cy="1280160"/>
          </a:xfrm>
          <a:prstGeom prst="rect">
            <a:avLst/>
          </a:prstGeom>
          <a:noFill/>
        </p:spPr>
        <p:txBody>
          <a:bodyPr wrap="square" lIns="0" rIns="0" tIns="0" bIns="0" anchor="t">
            <a:spAutoFit/>
          </a:bodyPr>
          <a:lstStyle/>
          <a:p>
            <a:pPr algn="l"/>
            <a:r>
              <a:rPr sz="1400" b="0" i="0">
                <a:solidFill>
                  <a:srgbClr val="6B7280"/>
                </a:solidFill>
                <a:latin typeface="Calibri"/>
              </a:rPr>
              <a:t>L1 + L2, α × l1_ratio grid</a:t>
            </a:r>
          </a:p>
        </p:txBody>
      </p:sp>
      <p:sp>
        <p:nvSpPr>
          <p:cNvPr id="30" name="TextBox 29"/>
          <p:cNvSpPr txBox="1"/>
          <p:nvPr/>
        </p:nvSpPr>
        <p:spPr>
          <a:xfrm>
            <a:off x="8220455" y="4572000"/>
            <a:ext cx="1371600" cy="1188720"/>
          </a:xfrm>
          <a:prstGeom prst="rect">
            <a:avLst/>
          </a:prstGeom>
          <a:noFill/>
        </p:spPr>
        <p:txBody>
          <a:bodyPr wrap="square" lIns="0" rIns="0" tIns="0" bIns="0" anchor="t">
            <a:spAutoFit/>
          </a:bodyPr>
          <a:lstStyle/>
          <a:p>
            <a:pPr algn="l"/>
            <a:r>
              <a:rPr sz="1400" b="1" i="0">
                <a:solidFill>
                  <a:srgbClr val="1F2433"/>
                </a:solidFill>
                <a:latin typeface="Calibri"/>
              </a:rPr>
              <a:t>Tuned: all-zero in 2 of 5 folds</a:t>
            </a:r>
          </a:p>
        </p:txBody>
      </p:sp>
      <p:sp>
        <p:nvSpPr>
          <p:cNvPr id="31" name="Model card Logistic"/>
          <p:cNvSpPr/>
          <p:nvPr/>
        </p:nvSpPr>
        <p:spPr>
          <a:xfrm>
            <a:off x="9921240" y="1783080"/>
            <a:ext cx="1719072" cy="4206240"/>
          </a:xfrm>
          <a:prstGeom prst="roundRect">
            <a:avLst>
              <a:gd name="adj" fmla="val 8000"/>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94976" y="2011680"/>
            <a:ext cx="1371600" cy="274320"/>
          </a:xfrm>
          <a:prstGeom prst="rect">
            <a:avLst/>
          </a:prstGeom>
          <a:noFill/>
        </p:spPr>
        <p:txBody>
          <a:bodyPr wrap="square" lIns="0" rIns="0" tIns="0" bIns="0" anchor="t">
            <a:spAutoFit/>
          </a:bodyPr>
          <a:lstStyle/>
          <a:p>
            <a:pPr algn="l"/>
            <a:r>
              <a:rPr sz="1100" b="1" i="0">
                <a:solidFill>
                  <a:srgbClr val="EB6A35"/>
                </a:solidFill>
                <a:latin typeface="Calibri"/>
              </a:rPr>
              <a:t>CLASSIFICATION</a:t>
            </a:r>
          </a:p>
        </p:txBody>
      </p:sp>
      <p:sp>
        <p:nvSpPr>
          <p:cNvPr id="33" name="TextBox 32"/>
          <p:cNvSpPr txBox="1"/>
          <p:nvPr/>
        </p:nvSpPr>
        <p:spPr>
          <a:xfrm>
            <a:off x="10094976" y="2331720"/>
            <a:ext cx="1371600" cy="822960"/>
          </a:xfrm>
          <a:prstGeom prst="rect">
            <a:avLst/>
          </a:prstGeom>
          <a:noFill/>
        </p:spPr>
        <p:txBody>
          <a:bodyPr wrap="square" lIns="0" rIns="0" tIns="0" bIns="0" anchor="t">
            <a:spAutoFit/>
          </a:bodyPr>
          <a:lstStyle/>
          <a:p>
            <a:pPr algn="l"/>
            <a:r>
              <a:rPr sz="2000" b="1" i="0">
                <a:solidFill>
                  <a:srgbClr val="FFFFFF"/>
                </a:solidFill>
                <a:latin typeface="Cambria"/>
              </a:rPr>
              <a:t>Logistic</a:t>
            </a:r>
          </a:p>
        </p:txBody>
      </p:sp>
      <p:sp>
        <p:nvSpPr>
          <p:cNvPr id="34" name="TextBox 33"/>
          <p:cNvSpPr txBox="1"/>
          <p:nvPr/>
        </p:nvSpPr>
        <p:spPr>
          <a:xfrm>
            <a:off x="10094976" y="3200400"/>
            <a:ext cx="1371600" cy="1280160"/>
          </a:xfrm>
          <a:prstGeom prst="rect">
            <a:avLst/>
          </a:prstGeom>
          <a:noFill/>
        </p:spPr>
        <p:txBody>
          <a:bodyPr wrap="square" lIns="0" rIns="0" tIns="0" bIns="0" anchor="t">
            <a:spAutoFit/>
          </a:bodyPr>
          <a:lstStyle/>
          <a:p>
            <a:pPr algn="l"/>
            <a:r>
              <a:rPr sz="1400" b="0" i="0">
                <a:solidFill>
                  <a:srgbClr val="C9D3E6"/>
                </a:solidFill>
                <a:latin typeface="Calibri"/>
              </a:rPr>
              <a:t>L2; C from 10⁻⁵ to 10, log-loss tuning</a:t>
            </a:r>
          </a:p>
        </p:txBody>
      </p:sp>
      <p:sp>
        <p:nvSpPr>
          <p:cNvPr id="35" name="TextBox 34"/>
          <p:cNvSpPr txBox="1"/>
          <p:nvPr/>
        </p:nvSpPr>
        <p:spPr>
          <a:xfrm>
            <a:off x="10094976" y="4572000"/>
            <a:ext cx="1371600" cy="1188720"/>
          </a:xfrm>
          <a:prstGeom prst="rect">
            <a:avLst/>
          </a:prstGeom>
          <a:noFill/>
        </p:spPr>
        <p:txBody>
          <a:bodyPr wrap="square" lIns="0" rIns="0" tIns="0" bIns="0" anchor="t">
            <a:spAutoFit/>
          </a:bodyPr>
          <a:lstStyle/>
          <a:p>
            <a:pPr algn="l"/>
            <a:r>
              <a:rPr sz="1400" b="1" i="0">
                <a:solidFill>
                  <a:srgbClr val="FFFFFF"/>
                </a:solidFill>
                <a:latin typeface="Calibri"/>
              </a:rPr>
              <a:t>Events: top-20% vol, 1.5× spike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1</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All models beat the benchmarks on controls alone</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6</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Out-of-sample R² vs persistence</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daily panel, 5 test folds, same test rows for every forecast</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141B2D"/>
                </a:solidFill>
                <a:latin typeface="Cambria"/>
              </a:rPr>
              <a:t>0.17</a:t>
            </a:r>
          </a:p>
        </p:txBody>
      </p:sp>
      <p:sp>
        <p:nvSpPr>
          <p:cNvPr id="10" name="TextBox 9"/>
          <p:cNvSpPr txBox="1"/>
          <p:nvPr/>
        </p:nvSpPr>
        <p:spPr>
          <a:xfrm>
            <a:off x="8503920" y="3429000"/>
            <a:ext cx="3108960" cy="731520"/>
          </a:xfrm>
          <a:prstGeom prst="rect">
            <a:avLst/>
          </a:prstGeom>
          <a:noFill/>
        </p:spPr>
        <p:txBody>
          <a:bodyPr wrap="square" lIns="0" rIns="0" tIns="0" bIns="0" anchor="t">
            <a:spAutoFit/>
          </a:bodyPr>
          <a:lstStyle/>
          <a:p>
            <a:pPr algn="l"/>
            <a:r>
              <a:rPr sz="1500" b="0" i="0">
                <a:solidFill>
                  <a:srgbClr val="6B7280"/>
                </a:solidFill>
                <a:latin typeface="Calibri"/>
              </a:rPr>
              <a:t>training-mean benchmark: every model is above it</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000" b="1" i="0">
                <a:solidFill>
                  <a:srgbClr val="EB6A35"/>
                </a:solidFill>
                <a:latin typeface="Cambria"/>
              </a:rPr>
              <a:t>+0.001 to +0.006</a:t>
            </a:r>
          </a:p>
        </p:txBody>
      </p:sp>
      <p:sp>
        <p:nvSpPr>
          <p:cNvPr id="12" name="TextBox 11"/>
          <p:cNvSpPr txBox="1"/>
          <p:nvPr/>
        </p:nvSpPr>
        <p:spPr>
          <a:xfrm>
            <a:off x="8503920" y="5029200"/>
            <a:ext cx="3108960" cy="731520"/>
          </a:xfrm>
          <a:prstGeom prst="rect">
            <a:avLst/>
          </a:prstGeom>
          <a:noFill/>
        </p:spPr>
        <p:txBody>
          <a:bodyPr wrap="square" lIns="0" rIns="0" tIns="0" bIns="0" anchor="t">
            <a:spAutoFit/>
          </a:bodyPr>
          <a:lstStyle/>
          <a:p>
            <a:pPr algn="l"/>
            <a:r>
              <a:rPr sz="1500" b="0" i="0">
                <a:solidFill>
                  <a:srgbClr val="6B7280"/>
                </a:solidFill>
                <a:latin typeface="Calibri"/>
              </a:rPr>
              <a:t>gain from adding 23 unlock and static features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RESULT 2</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small gain is noise: it flips sign across folds</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7</a:t>
            </a:r>
          </a:p>
        </p:txBody>
      </p:sp>
      <p:graphicFrame>
        <p:nvGraphicFramePr>
          <p:cNvPr id="6" name="Chart 5"/>
          <p:cNvGraphicFramePr>
            <a:graphicFrameLocks noGrp="1"/>
          </p:cNvGraphicFramePr>
          <p:nvPr/>
        </p:nvGraphicFramePr>
        <p:xfrm>
          <a:off x="548640" y="1600200"/>
          <a:ext cx="7589520" cy="4572000"/>
        </p:xfrm>
        <a:graphic>
          <a:graphicData uri="http://schemas.openxmlformats.org/drawingml/2006/chart">
            <c:chart xmlns:c="http://schemas.openxmlformats.org/drawingml/2006/chart" r:id="rId3"/>
          </a:graphicData>
        </a:graphic>
      </p:graphicFrame>
      <p:sp>
        <p:nvSpPr>
          <p:cNvPr id="7" name="TextBox 6"/>
          <p:cNvSpPr txBox="1"/>
          <p:nvPr/>
        </p:nvSpPr>
        <p:spPr>
          <a:xfrm>
            <a:off x="8503920" y="1737360"/>
            <a:ext cx="3108960" cy="365760"/>
          </a:xfrm>
          <a:prstGeom prst="rect">
            <a:avLst/>
          </a:prstGeom>
          <a:noFill/>
        </p:spPr>
        <p:txBody>
          <a:bodyPr wrap="square" lIns="0" rIns="0" tIns="0" bIns="0" anchor="t">
            <a:spAutoFit/>
          </a:bodyPr>
          <a:lstStyle/>
          <a:p>
            <a:pPr algn="l"/>
            <a:r>
              <a:rPr sz="1400" b="1" i="0">
                <a:solidFill>
                  <a:srgbClr val="1F2433"/>
                </a:solidFill>
                <a:latin typeface="Calibri"/>
              </a:rPr>
              <a:t>Δ R²oos = FULL − CONTROLS</a:t>
            </a:r>
          </a:p>
        </p:txBody>
      </p:sp>
      <p:sp>
        <p:nvSpPr>
          <p:cNvPr id="8" name="TextBox 7"/>
          <p:cNvSpPr txBox="1"/>
          <p:nvPr/>
        </p:nvSpPr>
        <p:spPr>
          <a:xfrm>
            <a:off x="8503920" y="2057400"/>
            <a:ext cx="3108960" cy="365760"/>
          </a:xfrm>
          <a:prstGeom prst="rect">
            <a:avLst/>
          </a:prstGeom>
          <a:noFill/>
        </p:spPr>
        <p:txBody>
          <a:bodyPr wrap="square" lIns="0" rIns="0" tIns="0" bIns="0" anchor="t">
            <a:spAutoFit/>
          </a:bodyPr>
          <a:lstStyle/>
          <a:p>
            <a:pPr algn="l"/>
            <a:r>
              <a:rPr sz="1300" b="0" i="0">
                <a:solidFill>
                  <a:srgbClr val="6B7280"/>
                </a:solidFill>
                <a:latin typeface="Calibri"/>
              </a:rPr>
              <a:t>per test fold, in calendar order</a:t>
            </a:r>
          </a:p>
        </p:txBody>
      </p:sp>
      <p:sp>
        <p:nvSpPr>
          <p:cNvPr id="9" name="TextBox 8"/>
          <p:cNvSpPr txBox="1"/>
          <p:nvPr/>
        </p:nvSpPr>
        <p:spPr>
          <a:xfrm>
            <a:off x="8503920" y="2743200"/>
            <a:ext cx="3200400" cy="640080"/>
          </a:xfrm>
          <a:prstGeom prst="rect">
            <a:avLst/>
          </a:prstGeom>
          <a:noFill/>
        </p:spPr>
        <p:txBody>
          <a:bodyPr wrap="square" lIns="0" rIns="0" tIns="0" bIns="0" anchor="t">
            <a:spAutoFit/>
          </a:bodyPr>
          <a:lstStyle/>
          <a:p>
            <a:pPr algn="l"/>
            <a:r>
              <a:rPr sz="3600" b="1" i="0">
                <a:solidFill>
                  <a:srgbClr val="EB6A35"/>
                </a:solidFill>
                <a:latin typeface="Cambria"/>
              </a:rPr>
              <a:t>1–2 of 5</a:t>
            </a:r>
          </a:p>
        </p:txBody>
      </p:sp>
      <p:sp>
        <p:nvSpPr>
          <p:cNvPr id="10" name="TextBox 9"/>
          <p:cNvSpPr txBox="1"/>
          <p:nvPr/>
        </p:nvSpPr>
        <p:spPr>
          <a:xfrm>
            <a:off x="8503920" y="34290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folds where FULL beats CONTROLS for the tree models and KNN; 3 of 5 for the linear ones</a:t>
            </a:r>
          </a:p>
        </p:txBody>
      </p:sp>
      <p:sp>
        <p:nvSpPr>
          <p:cNvPr id="11" name="TextBox 10"/>
          <p:cNvSpPr txBox="1"/>
          <p:nvPr/>
        </p:nvSpPr>
        <p:spPr>
          <a:xfrm>
            <a:off x="8503920" y="4343400"/>
            <a:ext cx="3200400" cy="640080"/>
          </a:xfrm>
          <a:prstGeom prst="rect">
            <a:avLst/>
          </a:prstGeom>
          <a:noFill/>
        </p:spPr>
        <p:txBody>
          <a:bodyPr wrap="square" lIns="0" rIns="0" tIns="0" bIns="0" anchor="t">
            <a:spAutoFit/>
          </a:bodyPr>
          <a:lstStyle/>
          <a:p>
            <a:pPr algn="l"/>
            <a:r>
              <a:rPr sz="3600" b="1" i="0">
                <a:solidFill>
                  <a:srgbClr val="141B2D"/>
                </a:solidFill>
                <a:latin typeface="Cambria"/>
              </a:rPr>
              <a:t>±0.15</a:t>
            </a:r>
          </a:p>
        </p:txBody>
      </p:sp>
      <p:sp>
        <p:nvSpPr>
          <p:cNvPr id="12" name="TextBox 11"/>
          <p:cNvSpPr txBox="1"/>
          <p:nvPr/>
        </p:nvSpPr>
        <p:spPr>
          <a:xfrm>
            <a:off x="8503920" y="5029200"/>
            <a:ext cx="3108960" cy="822960"/>
          </a:xfrm>
          <a:prstGeom prst="rect">
            <a:avLst/>
          </a:prstGeom>
          <a:noFill/>
        </p:spPr>
        <p:txBody>
          <a:bodyPr wrap="square" lIns="0" rIns="0" tIns="0" bIns="0" anchor="t">
            <a:spAutoFit/>
          </a:bodyPr>
          <a:lstStyle/>
          <a:p>
            <a:pPr algn="l"/>
            <a:r>
              <a:rPr sz="1500" b="0" i="0">
                <a:solidFill>
                  <a:srgbClr val="6B7280"/>
                </a:solidFill>
                <a:latin typeface="Calibri"/>
              </a:rPr>
              <a:t>fold-to-fold s.d. of R²oos itself, 25× the largest mean gain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INTERPRETATION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Inside the models, unlock features barely register</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8</a:t>
            </a:r>
          </a:p>
        </p:txBody>
      </p:sp>
      <p:graphicFrame>
        <p:nvGraphicFramePr>
          <p:cNvPr id="6" name="Chart 5"/>
          <p:cNvGraphicFramePr>
            <a:graphicFrameLocks noGrp="1"/>
          </p:cNvGraphicFramePr>
          <p:nvPr/>
        </p:nvGraphicFramePr>
        <p:xfrm>
          <a:off x="548640" y="2057400"/>
          <a:ext cx="5486400" cy="329184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5486400" cy="365760"/>
          </a:xfrm>
          <a:prstGeom prst="rect">
            <a:avLst/>
          </a:prstGeom>
          <a:noFill/>
        </p:spPr>
        <p:txBody>
          <a:bodyPr wrap="square" lIns="0" rIns="0" tIns="0" bIns="0" anchor="t">
            <a:spAutoFit/>
          </a:bodyPr>
          <a:lstStyle/>
          <a:p>
            <a:pPr algn="l"/>
            <a:r>
              <a:rPr sz="1400" b="1" i="0">
                <a:solidFill>
                  <a:srgbClr val="1F2433"/>
                </a:solidFill>
                <a:latin typeface="Calibri"/>
              </a:rPr>
              <a:t>Random Forest: test-RMSE increase when a feature group is shuffled</a:t>
            </a:r>
          </a:p>
        </p:txBody>
      </p:sp>
      <p:sp>
        <p:nvSpPr>
          <p:cNvPr id="8" name="TextBox 7"/>
          <p:cNvSpPr txBox="1"/>
          <p:nvPr/>
        </p:nvSpPr>
        <p:spPr>
          <a:xfrm>
            <a:off x="548640" y="5440680"/>
            <a:ext cx="5486400" cy="640080"/>
          </a:xfrm>
          <a:prstGeom prst="rect">
            <a:avLst/>
          </a:prstGeom>
          <a:noFill/>
        </p:spPr>
        <p:txBody>
          <a:bodyPr wrap="square" lIns="0" rIns="0" tIns="0" bIns="0" anchor="t">
            <a:spAutoFit/>
          </a:bodyPr>
          <a:lstStyle/>
          <a:p>
            <a:pPr algn="l"/>
            <a:r>
              <a:rPr sz="1300" b="0" i="0">
                <a:solidFill>
                  <a:srgbClr val="6B7280"/>
                </a:solidFill>
                <a:latin typeface="Calibri"/>
              </a:rPr>
              <a:t>Top 5 RF features are all controls; partial dependence on unlock pressure is flat. LightGBM: controls take 92% of split gain, emission 4%.</a:t>
            </a:r>
          </a:p>
        </p:txBody>
      </p:sp>
      <p:sp>
        <p:nvSpPr>
          <p:cNvPr id="9" name="Interpretation card 0"/>
          <p:cNvSpPr/>
          <p:nvPr/>
        </p:nvSpPr>
        <p:spPr>
          <a:xfrm>
            <a:off x="6492240" y="1691640"/>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1856232"/>
            <a:ext cx="4663440" cy="274320"/>
          </a:xfrm>
          <a:prstGeom prst="rect">
            <a:avLst/>
          </a:prstGeom>
          <a:noFill/>
        </p:spPr>
        <p:txBody>
          <a:bodyPr wrap="square" lIns="0" rIns="0" tIns="0" bIns="0" anchor="t">
            <a:spAutoFit/>
          </a:bodyPr>
          <a:lstStyle/>
          <a:p>
            <a:pPr algn="l"/>
            <a:r>
              <a:rPr sz="1100" b="1" i="0">
                <a:solidFill>
                  <a:srgbClr val="EB6A35"/>
                </a:solidFill>
                <a:latin typeface="Calibri"/>
              </a:rPr>
              <a:t>COEFFICIENTS</a:t>
            </a:r>
          </a:p>
        </p:txBody>
      </p:sp>
      <p:sp>
        <p:nvSpPr>
          <p:cNvPr id="11" name="TextBox 10"/>
          <p:cNvSpPr txBox="1"/>
          <p:nvPr/>
        </p:nvSpPr>
        <p:spPr>
          <a:xfrm>
            <a:off x="6720840" y="2103120"/>
            <a:ext cx="4663440" cy="365760"/>
          </a:xfrm>
          <a:prstGeom prst="rect">
            <a:avLst/>
          </a:prstGeom>
          <a:noFill/>
        </p:spPr>
        <p:txBody>
          <a:bodyPr wrap="square" lIns="0" rIns="0" tIns="0" bIns="0" anchor="t">
            <a:spAutoFit/>
          </a:bodyPr>
          <a:lstStyle/>
          <a:p>
            <a:pPr algn="l"/>
            <a:r>
              <a:rPr sz="1500" b="1" i="0">
                <a:solidFill>
                  <a:srgbClr val="1F2433"/>
                </a:solidFill>
                <a:latin typeface="Calibri"/>
              </a:rPr>
              <a:t>Ridge / Elastic Net</a:t>
            </a:r>
          </a:p>
        </p:txBody>
      </p:sp>
      <p:sp>
        <p:nvSpPr>
          <p:cNvPr id="12" name="TextBox 11"/>
          <p:cNvSpPr txBox="1"/>
          <p:nvPr/>
        </p:nvSpPr>
        <p:spPr>
          <a:xfrm>
            <a:off x="6720840" y="2441448"/>
            <a:ext cx="4663440" cy="548640"/>
          </a:xfrm>
          <a:prstGeom prst="rect">
            <a:avLst/>
          </a:prstGeom>
          <a:noFill/>
        </p:spPr>
        <p:txBody>
          <a:bodyPr wrap="square" lIns="0" rIns="0" tIns="0" bIns="0" anchor="t">
            <a:spAutoFit/>
          </a:bodyPr>
          <a:lstStyle/>
          <a:p>
            <a:pPr algn="l"/>
            <a:r>
              <a:rPr sz="1300" b="0" i="0">
                <a:solidFill>
                  <a:srgbClr val="6B7280"/>
                </a:solidFill>
                <a:latin typeface="Calibri"/>
              </a:rPr>
              <a:t>Largest unlock coefficient +0.008 vs +0.040 for trailing 30d vol; EN drops every feature in 2 of 5 folds</a:t>
            </a:r>
          </a:p>
        </p:txBody>
      </p:sp>
      <p:sp>
        <p:nvSpPr>
          <p:cNvPr id="13" name="Interpretation card 1"/>
          <p:cNvSpPr/>
          <p:nvPr/>
        </p:nvSpPr>
        <p:spPr>
          <a:xfrm>
            <a:off x="6492240" y="3172968"/>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20840" y="3337560"/>
            <a:ext cx="4663440" cy="274320"/>
          </a:xfrm>
          <a:prstGeom prst="rect">
            <a:avLst/>
          </a:prstGeom>
          <a:noFill/>
        </p:spPr>
        <p:txBody>
          <a:bodyPr wrap="square" lIns="0" rIns="0" tIns="0" bIns="0" anchor="t">
            <a:spAutoFit/>
          </a:bodyPr>
          <a:lstStyle/>
          <a:p>
            <a:pPr algn="l"/>
            <a:r>
              <a:rPr sz="1100" b="1" i="0">
                <a:solidFill>
                  <a:srgbClr val="EB6A35"/>
                </a:solidFill>
                <a:latin typeface="Calibri"/>
              </a:rPr>
              <a:t>A TREE</a:t>
            </a:r>
          </a:p>
        </p:txBody>
      </p:sp>
      <p:sp>
        <p:nvSpPr>
          <p:cNvPr id="15" name="TextBox 14"/>
          <p:cNvSpPr txBox="1"/>
          <p:nvPr/>
        </p:nvSpPr>
        <p:spPr>
          <a:xfrm>
            <a:off x="6720840" y="3584448"/>
            <a:ext cx="4663440" cy="365760"/>
          </a:xfrm>
          <a:prstGeom prst="rect">
            <a:avLst/>
          </a:prstGeom>
          <a:noFill/>
        </p:spPr>
        <p:txBody>
          <a:bodyPr wrap="square" lIns="0" rIns="0" tIns="0" bIns="0" anchor="t">
            <a:spAutoFit/>
          </a:bodyPr>
          <a:lstStyle/>
          <a:p>
            <a:pPr algn="l"/>
            <a:r>
              <a:rPr sz="1500" b="1" i="0">
                <a:solidFill>
                  <a:srgbClr val="1F2433"/>
                </a:solidFill>
                <a:latin typeface="Calibri"/>
              </a:rPr>
              <a:t>Depth-3 tree, all 32 features</a:t>
            </a:r>
          </a:p>
        </p:txBody>
      </p:sp>
      <p:sp>
        <p:nvSpPr>
          <p:cNvPr id="16" name="TextBox 15"/>
          <p:cNvSpPr txBox="1"/>
          <p:nvPr/>
        </p:nvSpPr>
        <p:spPr>
          <a:xfrm>
            <a:off x="6720840" y="3922776"/>
            <a:ext cx="4663440" cy="548640"/>
          </a:xfrm>
          <a:prstGeom prst="rect">
            <a:avLst/>
          </a:prstGeom>
          <a:noFill/>
        </p:spPr>
        <p:txBody>
          <a:bodyPr wrap="square" lIns="0" rIns="0" tIns="0" bIns="0" anchor="t">
            <a:spAutoFit/>
          </a:bodyPr>
          <a:lstStyle/>
          <a:p>
            <a:pPr algn="l"/>
            <a:r>
              <a:rPr sz="1300" b="0" i="0">
                <a:solidFill>
                  <a:srgbClr val="6B7280"/>
                </a:solidFill>
                <a:latin typeface="Calibri"/>
              </a:rPr>
              <a:t>Splits only on trailing vol, BTC/ETH vol, token age and 30d return</a:t>
            </a:r>
          </a:p>
        </p:txBody>
      </p:sp>
      <p:sp>
        <p:nvSpPr>
          <p:cNvPr id="17" name="Interpretation card 2"/>
          <p:cNvSpPr/>
          <p:nvPr/>
        </p:nvSpPr>
        <p:spPr>
          <a:xfrm>
            <a:off x="6492240" y="4654296"/>
            <a:ext cx="5120640" cy="1298448"/>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4818888"/>
            <a:ext cx="4663440" cy="274320"/>
          </a:xfrm>
          <a:prstGeom prst="rect">
            <a:avLst/>
          </a:prstGeom>
          <a:noFill/>
        </p:spPr>
        <p:txBody>
          <a:bodyPr wrap="square" lIns="0" rIns="0" tIns="0" bIns="0" anchor="t">
            <a:spAutoFit/>
          </a:bodyPr>
          <a:lstStyle/>
          <a:p>
            <a:pPr algn="l"/>
            <a:r>
              <a:rPr sz="1100" b="1" i="0">
                <a:solidFill>
                  <a:srgbClr val="EB6A35"/>
                </a:solidFill>
                <a:latin typeface="Calibri"/>
              </a:rPr>
              <a:t>NEIGHBOURS</a:t>
            </a:r>
          </a:p>
        </p:txBody>
      </p:sp>
      <p:sp>
        <p:nvSpPr>
          <p:cNvPr id="19" name="TextBox 18"/>
          <p:cNvSpPr txBox="1"/>
          <p:nvPr/>
        </p:nvSpPr>
        <p:spPr>
          <a:xfrm>
            <a:off x="6720840" y="5065776"/>
            <a:ext cx="4663440" cy="365760"/>
          </a:xfrm>
          <a:prstGeom prst="rect">
            <a:avLst/>
          </a:prstGeom>
          <a:noFill/>
        </p:spPr>
        <p:txBody>
          <a:bodyPr wrap="square" lIns="0" rIns="0" tIns="0" bIns="0" anchor="t">
            <a:spAutoFit/>
          </a:bodyPr>
          <a:lstStyle/>
          <a:p>
            <a:pPr algn="l"/>
            <a:r>
              <a:rPr sz="1500" b="1" i="0">
                <a:solidFill>
                  <a:srgbClr val="1F2433"/>
                </a:solidFill>
                <a:latin typeface="Calibri"/>
              </a:rPr>
              <a:t>KNN, most unlock-heavy row</a:t>
            </a:r>
          </a:p>
        </p:txBody>
      </p:sp>
      <p:sp>
        <p:nvSpPr>
          <p:cNvPr id="20" name="TextBox 19"/>
          <p:cNvSpPr txBox="1"/>
          <p:nvPr/>
        </p:nvSpPr>
        <p:spPr>
          <a:xfrm>
            <a:off x="6720840" y="5404104"/>
            <a:ext cx="4663440" cy="548640"/>
          </a:xfrm>
          <a:prstGeom prst="rect">
            <a:avLst/>
          </a:prstGeom>
          <a:noFill/>
        </p:spPr>
        <p:txBody>
          <a:bodyPr wrap="square" lIns="0" rIns="0" tIns="0" bIns="0" anchor="t">
            <a:spAutoFit/>
          </a:bodyPr>
          <a:lstStyle/>
          <a:p>
            <a:pPr algn="l"/>
            <a:r>
              <a:rPr sz="1300" b="0" i="0">
                <a:solidFill>
                  <a:srgbClr val="6B7280"/>
                </a:solidFill>
                <a:latin typeface="Calibri"/>
              </a:rPr>
              <a:t>104% of float unlocking; neighbours' median 12.5%. Forecast 0.78, realized 0.55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WHICH MISTAKES REMAIN?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Unlock features do not help even where unlocks are big</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9</a:t>
            </a:r>
          </a:p>
        </p:txBody>
      </p:sp>
      <p:graphicFrame>
        <p:nvGraphicFramePr>
          <p:cNvPr id="6" name="Chart 5"/>
          <p:cNvGraphicFramePr>
            <a:graphicFrameLocks noGrp="1"/>
          </p:cNvGraphicFramePr>
          <p:nvPr/>
        </p:nvGraphicFramePr>
        <p:xfrm>
          <a:off x="548640" y="2011680"/>
          <a:ext cx="7589520" cy="4160520"/>
        </p:xfrm>
        <a:graphic>
          <a:graphicData uri="http://schemas.openxmlformats.org/drawingml/2006/chart">
            <c:chart xmlns:c="http://schemas.openxmlformats.org/drawingml/2006/chart" r:id="rId3"/>
          </a:graphicData>
        </a:graphic>
      </p:graphicFrame>
      <p:sp>
        <p:nvSpPr>
          <p:cNvPr id="7" name="TextBox 6"/>
          <p:cNvSpPr txBox="1"/>
          <p:nvPr/>
        </p:nvSpPr>
        <p:spPr>
          <a:xfrm>
            <a:off x="548640" y="1645920"/>
            <a:ext cx="7589520" cy="365760"/>
          </a:xfrm>
          <a:prstGeom prst="rect">
            <a:avLst/>
          </a:prstGeom>
          <a:noFill/>
        </p:spPr>
        <p:txBody>
          <a:bodyPr wrap="square" lIns="0" rIns="0" tIns="0" bIns="0" anchor="t">
            <a:spAutoFit/>
          </a:bodyPr>
          <a:lstStyle/>
          <a:p>
            <a:pPr algn="l"/>
            <a:r>
              <a:rPr sz="1400" b="1" i="0">
                <a:solidFill>
                  <a:srgbClr val="1F2433"/>
                </a:solidFill>
                <a:latin typeface="Calibri"/>
              </a:rPr>
              <a:t>Change in test RMSE from adding unlock features (positive = worse), by 30-day unlock share of float</a:t>
            </a:r>
          </a:p>
        </p:txBody>
      </p:sp>
      <p:sp>
        <p:nvSpPr>
          <p:cNvPr id="8" name="TextBox 7"/>
          <p:cNvSpPr txBox="1"/>
          <p:nvPr/>
        </p:nvSpPr>
        <p:spPr>
          <a:xfrm>
            <a:off x="8503920" y="1737360"/>
            <a:ext cx="3200400" cy="640080"/>
          </a:xfrm>
          <a:prstGeom prst="rect">
            <a:avLst/>
          </a:prstGeom>
          <a:noFill/>
        </p:spPr>
        <p:txBody>
          <a:bodyPr wrap="square" lIns="0" rIns="0" tIns="0" bIns="0" anchor="t">
            <a:spAutoFit/>
          </a:bodyPr>
          <a:lstStyle/>
          <a:p>
            <a:pPr algn="l"/>
            <a:r>
              <a:rPr sz="3200" b="1" i="0">
                <a:solidFill>
                  <a:srgbClr val="141B2D"/>
                </a:solidFill>
                <a:latin typeface="Cambria"/>
              </a:rPr>
              <a:t>18% → 12%</a:t>
            </a:r>
          </a:p>
        </p:txBody>
      </p:sp>
      <p:sp>
        <p:nvSpPr>
          <p:cNvPr id="9" name="TextBox 8"/>
          <p:cNvSpPr txBox="1"/>
          <p:nvPr/>
        </p:nvSpPr>
        <p:spPr>
          <a:xfrm>
            <a:off x="8503920" y="2423160"/>
            <a:ext cx="3108960" cy="1097280"/>
          </a:xfrm>
          <a:prstGeom prst="rect">
            <a:avLst/>
          </a:prstGeom>
          <a:noFill/>
        </p:spPr>
        <p:txBody>
          <a:bodyPr wrap="square" lIns="0" rIns="0" tIns="0" bIns="0" anchor="t">
            <a:spAutoFit/>
          </a:bodyPr>
          <a:lstStyle/>
          <a:p>
            <a:pPr algn="l"/>
            <a:r>
              <a:rPr sz="1500" b="0" i="0">
                <a:solidFill>
                  <a:srgbClr val="6B7280"/>
                </a:solidFill>
                <a:latin typeface="Calibri"/>
              </a:rPr>
              <a:t>forecasts off by more than 2×: persistence vs Ridge. The real gain is fewer large misses</a:t>
            </a:r>
          </a:p>
        </p:txBody>
      </p:sp>
      <p:sp>
        <p:nvSpPr>
          <p:cNvPr id="10" name="TextBox 9"/>
          <p:cNvSpPr txBox="1"/>
          <p:nvPr/>
        </p:nvSpPr>
        <p:spPr>
          <a:xfrm>
            <a:off x="8503920" y="3886200"/>
            <a:ext cx="3200400" cy="640080"/>
          </a:xfrm>
          <a:prstGeom prst="rect">
            <a:avLst/>
          </a:prstGeom>
          <a:noFill/>
        </p:spPr>
        <p:txBody>
          <a:bodyPr wrap="square" lIns="0" rIns="0" tIns="0" bIns="0" anchor="t">
            <a:spAutoFit/>
          </a:bodyPr>
          <a:lstStyle/>
          <a:p>
            <a:pPr algn="l"/>
            <a:r>
              <a:rPr sz="3200" b="1" i="0">
                <a:solidFill>
                  <a:srgbClr val="EB6A35"/>
                </a:solidFill>
                <a:latin typeface="Cambria"/>
              </a:rPr>
              <a:t>62%</a:t>
            </a:r>
          </a:p>
        </p:txBody>
      </p:sp>
      <p:sp>
        <p:nvSpPr>
          <p:cNvPr id="11" name="TextBox 10"/>
          <p:cNvSpPr txBox="1"/>
          <p:nvPr/>
        </p:nvSpPr>
        <p:spPr>
          <a:xfrm>
            <a:off x="8503920" y="4572000"/>
            <a:ext cx="3108960" cy="1097280"/>
          </a:xfrm>
          <a:prstGeom prst="rect">
            <a:avLst/>
          </a:prstGeom>
          <a:noFill/>
        </p:spPr>
        <p:txBody>
          <a:bodyPr wrap="square" lIns="0" rIns="0" tIns="0" bIns="0" anchor="t">
            <a:spAutoFit/>
          </a:bodyPr>
          <a:lstStyle/>
          <a:p>
            <a:pPr algn="l"/>
            <a:r>
              <a:rPr sz="1500" b="0" i="0">
                <a:solidFill>
                  <a:srgbClr val="6B7280"/>
                </a:solidFill>
                <a:latin typeface="Calibri"/>
              </a:rPr>
              <a:t>of remaining 2× misses are over-forecasts: volatility collapsed. The rest are spikes no feature sees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ROBUSTNESS AND CLASSIFICATION</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The null result survives every robustness check</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10</a:t>
            </a:r>
          </a:p>
        </p:txBody>
      </p:sp>
      <p:graphicFrame>
        <p:nvGraphicFramePr>
          <p:cNvPr id="6" name="Table 5"/>
          <p:cNvGraphicFramePr>
            <a:graphicFrameLocks noGrp="1"/>
          </p:cNvGraphicFramePr>
          <p:nvPr/>
        </p:nvGraphicFramePr>
        <p:xfrm>
          <a:off x="548640" y="1737360"/>
          <a:ext cx="9326880" cy="4114800"/>
        </p:xfrm>
        <a:graphic>
          <a:graphicData uri="http://schemas.openxmlformats.org/drawingml/2006/table">
            <a:tbl>
              <a:tblPr firstRow="1" bandRow="1">
                <a:tableStyleId>{5C22544A-7EE6-4342-B048-85BDC9FD1C3A}</a:tableStyleId>
              </a:tblPr>
              <a:tblGrid>
                <a:gridCol w="2926080"/>
                <a:gridCol w="1097280"/>
                <a:gridCol w="1554480"/>
                <a:gridCol w="1280160"/>
                <a:gridCol w="1097280"/>
                <a:gridCol w="1371600"/>
              </a:tblGrid>
              <a:tr h="587828">
                <a:tc>
                  <a:txBody>
                    <a:bodyPr/>
                    <a:lstStyle/>
                    <a:p>
                      <a:pPr algn="l"/>
                      <a:r>
                        <a:rPr sz="1400" b="1">
                          <a:solidFill>
                            <a:srgbClr val="FFFFFF"/>
                          </a:solidFill>
                          <a:latin typeface="Calibri"/>
                        </a:rPr>
                        <a:t>Specification</a:t>
                      </a:r>
                    </a:p>
                  </a:txBody>
                  <a:tcPr anchor="ctr">
                    <a:solidFill>
                      <a:srgbClr val="141B2D"/>
                    </a:solidFill>
                  </a:tcPr>
                </a:tc>
                <a:tc>
                  <a:txBody>
                    <a:bodyPr/>
                    <a:lstStyle/>
                    <a:p>
                      <a:pPr algn="ctr"/>
                      <a:r>
                        <a:rPr sz="1400" b="1">
                          <a:solidFill>
                            <a:srgbClr val="FFFFFF"/>
                          </a:solidFill>
                          <a:latin typeface="Calibri"/>
                        </a:rPr>
                        <a:t>KNN</a:t>
                      </a:r>
                    </a:p>
                  </a:txBody>
                  <a:tcPr anchor="ctr">
                    <a:solidFill>
                      <a:srgbClr val="141B2D"/>
                    </a:solidFill>
                  </a:tcPr>
                </a:tc>
                <a:tc>
                  <a:txBody>
                    <a:bodyPr/>
                    <a:lstStyle/>
                    <a:p>
                      <a:pPr algn="ctr"/>
                      <a:r>
                        <a:rPr sz="1400" b="1">
                          <a:solidFill>
                            <a:srgbClr val="FFFFFF"/>
                          </a:solidFill>
                          <a:latin typeface="Calibri"/>
                        </a:rPr>
                        <a:t>Random Forest</a:t>
                      </a:r>
                    </a:p>
                  </a:txBody>
                  <a:tcPr anchor="ctr">
                    <a:solidFill>
                      <a:srgbClr val="141B2D"/>
                    </a:solidFill>
                  </a:tcPr>
                </a:tc>
                <a:tc>
                  <a:txBody>
                    <a:bodyPr/>
                    <a:lstStyle/>
                    <a:p>
                      <a:pPr algn="ctr"/>
                      <a:r>
                        <a:rPr sz="1400" b="1">
                          <a:solidFill>
                            <a:srgbClr val="FFFFFF"/>
                          </a:solidFill>
                          <a:latin typeface="Calibri"/>
                        </a:rPr>
                        <a:t>LightGBM</a:t>
                      </a:r>
                    </a:p>
                  </a:txBody>
                  <a:tcPr anchor="ctr">
                    <a:solidFill>
                      <a:srgbClr val="141B2D"/>
                    </a:solidFill>
                  </a:tcPr>
                </a:tc>
                <a:tc>
                  <a:txBody>
                    <a:bodyPr/>
                    <a:lstStyle/>
                    <a:p>
                      <a:pPr algn="ctr"/>
                      <a:r>
                        <a:rPr sz="1400" b="1">
                          <a:solidFill>
                            <a:srgbClr val="FFFFFF"/>
                          </a:solidFill>
                          <a:latin typeface="Calibri"/>
                        </a:rPr>
                        <a:t>Ridge</a:t>
                      </a:r>
                    </a:p>
                  </a:txBody>
                  <a:tcPr anchor="ctr">
                    <a:solidFill>
                      <a:srgbClr val="141B2D"/>
                    </a:solidFill>
                  </a:tcPr>
                </a:tc>
                <a:tc>
                  <a:txBody>
                    <a:bodyPr/>
                    <a:lstStyle/>
                    <a:p>
                      <a:pPr algn="ctr"/>
                      <a:r>
                        <a:rPr sz="1400" b="1">
                          <a:solidFill>
                            <a:srgbClr val="FFFFFF"/>
                          </a:solidFill>
                          <a:latin typeface="Calibri"/>
                        </a:rPr>
                        <a:t>Elastic Net</a:t>
                      </a:r>
                    </a:p>
                  </a:txBody>
                  <a:tcPr anchor="ctr">
                    <a:solidFill>
                      <a:srgbClr val="141B2D"/>
                    </a:solidFill>
                  </a:tcPr>
                </a:tc>
              </a:tr>
              <a:tr h="587828">
                <a:tc>
                  <a:txBody>
                    <a:bodyPr/>
                    <a:lstStyle/>
                    <a:p>
                      <a:pPr algn="l"/>
                      <a:r>
                        <a:rPr sz="1400" b="0">
                          <a:solidFill>
                            <a:srgbClr val="1F2433"/>
                          </a:solidFill>
                          <a:latin typeface="Calibri"/>
                        </a:rPr>
                        <a:t>Daily panel (main)</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+0.006</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c>
                  <a:txBody>
                    <a:bodyPr/>
                    <a:lstStyle/>
                    <a:p>
                      <a:pPr algn="ctr"/>
                      <a:r>
                        <a:rPr sz="1400" b="0">
                          <a:solidFill>
                            <a:srgbClr val="1F2433"/>
                          </a:solidFill>
                          <a:latin typeface="Calibri"/>
                        </a:rPr>
                        <a:t>+0.001</a:t>
                      </a:r>
                    </a:p>
                  </a:txBody>
                  <a:tcPr anchor="ctr">
                    <a:solidFill>
                      <a:srgbClr val="FFFFFF"/>
                    </a:solidFill>
                  </a:tcPr>
                </a:tc>
              </a:tr>
              <a:tr h="587828">
                <a:tc>
                  <a:txBody>
                    <a:bodyPr/>
                    <a:lstStyle/>
                    <a:p>
                      <a:pPr algn="l"/>
                      <a:r>
                        <a:rPr sz="1400" b="0">
                          <a:solidFill>
                            <a:srgbClr val="1F2433"/>
                          </a:solidFill>
                          <a:latin typeface="Calibri"/>
                        </a:rPr>
                        <a:t>Weekly panel</a:t>
                      </a:r>
                    </a:p>
                  </a:txBody>
                  <a:tcPr anchor="ctr">
                    <a:solidFill>
                      <a:srgbClr val="F2F4F7"/>
                    </a:solidFill>
                  </a:tcPr>
                </a:tc>
                <a:tc>
                  <a:txBody>
                    <a:bodyPr/>
                    <a:lstStyle/>
                    <a:p>
                      <a:pPr algn="ctr"/>
                      <a:r>
                        <a:rPr sz="1400" b="0">
                          <a:solidFill>
                            <a:srgbClr val="1F2433"/>
                          </a:solidFill>
                          <a:latin typeface="Calibri"/>
                        </a:rPr>
                        <a:t>-0.008</a:t>
                      </a:r>
                    </a:p>
                  </a:txBody>
                  <a:tcPr anchor="ctr">
                    <a:solidFill>
                      <a:srgbClr val="F2F4F7"/>
                    </a:solidFill>
                  </a:tcPr>
                </a:tc>
                <a:tc>
                  <a:txBody>
                    <a:bodyPr/>
                    <a:lstStyle/>
                    <a:p>
                      <a:pPr algn="ctr"/>
                      <a:r>
                        <a:rPr sz="1400" b="0">
                          <a:solidFill>
                            <a:srgbClr val="1F2433"/>
                          </a:solidFill>
                          <a:latin typeface="Calibri"/>
                        </a:rPr>
                        <a:t>+0.007</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+0.014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Hand-curated tokens only</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+0.013</a:t>
                      </a:r>
                    </a:p>
                  </a:txBody>
                  <a:tcPr anchor="ctr">
                    <a:solidFill>
                      <a:srgbClr val="FFFFFF"/>
                    </a:solidFill>
                  </a:tcPr>
                </a:tc>
                <a:tc>
                  <a:txBody>
                    <a:bodyPr/>
                    <a:lstStyle/>
                    <a:p>
                      <a:pPr algn="ctr"/>
                      <a:r>
                        <a:rPr sz="1400" b="0">
                          <a:solidFill>
                            <a:srgbClr val="1F2433"/>
                          </a:solidFill>
                          <a:latin typeface="Calibri"/>
                        </a:rPr>
                        <a:t>+0.005</a:t>
                      </a:r>
                    </a:p>
                  </a:txBody>
                  <a:tcPr anchor="ctr">
                    <a:solidFill>
                      <a:srgbClr val="FFFFFF"/>
                    </a:solidFill>
                  </a:tcPr>
                </a:tc>
                <a:tc>
                  <a:txBody>
                    <a:bodyPr/>
                    <a:lstStyle/>
                    <a:p>
                      <a:pPr algn="ctr"/>
                      <a:r>
                        <a:rPr sz="1400" b="0">
                          <a:solidFill>
                            <a:srgbClr val="1F2433"/>
                          </a:solidFill>
                          <a:latin typeface="Calibri"/>
                        </a:rPr>
                        <a:t>0.000</a:t>
                      </a:r>
                    </a:p>
                  </a:txBody>
                  <a:tcPr anchor="ctr">
                    <a:solidFill>
                      <a:srgbClr val="FFFFFF"/>
                    </a:solidFill>
                  </a:tcPr>
                </a:tc>
              </a:tr>
              <a:tr h="587828">
                <a:tc>
                  <a:txBody>
                    <a:bodyPr/>
                    <a:lstStyle/>
                    <a:p>
                      <a:pPr algn="l"/>
                      <a:r>
                        <a:rPr sz="1400" b="0">
                          <a:solidFill>
                            <a:srgbClr val="1F2433"/>
                          </a:solidFill>
                          <a:latin typeface="Calibri"/>
                        </a:rPr>
                        <a:t>Target: 7-day vol</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c>
                  <a:txBody>
                    <a:bodyPr/>
                    <a:lstStyle/>
                    <a:p>
                      <a:pPr algn="ctr"/>
                      <a:r>
                        <a:rPr sz="1400" b="0">
                          <a:solidFill>
                            <a:srgbClr val="1F2433"/>
                          </a:solidFill>
                          <a:latin typeface="Calibri"/>
                        </a:rPr>
                        <a:t>+0.004</a:t>
                      </a:r>
                    </a:p>
                  </a:txBody>
                  <a:tcPr anchor="ctr">
                    <a:solidFill>
                      <a:srgbClr val="F2F4F7"/>
                    </a:solidFill>
                  </a:tcPr>
                </a:tc>
                <a:tc>
                  <a:txBody>
                    <a:bodyPr/>
                    <a:lstStyle/>
                    <a:p>
                      <a:pPr algn="ctr"/>
                      <a:r>
                        <a:rPr sz="1400" b="0">
                          <a:solidFill>
                            <a:srgbClr val="1F2433"/>
                          </a:solidFill>
                          <a:latin typeface="Calibri"/>
                        </a:rPr>
                        <a:t>+0.002</a:t>
                      </a:r>
                    </a:p>
                  </a:txBody>
                  <a:tcPr anchor="ctr">
                    <a:solidFill>
                      <a:srgbClr val="F2F4F7"/>
                    </a:solidFill>
                  </a:tcPr>
                </a:tc>
              </a:tr>
              <a:tr h="587828">
                <a:tc>
                  <a:txBody>
                    <a:bodyPr/>
                    <a:lstStyle/>
                    <a:p>
                      <a:pPr algn="l"/>
                      <a:r>
                        <a:rPr sz="1400" b="0">
                          <a:solidFill>
                            <a:srgbClr val="1F2433"/>
                          </a:solidFill>
                          <a:latin typeface="Calibri"/>
                        </a:rPr>
                        <a:t>Target: 30-day vol</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a:t>
                      </a:r>
                    </a:p>
                  </a:txBody>
                  <a:tcPr anchor="ctr">
                    <a:solidFill>
                      <a:srgbClr val="FFFFFF"/>
                    </a:solidFill>
                  </a:tcPr>
                </a:tc>
                <a:tc>
                  <a:txBody>
                    <a:bodyPr/>
                    <a:lstStyle/>
                    <a:p>
                      <a:pPr algn="ctr"/>
                      <a:r>
                        <a:rPr sz="1400" b="0">
                          <a:solidFill>
                            <a:srgbClr val="1F2433"/>
                          </a:solidFill>
                          <a:latin typeface="Calibri"/>
                        </a:rPr>
                        <a:t>+0.017</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c>
                  <a:txBody>
                    <a:bodyPr/>
                    <a:lstStyle/>
                    <a:p>
                      <a:pPr algn="ctr"/>
                      <a:r>
                        <a:rPr sz="1400" b="0">
                          <a:solidFill>
                            <a:srgbClr val="1F2433"/>
                          </a:solidFill>
                          <a:latin typeface="Calibri"/>
                        </a:rPr>
                        <a:t>+0.003</a:t>
                      </a:r>
                    </a:p>
                  </a:txBody>
                  <a:tcPr anchor="ctr">
                    <a:solidFill>
                      <a:srgbClr val="FFFFFF"/>
                    </a:solidFill>
                  </a:tcPr>
                </a:tc>
              </a:tr>
              <a:tr h="587832">
                <a:tc>
                  <a:txBody>
                    <a:bodyPr/>
                    <a:lstStyle/>
                    <a:p>
                      <a:pPr algn="l"/>
                      <a:r>
                        <a:rPr sz="1400" b="0">
                          <a:solidFill>
                            <a:srgbClr val="1F2433"/>
                          </a:solidFill>
                          <a:latin typeface="Calibri"/>
                        </a:rPr>
                        <a:t>Target: Parkinson 14-day</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a:t>
                      </a:r>
                    </a:p>
                  </a:txBody>
                  <a:tcPr anchor="ctr">
                    <a:solidFill>
                      <a:srgbClr val="F2F4F7"/>
                    </a:solidFill>
                  </a:tcPr>
                </a:tc>
                <a:tc>
                  <a:txBody>
                    <a:bodyPr/>
                    <a:lstStyle/>
                    <a:p>
                      <a:pPr algn="ctr"/>
                      <a:r>
                        <a:rPr sz="1400" b="0">
                          <a:solidFill>
                            <a:srgbClr val="1F2433"/>
                          </a:solidFill>
                          <a:latin typeface="Calibri"/>
                        </a:rPr>
                        <a:t>+0.009</a:t>
                      </a:r>
                    </a:p>
                  </a:txBody>
                  <a:tcPr anchor="ctr">
                    <a:solidFill>
                      <a:srgbClr val="F2F4F7"/>
                    </a:solidFill>
                  </a:tcPr>
                </a:tc>
                <a:tc>
                  <a:txBody>
                    <a:bodyPr/>
                    <a:lstStyle/>
                    <a:p>
                      <a:pPr algn="ctr"/>
                      <a:r>
                        <a:rPr sz="1400" b="0">
                          <a:solidFill>
                            <a:srgbClr val="1F2433"/>
                          </a:solidFill>
                          <a:latin typeface="Calibri"/>
                        </a:rPr>
                        <a:t>+0.011</a:t>
                      </a:r>
                    </a:p>
                  </a:txBody>
                  <a:tcPr anchor="ctr">
                    <a:solidFill>
                      <a:srgbClr val="F2F4F7"/>
                    </a:solidFill>
                  </a:tcPr>
                </a:tc>
                <a:tc>
                  <a:txBody>
                    <a:bodyPr/>
                    <a:lstStyle/>
                    <a:p>
                      <a:pPr algn="ctr"/>
                      <a:r>
                        <a:rPr sz="1400" b="0">
                          <a:solidFill>
                            <a:srgbClr val="1F2433"/>
                          </a:solidFill>
                          <a:latin typeface="Calibri"/>
                        </a:rPr>
                        <a:t>+0.001</a:t>
                      </a:r>
                    </a:p>
                  </a:txBody>
                  <a:tcPr anchor="ctr">
                    <a:solidFill>
                      <a:srgbClr val="F2F4F7"/>
                    </a:solidFill>
                  </a:tcPr>
                </a:tc>
              </a:tr>
            </a:tbl>
          </a:graphicData>
        </a:graphic>
      </p:graphicFrame>
      <p:sp>
        <p:nvSpPr>
          <p:cNvPr id="7" name="TextBox 6"/>
          <p:cNvSpPr txBox="1"/>
          <p:nvPr/>
        </p:nvSpPr>
        <p:spPr>
          <a:xfrm>
            <a:off x="548640" y="5943600"/>
            <a:ext cx="9601200" cy="365760"/>
          </a:xfrm>
          <a:prstGeom prst="rect">
            <a:avLst/>
          </a:prstGeom>
          <a:noFill/>
        </p:spPr>
        <p:txBody>
          <a:bodyPr wrap="square" lIns="0" rIns="0" tIns="0" bIns="0" anchor="t">
            <a:spAutoFit/>
          </a:bodyPr>
          <a:lstStyle/>
          <a:p>
            <a:pPr algn="l"/>
            <a:r>
              <a:rPr sz="1200" b="0" i="0">
                <a:solidFill>
                  <a:srgbClr val="6B7280"/>
                </a:solidFill>
                <a:latin typeface="Calibri"/>
              </a:rPr>
              <a:t>Cells: mean Δ R²oos (FULL − CONTROLS) over 5 folds.  – = controls-only run not done for that specification.</a:t>
            </a:r>
          </a:p>
        </p:txBody>
      </p:sp>
      <p:sp>
        <p:nvSpPr>
          <p:cNvPr id="8" name="TextBox 7"/>
          <p:cNvSpPr txBox="1"/>
          <p:nvPr/>
        </p:nvSpPr>
        <p:spPr>
          <a:xfrm>
            <a:off x="10149840" y="1828800"/>
            <a:ext cx="1737360" cy="822960"/>
          </a:xfrm>
          <a:prstGeom prst="rect">
            <a:avLst/>
          </a:prstGeom>
          <a:noFill/>
        </p:spPr>
        <p:txBody>
          <a:bodyPr wrap="square" lIns="0" rIns="0" tIns="0" bIns="0" anchor="t">
            <a:spAutoFit/>
          </a:bodyPr>
          <a:lstStyle/>
          <a:p>
            <a:pPr algn="l"/>
            <a:r>
              <a:rPr sz="3000" b="1" i="0">
                <a:solidFill>
                  <a:srgbClr val="EB6A35"/>
                </a:solidFill>
                <a:latin typeface="Cambria"/>
              </a:rPr>
              <a:t>+0.017</a:t>
            </a:r>
          </a:p>
        </p:txBody>
      </p:sp>
      <p:sp>
        <p:nvSpPr>
          <p:cNvPr id="9" name="TextBox 8"/>
          <p:cNvSpPr txBox="1"/>
          <p:nvPr/>
        </p:nvSpPr>
        <p:spPr>
          <a:xfrm>
            <a:off x="10149840" y="2514600"/>
            <a:ext cx="1645920" cy="1280160"/>
          </a:xfrm>
          <a:prstGeom prst="rect">
            <a:avLst/>
          </a:prstGeom>
          <a:noFill/>
        </p:spPr>
        <p:txBody>
          <a:bodyPr wrap="square" lIns="0" rIns="0" tIns="0" bIns="0" anchor="t">
            <a:spAutoFit/>
          </a:bodyPr>
          <a:lstStyle/>
          <a:p>
            <a:pPr algn="l"/>
            <a:r>
              <a:rPr sz="1400" b="0" i="0">
                <a:solidFill>
                  <a:srgbClr val="6B7280"/>
                </a:solidFill>
                <a:latin typeface="Calibri"/>
              </a:rPr>
              <a:t>largest gain anywhere (RF curated; LightGBM 30d vol)</a:t>
            </a:r>
          </a:p>
        </p:txBody>
      </p:sp>
      <p:sp>
        <p:nvSpPr>
          <p:cNvPr id="10" name="TextBox 9"/>
          <p:cNvSpPr txBox="1"/>
          <p:nvPr/>
        </p:nvSpPr>
        <p:spPr>
          <a:xfrm>
            <a:off x="10149840" y="3840480"/>
            <a:ext cx="1737360" cy="822960"/>
          </a:xfrm>
          <a:prstGeom prst="rect">
            <a:avLst/>
          </a:prstGeom>
          <a:noFill/>
        </p:spPr>
        <p:txBody>
          <a:bodyPr wrap="square" lIns="0" rIns="0" tIns="0" bIns="0" anchor="t">
            <a:spAutoFit/>
          </a:bodyPr>
          <a:lstStyle/>
          <a:p>
            <a:pPr algn="l"/>
            <a:r>
              <a:rPr sz="3000" b="1" i="0">
                <a:solidFill>
                  <a:srgbClr val="141B2D"/>
                </a:solidFill>
                <a:latin typeface="Cambria"/>
              </a:rPr>
              <a:t>-0.002</a:t>
            </a:r>
          </a:p>
        </p:txBody>
      </p:sp>
      <p:sp>
        <p:nvSpPr>
          <p:cNvPr id="11" name="TextBox 10"/>
          <p:cNvSpPr txBox="1"/>
          <p:nvPr/>
        </p:nvSpPr>
        <p:spPr>
          <a:xfrm>
            <a:off x="10149840" y="4526280"/>
            <a:ext cx="1645920" cy="1371600"/>
          </a:xfrm>
          <a:prstGeom prst="rect">
            <a:avLst/>
          </a:prstGeom>
          <a:noFill/>
        </p:spPr>
        <p:txBody>
          <a:bodyPr wrap="square" lIns="0" rIns="0" tIns="0" bIns="0" anchor="t">
            <a:spAutoFit/>
          </a:bodyPr>
          <a:lstStyle/>
          <a:p>
            <a:pPr algn="l"/>
            <a:r>
              <a:rPr sz="1400" b="0" i="0">
                <a:solidFill>
                  <a:srgbClr val="6B7280"/>
                </a:solidFill>
                <a:latin typeface="Calibri"/>
              </a:rPr>
              <a:t>logistic AUC change from unlocks: top-20% event (spike: -0.004)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548640" y="320040"/>
            <a:ext cx="11064240" cy="274320"/>
          </a:xfrm>
          <a:prstGeom prst="rect">
            <a:avLst/>
          </a:prstGeom>
          <a:noFill/>
        </p:spPr>
        <p:txBody>
          <a:bodyPr wrap="square" lIns="0" rIns="0" tIns="0" bIns="0" anchor="t">
            <a:spAutoFit/>
          </a:bodyPr>
          <a:lstStyle/>
          <a:p>
            <a:pPr algn="l"/>
            <a:r>
              <a:rPr sz="1200" b="1" i="0">
                <a:solidFill>
                  <a:srgbClr val="EB6A35"/>
                </a:solidFill>
                <a:latin typeface="Calibri"/>
              </a:rPr>
              <a:t>PRACTICAL RELEVANCE</a:t>
            </a:r>
          </a:p>
        </p:txBody>
      </p:sp>
      <p:sp>
        <p:nvSpPr>
          <p:cNvPr id="3" name="Title"/>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1F2433"/>
                </a:solidFill>
                <a:latin typeface="Cambria"/>
              </a:rPr>
              <a:t>Is any improvement useful for the decision?</a:t>
            </a:r>
          </a:p>
        </p:txBody>
      </p:sp>
      <p:sp>
        <p:nvSpPr>
          <p:cNvPr id="4" name="Footer"/>
          <p:cNvSpPr txBox="1"/>
          <p:nvPr/>
        </p:nvSpPr>
        <p:spPr>
          <a:xfrm>
            <a:off x="548640" y="6400800"/>
            <a:ext cx="7315200" cy="274320"/>
          </a:xfrm>
          <a:prstGeom prst="rect">
            <a:avLst/>
          </a:prstGeom>
          <a:noFill/>
        </p:spPr>
        <p:txBody>
          <a:bodyPr wrap="square" lIns="0" rIns="0" tIns="0" bIns="0" anchor="t">
            <a:spAutoFit/>
          </a:bodyPr>
          <a:lstStyle/>
          <a:p>
            <a:pPr algn="l"/>
            <a:r>
              <a:rPr sz="1000" b="0" i="0">
                <a:solidFill>
                  <a:srgbClr val="6B7280"/>
                </a:solidFill>
                <a:latin typeface="Calibri"/>
              </a:rPr>
              <a:t>MH6805 Group 7  |  Token unlocks and forward volatility</a:t>
            </a:r>
          </a:p>
        </p:txBody>
      </p:sp>
      <p:sp>
        <p:nvSpPr>
          <p:cNvPr id="5" name="Slide number"/>
          <p:cNvSpPr txBox="1"/>
          <p:nvPr/>
        </p:nvSpPr>
        <p:spPr>
          <a:xfrm>
            <a:off x="10241280" y="6400800"/>
            <a:ext cx="1399032" cy="274320"/>
          </a:xfrm>
          <a:prstGeom prst="rect">
            <a:avLst/>
          </a:prstGeom>
          <a:noFill/>
        </p:spPr>
        <p:txBody>
          <a:bodyPr wrap="square" lIns="0" rIns="0" tIns="0" bIns="0" anchor="t">
            <a:spAutoFit/>
          </a:bodyPr>
          <a:lstStyle/>
          <a:p>
            <a:pPr algn="r"/>
            <a:r>
              <a:rPr sz="1000" b="0" i="0">
                <a:solidFill>
                  <a:srgbClr val="6B7280"/>
                </a:solidFill>
                <a:latin typeface="Calibri"/>
              </a:rPr>
              <a:t>11</a:t>
            </a:r>
          </a:p>
        </p:txBody>
      </p:sp>
      <p:sp>
        <p:nvSpPr>
          <p:cNvPr id="6" name="TextBox 5"/>
          <p:cNvSpPr txBox="1"/>
          <p:nvPr/>
        </p:nvSpPr>
        <p:spPr>
          <a:xfrm>
            <a:off x="548640" y="1737360"/>
            <a:ext cx="2377440" cy="822960"/>
          </a:xfrm>
          <a:prstGeom prst="rect">
            <a:avLst/>
          </a:prstGeom>
          <a:noFill/>
        </p:spPr>
        <p:txBody>
          <a:bodyPr wrap="square" lIns="0" rIns="0" tIns="0" bIns="0" anchor="t">
            <a:spAutoFit/>
          </a:bodyPr>
          <a:lstStyle/>
          <a:p>
            <a:pPr algn="l"/>
            <a:r>
              <a:rPr sz="4000" b="1" i="0">
                <a:solidFill>
                  <a:srgbClr val="141B2D"/>
                </a:solidFill>
                <a:latin typeface="Cambria"/>
              </a:rPr>
              <a:t>0.27</a:t>
            </a:r>
          </a:p>
        </p:txBody>
      </p:sp>
      <p:sp>
        <p:nvSpPr>
          <p:cNvPr id="7" name="TextBox 6"/>
          <p:cNvSpPr txBox="1"/>
          <p:nvPr/>
        </p:nvSpPr>
        <p:spPr>
          <a:xfrm>
            <a:off x="3017520" y="1874519"/>
            <a:ext cx="3291840" cy="1097280"/>
          </a:xfrm>
          <a:prstGeom prst="rect">
            <a:avLst/>
          </a:prstGeom>
          <a:noFill/>
        </p:spPr>
        <p:txBody>
          <a:bodyPr wrap="square" lIns="0" rIns="0" tIns="0" bIns="0" anchor="t">
            <a:spAutoFit/>
          </a:bodyPr>
          <a:lstStyle/>
          <a:p>
            <a:pPr algn="l"/>
            <a:r>
              <a:rPr sz="1500" b="0" i="0">
                <a:solidFill>
                  <a:srgbClr val="6B7280"/>
                </a:solidFill>
                <a:latin typeface="Calibri"/>
              </a:rPr>
              <a:t>median absolute error, annualized-vol points (32% of the level)</a:t>
            </a:r>
          </a:p>
        </p:txBody>
      </p:sp>
      <p:sp>
        <p:nvSpPr>
          <p:cNvPr id="8" name="TextBox 7"/>
          <p:cNvSpPr txBox="1"/>
          <p:nvPr/>
        </p:nvSpPr>
        <p:spPr>
          <a:xfrm>
            <a:off x="548640" y="3200400"/>
            <a:ext cx="2377440" cy="822960"/>
          </a:xfrm>
          <a:prstGeom prst="rect">
            <a:avLst/>
          </a:prstGeom>
          <a:noFill/>
        </p:spPr>
        <p:txBody>
          <a:bodyPr wrap="square" lIns="0" rIns="0" tIns="0" bIns="0" anchor="t">
            <a:spAutoFit/>
          </a:bodyPr>
          <a:lstStyle/>
          <a:p>
            <a:pPr algn="l"/>
            <a:r>
              <a:rPr sz="4000" b="1" i="0">
                <a:solidFill>
                  <a:srgbClr val="141B2D"/>
                </a:solidFill>
                <a:latin typeface="Cambria"/>
              </a:rPr>
              <a:t>41%</a:t>
            </a:r>
          </a:p>
        </p:txBody>
      </p:sp>
      <p:sp>
        <p:nvSpPr>
          <p:cNvPr id="9" name="TextBox 8"/>
          <p:cNvSpPr txBox="1"/>
          <p:nvPr/>
        </p:nvSpPr>
        <p:spPr>
          <a:xfrm>
            <a:off x="3017520" y="3337560"/>
            <a:ext cx="3291840" cy="1097280"/>
          </a:xfrm>
          <a:prstGeom prst="rect">
            <a:avLst/>
          </a:prstGeom>
          <a:noFill/>
        </p:spPr>
        <p:txBody>
          <a:bodyPr wrap="square" lIns="0" rIns="0" tIns="0" bIns="0" anchor="t">
            <a:spAutoFit/>
          </a:bodyPr>
          <a:lstStyle/>
          <a:p>
            <a:pPr algn="l"/>
            <a:r>
              <a:rPr sz="1500" b="0" i="0">
                <a:solidFill>
                  <a:srgbClr val="6B7280"/>
                </a:solidFill>
                <a:latin typeface="Calibri"/>
              </a:rPr>
              <a:t>of forecasts within 25% of realized (persistence 41%)</a:t>
            </a:r>
          </a:p>
        </p:txBody>
      </p:sp>
      <p:sp>
        <p:nvSpPr>
          <p:cNvPr id="10" name="TextBox 9"/>
          <p:cNvSpPr txBox="1"/>
          <p:nvPr/>
        </p:nvSpPr>
        <p:spPr>
          <a:xfrm>
            <a:off x="548640" y="4663440"/>
            <a:ext cx="2377440" cy="822960"/>
          </a:xfrm>
          <a:prstGeom prst="rect">
            <a:avLst/>
          </a:prstGeom>
          <a:noFill/>
        </p:spPr>
        <p:txBody>
          <a:bodyPr wrap="square" lIns="0" rIns="0" tIns="0" bIns="0" anchor="t">
            <a:spAutoFit/>
          </a:bodyPr>
          <a:lstStyle/>
          <a:p>
            <a:pPr algn="l"/>
            <a:r>
              <a:rPr sz="4000" b="1" i="0">
                <a:solidFill>
                  <a:srgbClr val="EB6A35"/>
                </a:solidFill>
                <a:latin typeface="Cambria"/>
              </a:rPr>
              <a:t>None</a:t>
            </a:r>
          </a:p>
        </p:txBody>
      </p:sp>
      <p:sp>
        <p:nvSpPr>
          <p:cNvPr id="11" name="TextBox 10"/>
          <p:cNvSpPr txBox="1"/>
          <p:nvPr/>
        </p:nvSpPr>
        <p:spPr>
          <a:xfrm>
            <a:off x="3017520" y="4800600"/>
            <a:ext cx="3291840" cy="1097280"/>
          </a:xfrm>
          <a:prstGeom prst="rect">
            <a:avLst/>
          </a:prstGeom>
          <a:noFill/>
        </p:spPr>
        <p:txBody>
          <a:bodyPr wrap="square" lIns="0" rIns="0" tIns="0" bIns="0" anchor="t">
            <a:spAutoFit/>
          </a:bodyPr>
          <a:lstStyle/>
          <a:p>
            <a:pPr algn="l"/>
            <a:r>
              <a:rPr sz="1500" b="0" i="0">
                <a:solidFill>
                  <a:srgbClr val="6B7280"/>
                </a:solidFill>
                <a:latin typeface="Calibri"/>
              </a:rPr>
              <a:t>useful gain from unlock features, at the cost of a data subscription and upkeep</a:t>
            </a:r>
          </a:p>
        </p:txBody>
      </p:sp>
      <p:sp>
        <p:nvSpPr>
          <p:cNvPr id="12" name="Human review"/>
          <p:cNvSpPr/>
          <p:nvPr/>
        </p:nvSpPr>
        <p:spPr>
          <a:xfrm>
            <a:off x="6675120" y="1737360"/>
            <a:ext cx="4937760" cy="4389120"/>
          </a:xfrm>
          <a:prstGeom prst="roundRect">
            <a:avLst>
              <a:gd name="adj" fmla="val 8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1920240"/>
            <a:ext cx="4480560" cy="457200"/>
          </a:xfrm>
          <a:prstGeom prst="rect">
            <a:avLst/>
          </a:prstGeom>
          <a:noFill/>
        </p:spPr>
        <p:txBody>
          <a:bodyPr wrap="square" lIns="0" rIns="0" tIns="0" bIns="0" anchor="t">
            <a:spAutoFit/>
          </a:bodyPr>
          <a:lstStyle/>
          <a:p>
            <a:pPr algn="l"/>
            <a:r>
              <a:rPr sz="2000" b="1" i="0">
                <a:solidFill>
                  <a:srgbClr val="1F2433"/>
                </a:solidFill>
                <a:latin typeface="Cambria"/>
              </a:rPr>
              <a:t>Still needs human review</a:t>
            </a:r>
          </a:p>
        </p:txBody>
      </p:sp>
      <p:sp>
        <p:nvSpPr>
          <p:cNvPr id="14" name="Oval 13"/>
          <p:cNvSpPr/>
          <p:nvPr/>
        </p:nvSpPr>
        <p:spPr>
          <a:xfrm>
            <a:off x="6949440" y="256032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1</a:t>
            </a:r>
          </a:p>
        </p:txBody>
      </p:sp>
      <p:sp>
        <p:nvSpPr>
          <p:cNvPr id="15" name="TextBox 14"/>
          <p:cNvSpPr txBox="1"/>
          <p:nvPr/>
        </p:nvSpPr>
        <p:spPr>
          <a:xfrm>
            <a:off x="7498079" y="256032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entering a spike (listings, delistings, hacks): the forecast is too low</a:t>
            </a:r>
          </a:p>
        </p:txBody>
      </p:sp>
      <p:sp>
        <p:nvSpPr>
          <p:cNvPr id="16" name="Oval 15"/>
          <p:cNvSpPr/>
          <p:nvPr/>
        </p:nvSpPr>
        <p:spPr>
          <a:xfrm>
            <a:off x="6949440" y="3429000"/>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2</a:t>
            </a:r>
          </a:p>
        </p:txBody>
      </p:sp>
      <p:sp>
        <p:nvSpPr>
          <p:cNvPr id="17" name="TextBox 16"/>
          <p:cNvSpPr txBox="1"/>
          <p:nvPr/>
        </p:nvSpPr>
        <p:spPr>
          <a:xfrm>
            <a:off x="7498079" y="3429000"/>
            <a:ext cx="3931920" cy="822960"/>
          </a:xfrm>
          <a:prstGeom prst="rect">
            <a:avLst/>
          </a:prstGeom>
          <a:noFill/>
        </p:spPr>
        <p:txBody>
          <a:bodyPr wrap="square" lIns="0" rIns="0" tIns="0" bIns="0" anchor="t">
            <a:spAutoFit/>
          </a:bodyPr>
          <a:lstStyle/>
          <a:p>
            <a:pPr algn="l"/>
            <a:r>
              <a:rPr sz="1500" b="0" i="0">
                <a:solidFill>
                  <a:srgbClr val="1F2433"/>
                </a:solidFill>
                <a:latin typeface="Calibri"/>
              </a:rPr>
              <a:t>Tokens whose volatility is collapsing: most remaining 2× misses are over-forecasts</a:t>
            </a:r>
          </a:p>
        </p:txBody>
      </p:sp>
      <p:sp>
        <p:nvSpPr>
          <p:cNvPr id="18" name="Oval 17"/>
          <p:cNvSpPr/>
          <p:nvPr/>
        </p:nvSpPr>
        <p:spPr>
          <a:xfrm>
            <a:off x="6949440" y="429767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3</a:t>
            </a:r>
          </a:p>
        </p:txBody>
      </p:sp>
      <p:sp>
        <p:nvSpPr>
          <p:cNvPr id="19" name="TextBox 18"/>
          <p:cNvSpPr txBox="1"/>
          <p:nvPr/>
        </p:nvSpPr>
        <p:spPr>
          <a:xfrm>
            <a:off x="7498079" y="4297679"/>
            <a:ext cx="3931920" cy="822960"/>
          </a:xfrm>
          <a:prstGeom prst="rect">
            <a:avLst/>
          </a:prstGeom>
          <a:noFill/>
        </p:spPr>
        <p:txBody>
          <a:bodyPr wrap="square" lIns="0" rIns="0" tIns="0" bIns="0" anchor="t">
            <a:spAutoFit/>
          </a:bodyPr>
          <a:lstStyle/>
          <a:p>
            <a:pPr algn="l"/>
            <a:r>
              <a:rPr sz="1500" b="0" i="0">
                <a:solidFill>
                  <a:srgbClr val="1F2433"/>
                </a:solidFill>
                <a:latin typeface="Calibri"/>
              </a:rPr>
              <a:t>New listings with under 30 days of history: the model cannot score them</a:t>
            </a:r>
          </a:p>
        </p:txBody>
      </p:sp>
      <p:sp>
        <p:nvSpPr>
          <p:cNvPr id="20" name="Oval 19"/>
          <p:cNvSpPr/>
          <p:nvPr/>
        </p:nvSpPr>
        <p:spPr>
          <a:xfrm>
            <a:off x="6949440" y="5166359"/>
            <a:ext cx="384048" cy="384048"/>
          </a:xfrm>
          <a:prstGeom prst="ellipse">
            <a:avLst/>
          </a:prstGeom>
          <a:solidFill>
            <a:srgbClr val="141B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300" b="1">
                <a:solidFill>
                  <a:srgbClr val="FFFFFF"/>
                </a:solidFill>
                <a:latin typeface="Calibri"/>
              </a:rPr>
              <a:t>4</a:t>
            </a:r>
          </a:p>
        </p:txBody>
      </p:sp>
      <p:sp>
        <p:nvSpPr>
          <p:cNvPr id="21" name="TextBox 20"/>
          <p:cNvSpPr txBox="1"/>
          <p:nvPr/>
        </p:nvSpPr>
        <p:spPr>
          <a:xfrm>
            <a:off x="7498079" y="5166359"/>
            <a:ext cx="3931920" cy="822960"/>
          </a:xfrm>
          <a:prstGeom prst="rect">
            <a:avLst/>
          </a:prstGeom>
          <a:noFill/>
        </p:spPr>
        <p:txBody>
          <a:bodyPr wrap="square" lIns="0" rIns="0" tIns="0" bIns="0" anchor="t">
            <a:spAutoFit/>
          </a:bodyPr>
          <a:lstStyle/>
          <a:p>
            <a:pPr algn="l"/>
            <a:r>
              <a:rPr sz="1500" b="0" i="0">
                <a:solidFill>
                  <a:srgbClr val="1F2433"/>
                </a:solidFill>
                <a:latin typeface="Calibri"/>
              </a:rPr>
              <a:t>Regime shifts not seen in 2024–26 training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41B2D"/>
        </a:solidFill>
        <a:effectLst/>
      </p:bgPr>
    </p:bg>
    <p:spTree>
      <p:nvGrpSpPr>
        <p:cNvPr id="1" name=""/>
        <p:cNvGrpSpPr/>
        <p:nvPr/>
      </p:nvGrpSpPr>
      <p:grpSpPr/>
      <p:sp>
        <p:nvSpPr>
          <p:cNvPr id="2" name="TextBox 1"/>
          <p:cNvSpPr txBox="1"/>
          <p:nvPr/>
        </p:nvSpPr>
        <p:spPr>
          <a:xfrm>
            <a:off x="548640" y="320040"/>
            <a:ext cx="10972800" cy="274320"/>
          </a:xfrm>
          <a:prstGeom prst="rect">
            <a:avLst/>
          </a:prstGeom>
          <a:noFill/>
        </p:spPr>
        <p:txBody>
          <a:bodyPr wrap="square" lIns="0" rIns="0" tIns="0" bIns="0" anchor="t">
            <a:spAutoFit/>
          </a:bodyPr>
          <a:lstStyle/>
          <a:p>
            <a:pPr algn="l"/>
            <a:r>
              <a:rPr sz="1200" b="1" i="0">
                <a:solidFill>
                  <a:srgbClr val="EB6A35"/>
                </a:solidFill>
                <a:latin typeface="Calibri"/>
              </a:rPr>
              <a:t>CONCLUSION</a:t>
            </a:r>
          </a:p>
        </p:txBody>
      </p:sp>
      <p:sp>
        <p:nvSpPr>
          <p:cNvPr id="3" name="TextBox 2"/>
          <p:cNvSpPr txBox="1"/>
          <p:nvPr/>
        </p:nvSpPr>
        <p:spPr>
          <a:xfrm>
            <a:off x="548640" y="594360"/>
            <a:ext cx="11064240" cy="822960"/>
          </a:xfrm>
          <a:prstGeom prst="rect">
            <a:avLst/>
          </a:prstGeom>
          <a:noFill/>
        </p:spPr>
        <p:txBody>
          <a:bodyPr wrap="square" lIns="0" rIns="0" tIns="0" bIns="0" anchor="t">
            <a:spAutoFit/>
          </a:bodyPr>
          <a:lstStyle/>
          <a:p>
            <a:pPr algn="l"/>
            <a:r>
              <a:rPr sz="3200" b="1" i="0">
                <a:solidFill>
                  <a:srgbClr val="FFFFFF"/>
                </a:solidFill>
                <a:latin typeface="Cambria"/>
              </a:rPr>
              <a:t>Unlocks are not a reliable incremental volatility signal</a:t>
            </a:r>
          </a:p>
        </p:txBody>
      </p:sp>
      <p:sp>
        <p:nvSpPr>
          <p:cNvPr id="4" name="Oval 3"/>
          <p:cNvSpPr/>
          <p:nvPr/>
        </p:nvSpPr>
        <p:spPr>
          <a:xfrm>
            <a:off x="54864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1</a:t>
            </a:r>
          </a:p>
        </p:txBody>
      </p:sp>
      <p:sp>
        <p:nvSpPr>
          <p:cNvPr id="5" name="TextBox 4"/>
          <p:cNvSpPr txBox="1"/>
          <p:nvPr/>
        </p:nvSpPr>
        <p:spPr>
          <a:xfrm>
            <a:off x="1325880"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Raw link is real, not incremental</a:t>
            </a:r>
          </a:p>
        </p:txBody>
      </p:sp>
      <p:sp>
        <p:nvSpPr>
          <p:cNvPr id="6" name="TextBox 5"/>
          <p:cNvSpPr txBox="1"/>
          <p:nvPr/>
        </p:nvSpPr>
        <p:spPr>
          <a:xfrm>
            <a:off x="1325880"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Heavy-unlock tokens are young and already volatile; trailing volatility absorbs the effect.</a:t>
            </a:r>
          </a:p>
        </p:txBody>
      </p:sp>
      <p:sp>
        <p:nvSpPr>
          <p:cNvPr id="7" name="Oval 6"/>
          <p:cNvSpPr/>
          <p:nvPr/>
        </p:nvSpPr>
        <p:spPr>
          <a:xfrm>
            <a:off x="6217920" y="18288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2</a:t>
            </a:r>
          </a:p>
        </p:txBody>
      </p:sp>
      <p:sp>
        <p:nvSpPr>
          <p:cNvPr id="8" name="TextBox 7"/>
          <p:cNvSpPr txBox="1"/>
          <p:nvPr/>
        </p:nvSpPr>
        <p:spPr>
          <a:xfrm>
            <a:off x="6995159" y="1810512"/>
            <a:ext cx="4572000" cy="457200"/>
          </a:xfrm>
          <a:prstGeom prst="rect">
            <a:avLst/>
          </a:prstGeom>
          <a:noFill/>
        </p:spPr>
        <p:txBody>
          <a:bodyPr wrap="square" lIns="0" rIns="0" tIns="0" bIns="0" anchor="t">
            <a:spAutoFit/>
          </a:bodyPr>
          <a:lstStyle/>
          <a:p>
            <a:pPr algn="l"/>
            <a:r>
              <a:rPr sz="2000" b="1" i="0">
                <a:solidFill>
                  <a:srgbClr val="FFFFFF"/>
                </a:solidFill>
                <a:latin typeface="Cambria"/>
              </a:rPr>
              <a:t>Six models agree</a:t>
            </a:r>
          </a:p>
        </p:txBody>
      </p:sp>
      <p:sp>
        <p:nvSpPr>
          <p:cNvPr id="9" name="TextBox 8"/>
          <p:cNvSpPr txBox="1"/>
          <p:nvPr/>
        </p:nvSpPr>
        <p:spPr>
          <a:xfrm>
            <a:off x="6995159" y="2331720"/>
            <a:ext cx="4572000" cy="1188720"/>
          </a:xfrm>
          <a:prstGeom prst="rect">
            <a:avLst/>
          </a:prstGeom>
          <a:noFill/>
        </p:spPr>
        <p:txBody>
          <a:bodyPr wrap="square" lIns="0" rIns="0" tIns="0" bIns="0" anchor="t">
            <a:spAutoFit/>
          </a:bodyPr>
          <a:lstStyle/>
          <a:p>
            <a:pPr algn="l"/>
            <a:r>
              <a:rPr sz="1600" b="0" i="0">
                <a:solidFill>
                  <a:srgbClr val="C9D3E6"/>
                </a:solidFill>
                <a:latin typeface="Calibri"/>
              </a:rPr>
              <a:t>Regressors gain only +0.001 to +0.006 R², with unstable sign; logistic AUC falls slightly.</a:t>
            </a:r>
          </a:p>
        </p:txBody>
      </p:sp>
      <p:sp>
        <p:nvSpPr>
          <p:cNvPr id="10" name="Oval 9"/>
          <p:cNvSpPr/>
          <p:nvPr/>
        </p:nvSpPr>
        <p:spPr>
          <a:xfrm>
            <a:off x="54864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3</a:t>
            </a:r>
          </a:p>
        </p:txBody>
      </p:sp>
      <p:sp>
        <p:nvSpPr>
          <p:cNvPr id="11" name="TextBox 10"/>
          <p:cNvSpPr txBox="1"/>
          <p:nvPr/>
        </p:nvSpPr>
        <p:spPr>
          <a:xfrm>
            <a:off x="1325880"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Best forecaster: Ridge on controls</a:t>
            </a:r>
          </a:p>
        </p:txBody>
      </p:sp>
      <p:sp>
        <p:nvSpPr>
          <p:cNvPr id="12" name="TextBox 11"/>
          <p:cNvSpPr txBox="1"/>
          <p:nvPr/>
        </p:nvSpPr>
        <p:spPr>
          <a:xfrm>
            <a:off x="1325880"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Best RMSE and rank correlation, seconds to train, interpretable. RF close second.</a:t>
            </a:r>
          </a:p>
        </p:txBody>
      </p:sp>
      <p:sp>
        <p:nvSpPr>
          <p:cNvPr id="13" name="Oval 12"/>
          <p:cNvSpPr/>
          <p:nvPr/>
        </p:nvSpPr>
        <p:spPr>
          <a:xfrm>
            <a:off x="6217920" y="3886200"/>
            <a:ext cx="548640" cy="548640"/>
          </a:xfrm>
          <a:prstGeom prst="ellipse">
            <a:avLst/>
          </a:prstGeom>
          <a:solidFill>
            <a:srgbClr val="EB6A3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800" b="1">
                <a:solidFill>
                  <a:srgbClr val="FFFFFF"/>
                </a:solidFill>
                <a:latin typeface="Calibri"/>
              </a:rPr>
              <a:t>4</a:t>
            </a:r>
          </a:p>
        </p:txBody>
      </p:sp>
      <p:sp>
        <p:nvSpPr>
          <p:cNvPr id="14" name="TextBox 13"/>
          <p:cNvSpPr txBox="1"/>
          <p:nvPr/>
        </p:nvSpPr>
        <p:spPr>
          <a:xfrm>
            <a:off x="6995159" y="3867912"/>
            <a:ext cx="4572000" cy="457200"/>
          </a:xfrm>
          <a:prstGeom prst="rect">
            <a:avLst/>
          </a:prstGeom>
          <a:noFill/>
        </p:spPr>
        <p:txBody>
          <a:bodyPr wrap="square" lIns="0" rIns="0" tIns="0" bIns="0" anchor="t">
            <a:spAutoFit/>
          </a:bodyPr>
          <a:lstStyle/>
          <a:p>
            <a:pPr algn="l"/>
            <a:r>
              <a:rPr sz="2000" b="1" i="0">
                <a:solidFill>
                  <a:srgbClr val="FFFFFF"/>
                </a:solidFill>
                <a:latin typeface="Cambria"/>
              </a:rPr>
              <a:t>Consistent with an efficient market</a:t>
            </a:r>
          </a:p>
        </p:txBody>
      </p:sp>
      <p:sp>
        <p:nvSpPr>
          <p:cNvPr id="15" name="TextBox 14"/>
          <p:cNvSpPr txBox="1"/>
          <p:nvPr/>
        </p:nvSpPr>
        <p:spPr>
          <a:xfrm>
            <a:off x="6995159" y="4389120"/>
            <a:ext cx="4572000" cy="1188720"/>
          </a:xfrm>
          <a:prstGeom prst="rect">
            <a:avLst/>
          </a:prstGeom>
          <a:noFill/>
        </p:spPr>
        <p:txBody>
          <a:bodyPr wrap="square" lIns="0" rIns="0" tIns="0" bIns="0" anchor="t">
            <a:spAutoFit/>
          </a:bodyPr>
          <a:lstStyle/>
          <a:p>
            <a:pPr algn="l"/>
            <a:r>
              <a:rPr sz="1600" b="0" i="0">
                <a:solidFill>
                  <a:srgbClr val="C9D3E6"/>
                </a:solidFill>
                <a:latin typeface="Calibri"/>
              </a:rPr>
              <a:t>Schedules are public months ahead, so any predictable effect is likely priced before the date.</a:t>
            </a:r>
          </a:p>
        </p:txBody>
      </p:sp>
      <p:sp>
        <p:nvSpPr>
          <p:cNvPr id="16" name="TextBox 15"/>
          <p:cNvSpPr txBox="1"/>
          <p:nvPr/>
        </p:nvSpPr>
        <p:spPr>
          <a:xfrm>
            <a:off x="548640" y="5989320"/>
            <a:ext cx="10972800" cy="365760"/>
          </a:xfrm>
          <a:prstGeom prst="rect">
            <a:avLst/>
          </a:prstGeom>
          <a:noFill/>
        </p:spPr>
        <p:txBody>
          <a:bodyPr wrap="square" lIns="0" rIns="0" tIns="0" bIns="0" anchor="t">
            <a:spAutoFit/>
          </a:bodyPr>
          <a:lstStyle/>
          <a:p>
            <a:pPr algn="l"/>
            <a:r>
              <a:rPr sz="1600" b="0" i="0">
                <a:solidFill>
                  <a:srgbClr val="C9D3E6"/>
                </a:solidFill>
                <a:latin typeface="Calibri"/>
              </a:rPr>
              <a:t>Limits: one 2024–26 regime; schedules as curated in Sept 2026, so revisions are back-filled.   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