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Sheet3.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Sheet4.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col"/>
        <c:grouping val="clustered"/>
        <c:ser>
          <c:idx val="0"/>
          <c:order val="0"/>
          <c:tx>
            <c:strRef>
              <c:f>Sheet1!$B$1</c:f>
              <c:strCache>
                <c:ptCount val="1"/>
                <c:pt idx="0">
                  <c:v>Controls only</c:v>
                </c:pt>
              </c:strCache>
            </c:strRef>
          </c:tx>
          <c:spPr>
            <a:solidFill>
              <a:srgbClr val="2B7BD6"/>
            </a:solidFill>
          </c:spPr>
          <c:cat>
            <c:strRef>
              <c:f>Sheet1!$A$2:$A$5</c:f>
              <c:strCache>
                <c:ptCount val="4"/>
                <c:pt idx="0">
                  <c:v>KNN</c:v>
                </c:pt>
                <c:pt idx="1">
                  <c:v>Random Forest</c:v>
                </c:pt>
                <c:pt idx="2">
                  <c:v>Ridge</c:v>
                </c:pt>
                <c:pt idx="3">
                  <c:v>Elastic Net</c:v>
                </c:pt>
              </c:strCache>
            </c:strRef>
          </c:cat>
          <c:val>
            <c:numRef>
              <c:f>Sheet1!$B$2:$B$5</c:f>
              <c:numCache>
                <c:formatCode>General</c:formatCode>
                <c:ptCount val="4"/>
                <c:pt idx="0">
                  <c:v>0.234</c:v>
                </c:pt>
                <c:pt idx="1">
                  <c:v>0.262</c:v>
                </c:pt>
                <c:pt idx="2">
                  <c:v>0.266</c:v>
                </c:pt>
                <c:pt idx="3">
                  <c:v>0.254</c:v>
                </c:pt>
              </c:numCache>
            </c:numRef>
          </c:val>
        </c:ser>
        <c:ser>
          <c:idx val="1"/>
          <c:order val="1"/>
          <c:tx>
            <c:strRef>
              <c:f>Sheet1!$C$1</c:f>
              <c:strCache>
                <c:ptCount val="1"/>
                <c:pt idx="0">
                  <c:v>Controls + emission + static</c:v>
                </c:pt>
              </c:strCache>
            </c:strRef>
          </c:tx>
          <c:spPr>
            <a:solidFill>
              <a:srgbClr val="EB6A35"/>
            </a:solidFill>
          </c:spPr>
          <c:cat>
            <c:strRef>
              <c:f>Sheet1!$A$2:$A$5</c:f>
              <c:strCache>
                <c:ptCount val="4"/>
                <c:pt idx="0">
                  <c:v>KNN</c:v>
                </c:pt>
                <c:pt idx="1">
                  <c:v>Random Forest</c:v>
                </c:pt>
                <c:pt idx="2">
                  <c:v>Ridge</c:v>
                </c:pt>
                <c:pt idx="3">
                  <c:v>Elastic Net</c:v>
                </c:pt>
              </c:strCache>
            </c:strRef>
          </c:cat>
          <c:val>
            <c:numRef>
              <c:f>Sheet1!$C$2:$C$5</c:f>
              <c:numCache>
                <c:formatCode>General</c:formatCode>
                <c:ptCount val="4"/>
                <c:pt idx="0">
                  <c:v>0.235</c:v>
                </c:pt>
                <c:pt idx="1">
                  <c:v>0.268</c:v>
                </c:pt>
                <c:pt idx="2">
                  <c:v>0.266</c:v>
                </c:pt>
                <c:pt idx="3">
                  <c:v>0.255</c:v>
                </c:pt>
              </c:numCache>
            </c:numRef>
          </c:val>
        </c:ser>
        <c:dLbls>
          <c:numFmt formatCode="0.000" sourceLinked="0"/>
          <c:txPr>
            <a:bodyPr/>
            <a:lstStyle/>
            <a:p>
              <a:pPr>
                <a:defRPr sz="1200"/>
              </a:pPr>
            </a:p>
          </c:txPr>
          <c:dLblPos val="outEnd"/>
          <c:showLegendKey val="0"/>
          <c:showVal val="1"/>
          <c:showCatName val="0"/>
          <c:showSerName val="0"/>
          <c:showPercent val="0"/>
          <c:showBubbleSize val="0"/>
          <c:showLeaderLines val="1"/>
        </c:dLbls>
        <c:gapWidth val="60"/>
        <c:overlap val="-5"/>
        <c:axId val="-2068027336"/>
        <c:axId val="-2113994440"/>
      </c:barChart>
      <c:catAx>
        <c:axId val="-2068027336"/>
        <c:scaling>
          <c:orientation val="minMax"/>
        </c:scaling>
        <c:delete val="0"/>
        <c:axPos val="b"/>
        <c:majorTickMark val="out"/>
        <c:minorTickMark val="none"/>
        <c:tickLblPos val="nextTo"/>
        <c:spPr>
          <a:ln>
            <a:solidFill>
              <a:srgbClr val="D9DDE3"/>
            </a:solidFill>
          </a:ln>
        </c:spPr>
        <c:txPr>
          <a:bodyPr/>
          <a:lstStyle/>
          <a:p>
            <a:pPr>
              <a:defRPr sz="1200"/>
            </a:pPr>
          </a:p>
        </c:txPr>
        <c:crossAx val="-2113994440"/>
        <c:crosses val="autoZero"/>
        <c:auto val="1"/>
        <c:lblAlgn val="ctr"/>
        <c:lblOffset val="100"/>
        <c:noMultiLvlLbl val="0"/>
      </c:catAx>
      <c:valAx>
        <c:axId val="-2113994440"/>
        <c:scaling>
          <c:max val="0.3"/>
          <c:min val="0.0"/>
        </c:scaling>
        <c:delete val="0"/>
        <c:axPos val="l"/>
        <c:majorGridlines>
          <c:spPr>
            <a:ln>
              <a:solidFill>
                <a:srgbClr val="D9DDE3"/>
              </a:solidFill>
            </a:ln>
          </c:spPr>
        </c:majorGridlines>
        <c:numFmt formatCode="0.00" sourceLinked="0"/>
        <c:majorTickMark val="out"/>
        <c:minorTickMark val="none"/>
        <c:tickLblPos val="nextTo"/>
        <c:spPr>
          <a:ln>
            <a:noFill/>
          </a:ln>
        </c:spPr>
        <c:txPr>
          <a:bodyPr/>
          <a:lstStyle/>
          <a:p>
            <a:pPr>
              <a:defRPr sz="1100">
                <a:solidFill>
                  <a:srgbClr val="6B7280"/>
                </a:solidFill>
              </a:defRPr>
            </a:pPr>
          </a:p>
        </c:txPr>
        <c:crossAx val="-2068027336"/>
        <c:crosses val="autoZero"/>
      </c:valAx>
    </c:plotArea>
    <c:legend>
      <c:legendPos val="t"/>
      <c:overlay val="0"/>
      <c:txPr>
        <a:bodyPr/>
        <a:lstStyle/>
        <a:p>
          <a:pPr>
            <a:defRPr sz="1200"/>
          </a:pPr>
        </a:p>
      </c:txPr>
    </c:legend>
    <c:dispBlanksAs val="gap"/>
  </c:chart>
  <c:txPr>
    <a:bodyPr/>
    <a:lstStyle/>
    <a:p>
      <a:pPr>
        <a:defRPr sz="1200">
          <a:solidFill>
            <a:srgbClr val="1F2433"/>
          </a:solidFill>
          <a:latin typeface="Calibri"/>
        </a:defRPr>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col"/>
        <c:grouping val="clustered"/>
        <c:ser>
          <c:idx val="0"/>
          <c:order val="0"/>
          <c:tx>
            <c:strRef>
              <c:f>Sheet1!$B$1</c:f>
              <c:strCache>
                <c:ptCount val="1"/>
                <c:pt idx="0">
                  <c:v>KNN</c:v>
                </c:pt>
              </c:strCache>
            </c:strRef>
          </c:tx>
          <c:spPr>
            <a:solidFill>
              <a:srgbClr val="9AA3B2"/>
            </a:solidFill>
          </c:spPr>
          <c:invertIfNegative val="0"/>
          <c:cat>
            <c:strRef>
              <c:f>Sheet1!$A$2:$A$6</c:f>
              <c:strCache>
                <c:ptCount val="5"/>
                <c:pt idx="0">
                  <c:v>Fold 1</c:v>
                </c:pt>
                <c:pt idx="1">
                  <c:v>Fold 2</c:v>
                </c:pt>
                <c:pt idx="2">
                  <c:v>Fold 3</c:v>
                </c:pt>
                <c:pt idx="3">
                  <c:v>Fold 4</c:v>
                </c:pt>
                <c:pt idx="4">
                  <c:v>Fold 5</c:v>
                </c:pt>
              </c:strCache>
            </c:strRef>
          </c:cat>
          <c:val>
            <c:numRef>
              <c:f>Sheet1!$B$2:$B$6</c:f>
              <c:numCache>
                <c:formatCode>General</c:formatCode>
                <c:ptCount val="5"/>
                <c:pt idx="0">
                  <c:v>0.104</c:v>
                </c:pt>
                <c:pt idx="1">
                  <c:v>0.029</c:v>
                </c:pt>
                <c:pt idx="2">
                  <c:v>-0.058</c:v>
                </c:pt>
                <c:pt idx="3">
                  <c:v>-0.032</c:v>
                </c:pt>
                <c:pt idx="4">
                  <c:v>-0.036</c:v>
                </c:pt>
              </c:numCache>
            </c:numRef>
          </c:val>
        </c:ser>
        <c:ser>
          <c:idx val="1"/>
          <c:order val="1"/>
          <c:tx>
            <c:strRef>
              <c:f>Sheet1!$C$1</c:f>
              <c:strCache>
                <c:ptCount val="1"/>
                <c:pt idx="0">
                  <c:v>Random Forest</c:v>
                </c:pt>
              </c:strCache>
            </c:strRef>
          </c:tx>
          <c:spPr>
            <a:solidFill>
              <a:srgbClr val="EB6A35"/>
            </a:solidFill>
          </c:spPr>
          <c:invertIfNegative val="0"/>
          <c:cat>
            <c:strRef>
              <c:f>Sheet1!$A$2:$A$6</c:f>
              <c:strCache>
                <c:ptCount val="5"/>
                <c:pt idx="0">
                  <c:v>Fold 1</c:v>
                </c:pt>
                <c:pt idx="1">
                  <c:v>Fold 2</c:v>
                </c:pt>
                <c:pt idx="2">
                  <c:v>Fold 3</c:v>
                </c:pt>
                <c:pt idx="3">
                  <c:v>Fold 4</c:v>
                </c:pt>
                <c:pt idx="4">
                  <c:v>Fold 5</c:v>
                </c:pt>
              </c:strCache>
            </c:strRef>
          </c:cat>
          <c:val>
            <c:numRef>
              <c:f>Sheet1!$C$2:$C$6</c:f>
              <c:numCache>
                <c:formatCode>General</c:formatCode>
                <c:ptCount val="5"/>
                <c:pt idx="0">
                  <c:v>0.031</c:v>
                </c:pt>
                <c:pt idx="1">
                  <c:v>0.03</c:v>
                </c:pt>
                <c:pt idx="2">
                  <c:v>-0.017</c:v>
                </c:pt>
                <c:pt idx="3">
                  <c:v>-0.01</c:v>
                </c:pt>
                <c:pt idx="4">
                  <c:v>-0.002</c:v>
                </c:pt>
              </c:numCache>
            </c:numRef>
          </c:val>
        </c:ser>
        <c:ser>
          <c:idx val="2"/>
          <c:order val="2"/>
          <c:tx>
            <c:strRef>
              <c:f>Sheet1!$D$1</c:f>
              <c:strCache>
                <c:ptCount val="1"/>
                <c:pt idx="0">
                  <c:v>Ridge</c:v>
                </c:pt>
              </c:strCache>
            </c:strRef>
          </c:tx>
          <c:spPr>
            <a:solidFill>
              <a:srgbClr val="141B2D"/>
            </a:solidFill>
          </c:spPr>
          <c:invertIfNegative val="0"/>
          <c:cat>
            <c:strRef>
              <c:f>Sheet1!$A$2:$A$6</c:f>
              <c:strCache>
                <c:ptCount val="5"/>
                <c:pt idx="0">
                  <c:v>Fold 1</c:v>
                </c:pt>
                <c:pt idx="1">
                  <c:v>Fold 2</c:v>
                </c:pt>
                <c:pt idx="2">
                  <c:v>Fold 3</c:v>
                </c:pt>
                <c:pt idx="3">
                  <c:v>Fold 4</c:v>
                </c:pt>
                <c:pt idx="4">
                  <c:v>Fold 5</c:v>
                </c:pt>
              </c:strCache>
            </c:strRef>
          </c:cat>
          <c:val>
            <c:numRef>
              <c:f>Sheet1!$D$2:$D$6</c:f>
              <c:numCache>
                <c:formatCode>General</c:formatCode>
                <c:ptCount val="5"/>
                <c:pt idx="0">
                  <c:v>0.001</c:v>
                </c:pt>
                <c:pt idx="1">
                  <c:v>-0.006</c:v>
                </c:pt>
                <c:pt idx="2">
                  <c:v>-0.003</c:v>
                </c:pt>
                <c:pt idx="3">
                  <c:v>0.008</c:v>
                </c:pt>
                <c:pt idx="4">
                  <c:v>0.004</c:v>
                </c:pt>
              </c:numCache>
            </c:numRef>
          </c:val>
        </c:ser>
        <c:ser>
          <c:idx val="3"/>
          <c:order val="3"/>
          <c:tx>
            <c:strRef>
              <c:f>Sheet1!$E$1</c:f>
              <c:strCache>
                <c:ptCount val="1"/>
                <c:pt idx="0">
                  <c:v>Elastic Net</c:v>
                </c:pt>
              </c:strCache>
            </c:strRef>
          </c:tx>
          <c:spPr>
            <a:solidFill>
              <a:srgbClr val="2B7BD6"/>
            </a:solidFill>
          </c:spPr>
          <c:invertIfNegative val="0"/>
          <c:cat>
            <c:strRef>
              <c:f>Sheet1!$A$2:$A$6</c:f>
              <c:strCache>
                <c:ptCount val="5"/>
                <c:pt idx="0">
                  <c:v>Fold 1</c:v>
                </c:pt>
                <c:pt idx="1">
                  <c:v>Fold 2</c:v>
                </c:pt>
                <c:pt idx="2">
                  <c:v>Fold 3</c:v>
                </c:pt>
                <c:pt idx="3">
                  <c:v>Fold 4</c:v>
                </c:pt>
                <c:pt idx="4">
                  <c:v>Fold 5</c:v>
                </c:pt>
              </c:strCache>
            </c:strRef>
          </c:cat>
          <c:val>
            <c:numRef>
              <c:f>Sheet1!$E$2:$E$6</c:f>
              <c:numCache>
                <c:formatCode>General</c:formatCode>
                <c:ptCount val="5"/>
                <c:pt idx="0">
                  <c:v>0.0</c:v>
                </c:pt>
                <c:pt idx="1">
                  <c:v>0.0</c:v>
                </c:pt>
                <c:pt idx="2">
                  <c:v>0.0</c:v>
                </c:pt>
                <c:pt idx="3">
                  <c:v>0.001</c:v>
                </c:pt>
                <c:pt idx="4">
                  <c:v>0.003</c:v>
                </c:pt>
              </c:numCache>
            </c:numRef>
          </c:val>
        </c:ser>
        <c:gapWidth val="70"/>
        <c:axId val="-2068027336"/>
        <c:axId val="-2113994440"/>
      </c:barChart>
      <c:catAx>
        <c:axId val="-2068027336"/>
        <c:scaling>
          <c:orientation val="minMax"/>
        </c:scaling>
        <c:delete val="0"/>
        <c:axPos val="b"/>
        <c:majorTickMark val="out"/>
        <c:minorTickMark val="none"/>
        <c:tickLblPos val="low"/>
        <c:spPr>
          <a:ln>
            <a:solidFill>
              <a:srgbClr val="D9DDE3"/>
            </a:solidFill>
          </a:ln>
        </c:spPr>
        <c:txPr>
          <a:bodyPr/>
          <a:lstStyle/>
          <a:p>
            <a:pPr>
              <a:defRPr sz="1200"/>
            </a:pPr>
          </a:p>
        </c:txPr>
        <c:crossAx val="-2113994440"/>
        <c:crosses val="autoZero"/>
        <c:auto val="1"/>
        <c:lblAlgn val="ctr"/>
        <c:lblOffset val="100"/>
        <c:noMultiLvlLbl val="0"/>
      </c:catAx>
      <c:valAx>
        <c:axId val="-2113994440"/>
        <c:scaling>
          <c:max val="0.12"/>
          <c:min val="-0.08"/>
        </c:scaling>
        <c:delete val="0"/>
        <c:axPos val="l"/>
        <c:majorGridlines>
          <c:spPr>
            <a:ln>
              <a:solidFill>
                <a:srgbClr val="D9DDE3"/>
              </a:solidFill>
            </a:ln>
          </c:spPr>
        </c:majorGridlines>
        <c:numFmt formatCode="+0.00;-0.00;0" sourceLinked="0"/>
        <c:majorTickMark val="out"/>
        <c:minorTickMark val="none"/>
        <c:tickLblPos val="nextTo"/>
        <c:spPr>
          <a:ln>
            <a:noFill/>
          </a:ln>
        </c:spPr>
        <c:txPr>
          <a:bodyPr/>
          <a:lstStyle/>
          <a:p>
            <a:pPr>
              <a:defRPr sz="1100">
                <a:solidFill>
                  <a:srgbClr val="6B7280"/>
                </a:solidFill>
              </a:defRPr>
            </a:pPr>
          </a:p>
        </c:txPr>
        <c:crossAx val="-2068027336"/>
        <c:crosses val="autoZero"/>
      </c:valAx>
    </c:plotArea>
    <c:legend>
      <c:legendPos val="t"/>
      <c:overlay val="0"/>
      <c:txPr>
        <a:bodyPr/>
        <a:lstStyle/>
        <a:p>
          <a:pPr>
            <a:defRPr sz="1200"/>
          </a:pPr>
        </a:p>
      </c:txPr>
    </c:legend>
    <c:dispBlanksAs val="gap"/>
  </c:chart>
  <c:txPr>
    <a:bodyPr/>
    <a:lstStyle/>
    <a:p>
      <a:pPr>
        <a:defRPr sz="1200">
          <a:solidFill>
            <a:srgbClr val="1F2433"/>
          </a:solidFill>
          <a:latin typeface="Calibri"/>
        </a:defRPr>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col"/>
        <c:grouping val="clustered"/>
        <c:ser>
          <c:idx val="0"/>
          <c:order val="0"/>
          <c:tx>
            <c:strRef>
              <c:f>Sheet1!$B$1</c:f>
              <c:strCache>
                <c:ptCount val="1"/>
                <c:pt idx="0">
                  <c:v>Ridge</c:v>
                </c:pt>
              </c:strCache>
            </c:strRef>
          </c:tx>
          <c:spPr>
            <a:solidFill>
              <a:srgbClr val="141B2D"/>
            </a:solidFill>
          </c:spPr>
          <c:invertIfNegative val="0"/>
          <c:cat>
            <c:strRef>
              <c:f>Sheet1!$A$2:$A$6</c:f>
              <c:strCache>
                <c:ptCount val="5"/>
                <c:pt idx="0">
                  <c:v>Unlock &lt;0.5%</c:v>
                </c:pt>
                <c:pt idx="1">
                  <c:v>Unlock 0.5–2%</c:v>
                </c:pt>
                <c:pt idx="2">
                  <c:v>Unlock 2–5%</c:v>
                </c:pt>
                <c:pt idx="3">
                  <c:v>Unlock &gt;5%</c:v>
                </c:pt>
                <c:pt idx="4">
                  <c:v>Cliff ≤14d</c:v>
                </c:pt>
              </c:strCache>
            </c:strRef>
          </c:cat>
          <c:val>
            <c:numRef>
              <c:f>Sheet1!$B$2:$B$6</c:f>
              <c:numCache>
                <c:formatCode>General</c:formatCode>
                <c:ptCount val="5"/>
                <c:pt idx="0">
                  <c:v>-0.0043</c:v>
                </c:pt>
                <c:pt idx="1">
                  <c:v>-0.0035</c:v>
                </c:pt>
                <c:pt idx="2">
                  <c:v>0.0028</c:v>
                </c:pt>
                <c:pt idx="3">
                  <c:v>0.0126</c:v>
                </c:pt>
                <c:pt idx="4">
                  <c:v>0.0069</c:v>
                </c:pt>
              </c:numCache>
            </c:numRef>
          </c:val>
        </c:ser>
        <c:ser>
          <c:idx val="1"/>
          <c:order val="1"/>
          <c:tx>
            <c:strRef>
              <c:f>Sheet1!$C$1</c:f>
              <c:strCache>
                <c:ptCount val="1"/>
                <c:pt idx="0">
                  <c:v>Random Forest</c:v>
                </c:pt>
              </c:strCache>
            </c:strRef>
          </c:tx>
          <c:spPr>
            <a:solidFill>
              <a:srgbClr val="EB6A35"/>
            </a:solidFill>
          </c:spPr>
          <c:invertIfNegative val="0"/>
          <c:cat>
            <c:strRef>
              <c:f>Sheet1!$A$2:$A$6</c:f>
              <c:strCache>
                <c:ptCount val="5"/>
                <c:pt idx="0">
                  <c:v>Unlock &lt;0.5%</c:v>
                </c:pt>
                <c:pt idx="1">
                  <c:v>Unlock 0.5–2%</c:v>
                </c:pt>
                <c:pt idx="2">
                  <c:v>Unlock 2–5%</c:v>
                </c:pt>
                <c:pt idx="3">
                  <c:v>Unlock &gt;5%</c:v>
                </c:pt>
                <c:pt idx="4">
                  <c:v>Cliff ≤14d</c:v>
                </c:pt>
              </c:strCache>
            </c:strRef>
          </c:cat>
          <c:val>
            <c:numRef>
              <c:f>Sheet1!$C$2:$C$6</c:f>
              <c:numCache>
                <c:formatCode>General</c:formatCode>
                <c:ptCount val="5"/>
                <c:pt idx="0">
                  <c:v>-0.0053</c:v>
                </c:pt>
                <c:pt idx="1">
                  <c:v>-0.0056</c:v>
                </c:pt>
                <c:pt idx="2">
                  <c:v>0.0043</c:v>
                </c:pt>
                <c:pt idx="3">
                  <c:v>0.0043</c:v>
                </c:pt>
                <c:pt idx="4">
                  <c:v>0.003</c:v>
                </c:pt>
              </c:numCache>
            </c:numRef>
          </c:val>
        </c:ser>
        <c:dLbls>
          <c:numFmt formatCode="+0.000;-0.000;0" sourceLinked="0"/>
          <c:txPr>
            <a:bodyPr/>
            <a:lstStyle/>
            <a:p>
              <a:pPr>
                <a:defRPr sz="1100"/>
              </a:pPr>
            </a:p>
          </c:txPr>
          <c:dLblPos val="outEnd"/>
          <c:showLegendKey val="0"/>
          <c:showVal val="1"/>
          <c:showCatName val="0"/>
          <c:showSerName val="0"/>
          <c:showPercent val="0"/>
          <c:showBubbleSize val="0"/>
          <c:showLeaderLines val="1"/>
        </c:dLbls>
        <c:gapWidth val="70"/>
        <c:axId val="-2068027336"/>
        <c:axId val="-2113994440"/>
      </c:barChart>
      <c:catAx>
        <c:axId val="-2068027336"/>
        <c:scaling>
          <c:orientation val="minMax"/>
        </c:scaling>
        <c:delete val="0"/>
        <c:axPos val="b"/>
        <c:majorTickMark val="out"/>
        <c:minorTickMark val="none"/>
        <c:tickLblPos val="low"/>
        <c:spPr>
          <a:ln>
            <a:solidFill>
              <a:srgbClr val="D9DDE3"/>
            </a:solidFill>
          </a:ln>
        </c:spPr>
        <c:txPr>
          <a:bodyPr/>
          <a:lstStyle/>
          <a:p>
            <a:pPr>
              <a:defRPr sz="1200"/>
            </a:pPr>
          </a:p>
        </c:txPr>
        <c:crossAx val="-2113994440"/>
        <c:crosses val="autoZero"/>
        <c:auto val="1"/>
        <c:lblAlgn val="ctr"/>
        <c:lblOffset val="100"/>
        <c:noMultiLvlLbl val="0"/>
      </c:catAx>
      <c:valAx>
        <c:axId val="-2113994440"/>
        <c:scaling>
          <c:max val="0.016"/>
          <c:min val="-0.008"/>
        </c:scaling>
        <c:delete val="0"/>
        <c:axPos val="l"/>
        <c:majorGridlines>
          <c:spPr>
            <a:ln>
              <a:solidFill>
                <a:srgbClr val="D9DDE3"/>
              </a:solidFill>
            </a:ln>
          </c:spPr>
        </c:majorGridlines>
        <c:numFmt formatCode="+0.000;-0.000;0" sourceLinked="0"/>
        <c:majorTickMark val="out"/>
        <c:minorTickMark val="none"/>
        <c:tickLblPos val="nextTo"/>
        <c:spPr>
          <a:ln>
            <a:noFill/>
          </a:ln>
        </c:spPr>
        <c:txPr>
          <a:bodyPr/>
          <a:lstStyle/>
          <a:p>
            <a:pPr>
              <a:defRPr sz="1100">
                <a:solidFill>
                  <a:srgbClr val="6B7280"/>
                </a:solidFill>
              </a:defRPr>
            </a:pPr>
          </a:p>
        </c:txPr>
        <c:crossAx val="-2068027336"/>
        <c:crosses val="autoZero"/>
        <c:majorUnit val="0.004"/>
      </c:valAx>
    </c:plotArea>
    <c:legend>
      <c:legendPos val="t"/>
      <c:overlay val="0"/>
      <c:txPr>
        <a:bodyPr/>
        <a:lstStyle/>
        <a:p>
          <a:pPr>
            <a:defRPr sz="1200"/>
          </a:pPr>
        </a:p>
      </c:txPr>
    </c:legend>
    <c:dispBlanksAs val="gap"/>
  </c:chart>
  <c:txPr>
    <a:bodyPr/>
    <a:lstStyle/>
    <a:p>
      <a:pPr>
        <a:defRPr sz="1200">
          <a:solidFill>
            <a:srgbClr val="1F2433"/>
          </a:solidFill>
          <a:latin typeface="Calibri"/>
        </a:defRPr>
      </a:pPr>
      <a:endParaRPr lang="en-US"/>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varyColors val="0"/>
        <c:ser>
          <c:idx val="0"/>
          <c:order val="0"/>
          <c:tx>
            <c:strRef>
              <c:f>Sheet1!$B$1</c:f>
              <c:strCache>
                <c:ptCount val="1"/>
                <c:pt idx="0">
                  <c:v>RMSE increase</c:v>
                </c:pt>
              </c:strCache>
            </c:strRef>
          </c:tx>
          <c:spPr>
            <a:solidFill>
              <a:srgbClr val="141B2D"/>
            </a:solidFill>
          </c:spPr>
          <c:dPt>
            <c:idx val="1"/>
            <c:spPr>
              <a:solidFill>
                <a:srgbClr val="EB6A35"/>
              </a:solidFill>
            </c:spPr>
          </c:dPt>
          <c:dPt>
            <c:idx val="2"/>
            <c:spPr>
              <a:solidFill>
                <a:srgbClr val="9AA3B2"/>
              </a:solidFill>
            </c:spPr>
          </c:dPt>
          <c:cat>
            <c:strRef>
              <c:f>Sheet1!$A$2:$A$4</c:f>
              <c:strCache>
                <c:ptCount val="3"/>
                <c:pt idx="0">
                  <c:v>Controls (9)</c:v>
                </c:pt>
                <c:pt idx="1">
                  <c:v>Emission (13)</c:v>
                </c:pt>
                <c:pt idx="2">
                  <c:v>Static (10)</c:v>
                </c:pt>
              </c:strCache>
            </c:strRef>
          </c:cat>
          <c:val>
            <c:numRef>
              <c:f>Sheet1!$B$2:$B$4</c:f>
              <c:numCache>
                <c:formatCode>General</c:formatCode>
                <c:ptCount val="3"/>
                <c:pt idx="0">
                  <c:v>0.031</c:v>
                </c:pt>
                <c:pt idx="1">
                  <c:v>0.01</c:v>
                </c:pt>
                <c:pt idx="2">
                  <c:v>0.005</c:v>
                </c:pt>
              </c:numCache>
            </c:numRef>
          </c:val>
        </c:ser>
        <c:dLbls>
          <c:numFmt formatCode="0.000" sourceLinked="0"/>
          <c:txPr>
            <a:bodyPr/>
            <a:lstStyle/>
            <a:p>
              <a:pPr>
                <a:defRPr sz="1200"/>
              </a:pPr>
            </a:p>
          </c:txPr>
          <c:dLblPos val="outEnd"/>
          <c:showLegendKey val="0"/>
          <c:showVal val="1"/>
          <c:showCatName val="0"/>
          <c:showSerName val="0"/>
          <c:showPercent val="0"/>
          <c:showBubbleSize val="0"/>
          <c:showLeaderLines val="1"/>
        </c:dLbls>
        <c:gapWidth val="55"/>
        <c:axId val="-2068027336"/>
        <c:axId val="-2113994440"/>
      </c:barChart>
      <c:catAx>
        <c:axId val="-2068027336"/>
        <c:scaling>
          <c:orientation val="maxMin"/>
        </c:scaling>
        <c:delete val="0"/>
        <c:axPos val="l"/>
        <c:majorTickMark val="out"/>
        <c:minorTickMark val="none"/>
        <c:tickLblPos val="nextTo"/>
        <c:spPr>
          <a:ln>
            <a:solidFill>
              <a:srgbClr val="D9DDE3"/>
            </a:solidFill>
          </a:ln>
        </c:spPr>
        <c:txPr>
          <a:bodyPr/>
          <a:lstStyle/>
          <a:p>
            <a:pPr>
              <a:defRPr sz="1200"/>
            </a:pPr>
          </a:p>
        </c:txPr>
        <c:crossAx val="-2113994440"/>
        <c:crosses val="autoZero"/>
        <c:auto val="1"/>
        <c:lblAlgn val="ctr"/>
        <c:lblOffset val="100"/>
        <c:noMultiLvlLbl val="0"/>
      </c:catAx>
      <c:valAx>
        <c:axId val="-2113994440"/>
        <c:scaling>
          <c:max val="0.036"/>
          <c:min val="0.0"/>
        </c:scaling>
        <c:delete val="0"/>
        <c:axPos val="b"/>
        <c:majorGridlines>
          <c:spPr>
            <a:ln>
              <a:solidFill>
                <a:srgbClr val="D9DDE3"/>
              </a:solidFill>
            </a:ln>
          </c:spPr>
        </c:majorGridlines>
        <c:numFmt formatCode="0.000" sourceLinked="0"/>
        <c:majorTickMark val="out"/>
        <c:minorTickMark val="none"/>
        <c:tickLblPos val="nextTo"/>
        <c:spPr>
          <a:ln>
            <a:noFill/>
          </a:ln>
        </c:spPr>
        <c:txPr>
          <a:bodyPr/>
          <a:lstStyle/>
          <a:p>
            <a:pPr>
              <a:defRPr sz="1100">
                <a:solidFill>
                  <a:srgbClr val="6B7280"/>
                </a:solidFill>
              </a:defRPr>
            </a:pPr>
          </a:p>
        </c:txPr>
        <c:crossAx val="-2068027336"/>
        <c:crosses val="autoZero"/>
      </c:valAx>
    </c:plotArea>
    <c:dispBlanksAs val="gap"/>
  </c:chart>
  <c:txPr>
    <a:bodyPr/>
    <a:lstStyle/>
    <a:p>
      <a:pPr>
        <a:defRPr sz="1200">
          <a:solidFill>
            <a:srgbClr val="1F2433"/>
          </a:solidFill>
          <a:latin typeface="Calibri"/>
        </a:defRPr>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[Member 1]</a:t>
            </a:r>
          </a:p>
          <a:p/>
          <a:p>
            <a:r>
              <a:t>Introduce the group and the question in one sentence: crypto tokens publish their unlock calendars in advance; we test whether that calendar helps forecast how volatile a token will be over the next two weeks, beyond what its recent volatility already tells us.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[Member 1]</a:t>
            </a:r>
          </a:p>
          <a:p/>
          <a:p>
            <a:r>
              <a:t>Explain vesting: most of a token's supply is locked at launch and released on a published schedule. The market narrative is that unlocks bring new sellers and so more volatility. Because the schedule is public in advance it is a legitimate forward-looking input, which is rare in forecasting. But volatility is very persistent, so any new feature has a high bar to clear.</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[Member 1]</a:t>
            </a:r>
          </a:p>
          <a:p/>
          <a:p>
            <a:r>
              <a:t>Every model is trained twice with the same rows, folds and tuning grid: once on the nine controls and once with the 23 unlock and static features added. The difference in out-of-sample R squared is the finding. We decided up front that a null result is a valid result and we did not tune to change it.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[Member 1]</a:t>
            </a:r>
          </a:p>
          <a:p/>
          <a:p>
            <a:r>
              <a:t>Two real sources: Binance daily candles for prices and Tokenomist for unlock schedules and allocations. One row per token per day from September 2024 to August 2026. Every feature is known at the close of the day; the only forward-looking inputs are the published schedule columns. One caveat: schedules are the version curated on our pull date, so later revisions are back-filled.</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[Member 1]</a:t>
            </a:r>
          </a:p>
          <a:p/>
          <a:p>
            <a:r>
              <a:t>This is the hook: unconditionally, there is a relationship. Forward volatility climbs from about 0.97 in the lowest unlock decile to 1.14 in the highest, and the correlation is positive for three quarters of tokens. But heavy-unlock tokens are young, small and already volatile, so the question is whether this survives once trailing volatility is in the model.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[Member 2]</a:t>
            </a:r>
          </a:p>
          <a:p/>
          <a:p>
            <a:r>
              <a:t>Five folds cut by calendar date, all tokens pooled. Training expands; a 30-day embargo separates train from test because the target looks 14 days ahead. Inside each fold the last 90 days of training are the validation slice used for tuning; the winner is refit on all training data and scored once on the next 90 days. Scalers live inside the sklearn pipeline, so nothing is fit on test data.</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[Member 2]</a:t>
            </a:r>
          </a:p>
          <a:p/>
          <a:p>
            <a:r>
              <a:t>Each model sees identical rows, folds and features. KNN tests a local, similarity-based view; Random Forest can find non-linear effects and interactions, for example unlocks mattering only in calm markets; Ridge and Elastic Net are strong linear benchmarks, and Elastic Net can drop features entirely; logistic regression re-asks the question as classifying high-volatility events. Note what tuning chose: very large neighbourhoods, large leaves and strong penalties, all signs of a noisy target.</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[Member 2]</a:t>
            </a:r>
          </a:p>
          <a:p/>
          <a:p>
            <a:r>
              <a:t>Read the chart pair by pair: blue is controls only, orange adds the unlock and static features. Every model clears the training-mean benchmark of 0.17 and the persistence benchmark of zero. But within each pair the bars are almost identical. Ridge on controls alone is as good as anything we built.</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[Member 2]</a:t>
            </a:r>
          </a:p>
          <a:p/>
          <a:p>
            <a:r>
              <a:t>This is the per-fold paired difference. For the Random Forest the unlock block helps in the two oldest folds and hurts in the three most recent, which are trained on the most data. KNN swings even more. Linear models barely move because they shrink the unlock coefficients to almost zero. Meanwhile R squared itself varies by about 0.15 from fold to fold, so a difference of 0.006 is far inside the noise.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[Member 3]</a:t>
            </a:r>
          </a:p>
          <a:p/>
          <a:p>
            <a:r>
              <a:t>We pool all test rows and ask where the errors are. If unlock features carried signal, FULL should beat CONTROLS where more than 5% of the float unlocks, or where a cliff is two weeks away. The opposite happens: positive bars mean adding unlock features made the forecast worse. What remains is regression to the mean: too high for tokens that turn calm, too low for tokens that spike. The models' real gain over persistence is fewer large misses.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[Member 3]</a:t>
            </a:r>
          </a:p>
          <a:p/>
          <a:p>
            <a:r>
              <a:t>We explain each model with the tool that suits it. Random Forest permutation importance: shuffling all controls costs three times more test RMSE than shuffling all 13 emission features, and partial dependence on unlock pressure is flat. Coefficients: the largest unlock coefficient is positive, as the narrative says, but five times smaller than trailing volatility, and Elastic Net drops everything in two folds. A shallow tree never splits on an unlock feature. Neighbours: for the most unlock-heavy token-day there is no comparable history, so KNN falls back on trailing volatility.</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[Member 3]</a:t>
            </a:r>
          </a:p>
          <a:p/>
          <a:p>
            <a:r>
              <a:t>Same question as classification. The model on controls does pick out high-volatility tokens better than just ranking by recent volatility, AUC 0.69 against 0.65. Adding unlock features lowers AUC, PR-AUC and the Brier skill score for both events, on both panels.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[Member 3]</a:t>
            </a:r>
          </a:p>
          <a:p/>
          <a:p>
            <a:r>
              <a:t>We re-ran the comparison on the weekly panel, on three alternative volatility targets and on the tokens Tokenomist curates by hand, where schedules should be most accurate. The largest gain anywhere is +0.017, for the Random Forest on the curated subsample, still about a tenth of the fold-to-fold spread. Ridge on the Parkinson target is the only case that wins all five folds, by 0.011.</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[Member 3]</a:t>
            </a:r>
          </a:p>
          <a:p/>
          <a:p>
            <a:r>
              <a:t>Translate the errors into volatility points. The typical error is large for every forecast, and on the median the model is no better than persistence. What it does buy is fewer forecasts that are off by a factor of two, which is what matters for margin and position limits. Unlock features add nothing to that and cost a data subscription and a maintenance pipeline, so our recommendation to a risk desk is not to pay for them as a volatility input, and to keep a human in the loop for the cases on the right.</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[Member 3]</a:t>
            </a:r>
          </a:p>
          <a:p/>
          <a:p>
            <a:r>
              <a:t>State the answer plainly: once you know a token's recent volatility and the market regime, its unlock calendar does not help forecast the next two weeks. Give the interpretation: the unconditional correlation comes from young, volatile tokens having big unlocks. Practical takeaway: do not bump a volatility forecast just because an unlock is coming.</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[Member 3]</a:t>
            </a:r>
          </a:p>
          <a:p/>
          <a:p>
            <a:r>
              <a:t>Be upfront: one regime, and schedule revisions are back-filled, which if anything flatters the unlock features and so makes our null stronger. The natural next study is an event study around the largest cliff unlocks with intraday data, where an effect, if any, would be concentrated.</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All members: take questions. Each member should be ready to answer on the model they built.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 Id="rId3"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 Id="rId3" Type="http://schemas.openxmlformats.org/officeDocument/2006/relationships/chart" Target="../charts/char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 Id="rId3" Type="http://schemas.openxmlformats.org/officeDocument/2006/relationships/chart" Target="../charts/char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 Id="rId3" Type="http://schemas.openxmlformats.org/officeDocument/2006/relationships/chart" Target="../charts/chart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 Id="rId3" Type="http://schemas.openxmlformats.org/officeDocument/2006/relationships/chart" Target="../charts/chart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 Id="rId3" Type="http://schemas.openxmlformats.org/officeDocument/2006/relationships/image" Target="../media/image2.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41B2D"/>
        </a:solidFill>
        <a:effectLst/>
      </p:bgPr>
    </p:bg>
    <p:spTree>
      <p:nvGrpSpPr>
        <p:cNvPr id="1" name=""/>
        <p:cNvGrpSpPr/>
        <p:nvPr/>
      </p:nvGrpSpPr>
      <p:grpSpPr/>
      <p:sp>
        <p:nvSpPr>
          <p:cNvPr id="2" name="TextBox 1"/>
          <p:cNvSpPr txBox="1"/>
          <p:nvPr/>
        </p:nvSpPr>
        <p:spPr>
          <a:xfrm>
            <a:off x="731520" y="1097280"/>
            <a:ext cx="10058400" cy="365760"/>
          </a:xfrm>
          <a:prstGeom prst="rect">
            <a:avLst/>
          </a:prstGeom>
          <a:noFill/>
        </p:spPr>
        <p:txBody>
          <a:bodyPr wrap="square" lIns="0" rIns="0" tIns="0" bIns="0" anchor="t">
            <a:spAutoFit/>
          </a:bodyPr>
          <a:lstStyle/>
          <a:p>
            <a:pPr algn="l"/>
            <a:r>
              <a:rPr sz="1400" b="1" i="0">
                <a:solidFill>
                  <a:srgbClr val="EB6A35"/>
                </a:solidFill>
                <a:latin typeface="Calibri"/>
              </a:rPr>
              <a:t>MH6805 MACHINE LEARNING IN FINANCE  |  GROUP 7</a:t>
            </a:r>
          </a:p>
        </p:txBody>
      </p:sp>
      <p:sp>
        <p:nvSpPr>
          <p:cNvPr id="3" name="TextBox 2"/>
          <p:cNvSpPr txBox="1"/>
          <p:nvPr/>
        </p:nvSpPr>
        <p:spPr>
          <a:xfrm>
            <a:off x="731520" y="1737360"/>
            <a:ext cx="10515600" cy="2011680"/>
          </a:xfrm>
          <a:prstGeom prst="rect">
            <a:avLst/>
          </a:prstGeom>
          <a:noFill/>
        </p:spPr>
        <p:txBody>
          <a:bodyPr wrap="square" lIns="0" rIns="0" tIns="0" bIns="0" anchor="t">
            <a:spAutoFit/>
          </a:bodyPr>
          <a:lstStyle/>
          <a:p>
            <a:pPr algn="l"/>
            <a:r>
              <a:rPr sz="4600" b="1" i="0">
                <a:solidFill>
                  <a:srgbClr val="FFFFFF"/>
                </a:solidFill>
                <a:latin typeface="Cambria"/>
              </a:rPr>
              <a:t>Do scheduled token unlocks help forecast crypto volatility?</a:t>
            </a:r>
          </a:p>
        </p:txBody>
      </p:sp>
      <p:sp>
        <p:nvSpPr>
          <p:cNvPr id="4" name="TextBox 3"/>
          <p:cNvSpPr txBox="1"/>
          <p:nvPr/>
        </p:nvSpPr>
        <p:spPr>
          <a:xfrm>
            <a:off x="731520" y="3886200"/>
            <a:ext cx="10058400" cy="548640"/>
          </a:xfrm>
          <a:prstGeom prst="rect">
            <a:avLst/>
          </a:prstGeom>
          <a:noFill/>
        </p:spPr>
        <p:txBody>
          <a:bodyPr wrap="square" lIns="0" rIns="0" tIns="0" bIns="0" anchor="t">
            <a:spAutoFit/>
          </a:bodyPr>
          <a:lstStyle/>
          <a:p>
            <a:pPr algn="l"/>
            <a:r>
              <a:rPr sz="2000" b="0" i="0">
                <a:solidFill>
                  <a:srgbClr val="C9D3E6"/>
                </a:solidFill>
                <a:latin typeface="Calibri"/>
              </a:rPr>
              <a:t>Walk-forward evidence from 176 tokens and five machine-learning models</a:t>
            </a:r>
          </a:p>
        </p:txBody>
      </p:sp>
      <p:sp>
        <p:nvSpPr>
          <p:cNvPr id="5" name="TextBox 4"/>
          <p:cNvSpPr txBox="1"/>
          <p:nvPr/>
        </p:nvSpPr>
        <p:spPr>
          <a:xfrm>
            <a:off x="731520" y="5212080"/>
            <a:ext cx="10058400" cy="365760"/>
          </a:xfrm>
          <a:prstGeom prst="rect">
            <a:avLst/>
          </a:prstGeom>
          <a:noFill/>
        </p:spPr>
        <p:txBody>
          <a:bodyPr wrap="square" lIns="0" rIns="0" tIns="0" bIns="0" anchor="t">
            <a:spAutoFit/>
          </a:bodyPr>
          <a:lstStyle/>
          <a:p>
            <a:pPr algn="l"/>
            <a:r>
              <a:rPr sz="1600" b="1" i="0">
                <a:solidFill>
                  <a:srgbClr val="FF9F80"/>
                </a:solidFill>
                <a:latin typeface="Calibri"/>
              </a:rPr>
              <a:t>[Member 1]   [Member 2]   [Member 3]</a:t>
            </a:r>
          </a:p>
        </p:txBody>
      </p:sp>
      <p:sp>
        <p:nvSpPr>
          <p:cNvPr id="6" name="TextBox 5"/>
          <p:cNvSpPr txBox="1"/>
          <p:nvPr/>
        </p:nvSpPr>
        <p:spPr>
          <a:xfrm>
            <a:off x="731520" y="5623560"/>
            <a:ext cx="10058400" cy="365760"/>
          </a:xfrm>
          <a:prstGeom prst="rect">
            <a:avLst/>
          </a:prstGeom>
          <a:noFill/>
        </p:spPr>
        <p:txBody>
          <a:bodyPr wrap="square" lIns="0" rIns="0" tIns="0" bIns="0" anchor="t">
            <a:spAutoFit/>
          </a:bodyPr>
          <a:lstStyle/>
          <a:p>
            <a:pPr algn="l"/>
            <a:r>
              <a:rPr sz="1400" b="0" i="0">
                <a:solidFill>
                  <a:srgbClr val="C9D3E6"/>
                </a:solidFill>
                <a:latin typeface="Calibri"/>
              </a:rPr>
              <a:t>[Presentation date]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548640" y="320040"/>
            <a:ext cx="11064240" cy="274320"/>
          </a:xfrm>
          <a:prstGeom prst="rect">
            <a:avLst/>
          </a:prstGeom>
          <a:noFill/>
        </p:spPr>
        <p:txBody>
          <a:bodyPr wrap="square" lIns="0" rIns="0" tIns="0" bIns="0" anchor="t">
            <a:spAutoFit/>
          </a:bodyPr>
          <a:lstStyle/>
          <a:p>
            <a:pPr algn="l"/>
            <a:r>
              <a:rPr sz="1200" b="1" i="0">
                <a:solidFill>
                  <a:srgbClr val="EB6A35"/>
                </a:solidFill>
                <a:latin typeface="Calibri"/>
              </a:rPr>
              <a:t>MOTIVATION</a:t>
            </a:r>
          </a:p>
        </p:txBody>
      </p:sp>
      <p:sp>
        <p:nvSpPr>
          <p:cNvPr id="3" name="Title"/>
          <p:cNvSpPr txBox="1"/>
          <p:nvPr/>
        </p:nvSpPr>
        <p:spPr>
          <a:xfrm>
            <a:off x="548640" y="594360"/>
            <a:ext cx="11064240" cy="822960"/>
          </a:xfrm>
          <a:prstGeom prst="rect">
            <a:avLst/>
          </a:prstGeom>
          <a:noFill/>
        </p:spPr>
        <p:txBody>
          <a:bodyPr wrap="square" lIns="0" rIns="0" tIns="0" bIns="0" anchor="t">
            <a:spAutoFit/>
          </a:bodyPr>
          <a:lstStyle/>
          <a:p>
            <a:pPr algn="l"/>
            <a:r>
              <a:rPr sz="3200" b="1" i="0">
                <a:solidFill>
                  <a:srgbClr val="1F2433"/>
                </a:solidFill>
                <a:latin typeface="Cambria"/>
              </a:rPr>
              <a:t>Unlocks are widely watched as volatility events</a:t>
            </a:r>
          </a:p>
        </p:txBody>
      </p:sp>
      <p:sp>
        <p:nvSpPr>
          <p:cNvPr id="4" name="Footer"/>
          <p:cNvSpPr txBox="1"/>
          <p:nvPr/>
        </p:nvSpPr>
        <p:spPr>
          <a:xfrm>
            <a:off x="548640" y="6400800"/>
            <a:ext cx="7315200" cy="274320"/>
          </a:xfrm>
          <a:prstGeom prst="rect">
            <a:avLst/>
          </a:prstGeom>
          <a:noFill/>
        </p:spPr>
        <p:txBody>
          <a:bodyPr wrap="square" lIns="0" rIns="0" tIns="0" bIns="0" anchor="t">
            <a:spAutoFit/>
          </a:bodyPr>
          <a:lstStyle/>
          <a:p>
            <a:pPr algn="l"/>
            <a:r>
              <a:rPr sz="1000" b="0" i="0">
                <a:solidFill>
                  <a:srgbClr val="6B7280"/>
                </a:solidFill>
                <a:latin typeface="Calibri"/>
              </a:rPr>
              <a:t>MH6805 Group 7  |  Token unlocks and forward volatility</a:t>
            </a:r>
          </a:p>
        </p:txBody>
      </p:sp>
      <p:sp>
        <p:nvSpPr>
          <p:cNvPr id="5" name="Slide number"/>
          <p:cNvSpPr txBox="1"/>
          <p:nvPr/>
        </p:nvSpPr>
        <p:spPr>
          <a:xfrm>
            <a:off x="10241280" y="6400800"/>
            <a:ext cx="1399032" cy="274320"/>
          </a:xfrm>
          <a:prstGeom prst="rect">
            <a:avLst/>
          </a:prstGeom>
          <a:noFill/>
        </p:spPr>
        <p:txBody>
          <a:bodyPr wrap="square" lIns="0" rIns="0" tIns="0" bIns="0" anchor="t">
            <a:spAutoFit/>
          </a:bodyPr>
          <a:lstStyle/>
          <a:p>
            <a:pPr algn="r"/>
            <a:r>
              <a:rPr sz="1000" b="0" i="0">
                <a:solidFill>
                  <a:srgbClr val="6B7280"/>
                </a:solidFill>
                <a:latin typeface="Calibri"/>
              </a:rPr>
              <a:t>2</a:t>
            </a:r>
          </a:p>
        </p:txBody>
      </p:sp>
      <p:sp>
        <p:nvSpPr>
          <p:cNvPr id="6" name="Step card 1"/>
          <p:cNvSpPr/>
          <p:nvPr/>
        </p:nvSpPr>
        <p:spPr>
          <a:xfrm>
            <a:off x="548640" y="1828800"/>
            <a:ext cx="2606040" cy="3566160"/>
          </a:xfrm>
          <a:prstGeom prst="roundRect">
            <a:avLst>
              <a:gd name="adj" fmla="val 8000"/>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822959" y="2103120"/>
            <a:ext cx="548640" cy="548640"/>
          </a:xfrm>
          <a:prstGeom prst="ellipse">
            <a:avLst/>
          </a:prstGeom>
          <a:solidFill>
            <a:srgbClr val="141B2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800" b="1">
                <a:solidFill>
                  <a:srgbClr val="FFFFFF"/>
                </a:solidFill>
                <a:latin typeface="Calibri"/>
              </a:rPr>
              <a:t>1</a:t>
            </a:r>
          </a:p>
        </p:txBody>
      </p:sp>
      <p:sp>
        <p:nvSpPr>
          <p:cNvPr id="8" name="TextBox 7"/>
          <p:cNvSpPr txBox="1"/>
          <p:nvPr/>
        </p:nvSpPr>
        <p:spPr>
          <a:xfrm>
            <a:off x="822959" y="2880360"/>
            <a:ext cx="2103120" cy="731520"/>
          </a:xfrm>
          <a:prstGeom prst="rect">
            <a:avLst/>
          </a:prstGeom>
          <a:noFill/>
        </p:spPr>
        <p:txBody>
          <a:bodyPr wrap="square" lIns="0" rIns="0" tIns="0" bIns="0" anchor="t">
            <a:spAutoFit/>
          </a:bodyPr>
          <a:lstStyle/>
          <a:p>
            <a:pPr algn="l"/>
            <a:r>
              <a:rPr sz="1900" b="1" i="0">
                <a:solidFill>
                  <a:srgbClr val="1F2433"/>
                </a:solidFill>
                <a:latin typeface="Cambria"/>
              </a:rPr>
              <a:t>Supply is locked</a:t>
            </a:r>
          </a:p>
        </p:txBody>
      </p:sp>
      <p:sp>
        <p:nvSpPr>
          <p:cNvPr id="9" name="TextBox 8"/>
          <p:cNvSpPr txBox="1"/>
          <p:nvPr/>
        </p:nvSpPr>
        <p:spPr>
          <a:xfrm>
            <a:off x="822959" y="3657600"/>
            <a:ext cx="2103120" cy="1645920"/>
          </a:xfrm>
          <a:prstGeom prst="rect">
            <a:avLst/>
          </a:prstGeom>
          <a:noFill/>
        </p:spPr>
        <p:txBody>
          <a:bodyPr wrap="square" lIns="0" rIns="0" tIns="0" bIns="0" anchor="t">
            <a:spAutoFit/>
          </a:bodyPr>
          <a:lstStyle/>
          <a:p>
            <a:pPr algn="l"/>
            <a:r>
              <a:rPr sz="1500" b="0" i="0">
                <a:solidFill>
                  <a:srgbClr val="6B7280"/>
                </a:solidFill>
                <a:latin typeface="Calibri"/>
              </a:rPr>
              <a:t>Team, investor and ecosystem allocations vest over months or years</a:t>
            </a:r>
          </a:p>
        </p:txBody>
      </p:sp>
      <p:sp>
        <p:nvSpPr>
          <p:cNvPr id="10" name="Step card 2"/>
          <p:cNvSpPr/>
          <p:nvPr/>
        </p:nvSpPr>
        <p:spPr>
          <a:xfrm>
            <a:off x="3364992" y="1828800"/>
            <a:ext cx="2606040" cy="3566160"/>
          </a:xfrm>
          <a:prstGeom prst="roundRect">
            <a:avLst>
              <a:gd name="adj" fmla="val 8000"/>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3639312" y="2103120"/>
            <a:ext cx="548640" cy="548640"/>
          </a:xfrm>
          <a:prstGeom prst="ellipse">
            <a:avLst/>
          </a:prstGeom>
          <a:solidFill>
            <a:srgbClr val="141B2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800" b="1">
                <a:solidFill>
                  <a:srgbClr val="FFFFFF"/>
                </a:solidFill>
                <a:latin typeface="Calibri"/>
              </a:rPr>
              <a:t>2</a:t>
            </a:r>
          </a:p>
        </p:txBody>
      </p:sp>
      <p:sp>
        <p:nvSpPr>
          <p:cNvPr id="12" name="TextBox 11"/>
          <p:cNvSpPr txBox="1"/>
          <p:nvPr/>
        </p:nvSpPr>
        <p:spPr>
          <a:xfrm>
            <a:off x="3639312" y="2880360"/>
            <a:ext cx="2103120" cy="731520"/>
          </a:xfrm>
          <a:prstGeom prst="rect">
            <a:avLst/>
          </a:prstGeom>
          <a:noFill/>
        </p:spPr>
        <p:txBody>
          <a:bodyPr wrap="square" lIns="0" rIns="0" tIns="0" bIns="0" anchor="t">
            <a:spAutoFit/>
          </a:bodyPr>
          <a:lstStyle/>
          <a:p>
            <a:pPr algn="l"/>
            <a:r>
              <a:rPr sz="1900" b="1" i="0">
                <a:solidFill>
                  <a:srgbClr val="1F2433"/>
                </a:solidFill>
                <a:latin typeface="Cambria"/>
              </a:rPr>
              <a:t>Schedule is public</a:t>
            </a:r>
          </a:p>
        </p:txBody>
      </p:sp>
      <p:sp>
        <p:nvSpPr>
          <p:cNvPr id="13" name="TextBox 12"/>
          <p:cNvSpPr txBox="1"/>
          <p:nvPr/>
        </p:nvSpPr>
        <p:spPr>
          <a:xfrm>
            <a:off x="3639312" y="3657600"/>
            <a:ext cx="2103120" cy="1645920"/>
          </a:xfrm>
          <a:prstGeom prst="rect">
            <a:avLst/>
          </a:prstGeom>
          <a:noFill/>
        </p:spPr>
        <p:txBody>
          <a:bodyPr wrap="square" lIns="0" rIns="0" tIns="0" bIns="0" anchor="t">
            <a:spAutoFit/>
          </a:bodyPr>
          <a:lstStyle/>
          <a:p>
            <a:pPr algn="l"/>
            <a:r>
              <a:rPr sz="1500" b="0" i="0">
                <a:solidFill>
                  <a:srgbClr val="6B7280"/>
                </a:solidFill>
                <a:latin typeface="Calibri"/>
              </a:rPr>
              <a:t>Unlock dates and sizes are published in advance (Tokenomist tracks 176 of our tokens)</a:t>
            </a:r>
          </a:p>
        </p:txBody>
      </p:sp>
      <p:sp>
        <p:nvSpPr>
          <p:cNvPr id="14" name="Step card 3"/>
          <p:cNvSpPr/>
          <p:nvPr/>
        </p:nvSpPr>
        <p:spPr>
          <a:xfrm>
            <a:off x="6181344" y="1828800"/>
            <a:ext cx="2606040" cy="3566160"/>
          </a:xfrm>
          <a:prstGeom prst="roundRect">
            <a:avLst>
              <a:gd name="adj" fmla="val 8000"/>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6455664" y="2103120"/>
            <a:ext cx="548640" cy="548640"/>
          </a:xfrm>
          <a:prstGeom prst="ellipse">
            <a:avLst/>
          </a:prstGeom>
          <a:solidFill>
            <a:srgbClr val="141B2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800" b="1">
                <a:solidFill>
                  <a:srgbClr val="FFFFFF"/>
                </a:solidFill>
                <a:latin typeface="Calibri"/>
              </a:rPr>
              <a:t>3</a:t>
            </a:r>
          </a:p>
        </p:txBody>
      </p:sp>
      <p:sp>
        <p:nvSpPr>
          <p:cNvPr id="16" name="TextBox 15"/>
          <p:cNvSpPr txBox="1"/>
          <p:nvPr/>
        </p:nvSpPr>
        <p:spPr>
          <a:xfrm>
            <a:off x="6455664" y="2880360"/>
            <a:ext cx="2103120" cy="731520"/>
          </a:xfrm>
          <a:prstGeom prst="rect">
            <a:avLst/>
          </a:prstGeom>
          <a:noFill/>
        </p:spPr>
        <p:txBody>
          <a:bodyPr wrap="square" lIns="0" rIns="0" tIns="0" bIns="0" anchor="t">
            <a:spAutoFit/>
          </a:bodyPr>
          <a:lstStyle/>
          <a:p>
            <a:pPr algn="l"/>
            <a:r>
              <a:rPr sz="1900" b="1" i="0">
                <a:solidFill>
                  <a:srgbClr val="1F2433"/>
                </a:solidFill>
                <a:latin typeface="Cambria"/>
              </a:rPr>
              <a:t>Narrative: more sellers</a:t>
            </a:r>
          </a:p>
        </p:txBody>
      </p:sp>
      <p:sp>
        <p:nvSpPr>
          <p:cNvPr id="17" name="TextBox 16"/>
          <p:cNvSpPr txBox="1"/>
          <p:nvPr/>
        </p:nvSpPr>
        <p:spPr>
          <a:xfrm>
            <a:off x="6455664" y="3657600"/>
            <a:ext cx="2103120" cy="1645920"/>
          </a:xfrm>
          <a:prstGeom prst="rect">
            <a:avLst/>
          </a:prstGeom>
          <a:noFill/>
        </p:spPr>
        <p:txBody>
          <a:bodyPr wrap="square" lIns="0" rIns="0" tIns="0" bIns="0" anchor="t">
            <a:spAutoFit/>
          </a:bodyPr>
          <a:lstStyle/>
          <a:p>
            <a:pPr algn="l"/>
            <a:r>
              <a:rPr sz="1500" b="0" i="0">
                <a:solidFill>
                  <a:srgbClr val="6B7280"/>
                </a:solidFill>
                <a:latin typeface="Calibri"/>
              </a:rPr>
              <a:t>New supply reaches holders who may sell, so traders expect price swings</a:t>
            </a:r>
          </a:p>
        </p:txBody>
      </p:sp>
      <p:sp>
        <p:nvSpPr>
          <p:cNvPr id="18" name="Step card 4"/>
          <p:cNvSpPr/>
          <p:nvPr/>
        </p:nvSpPr>
        <p:spPr>
          <a:xfrm>
            <a:off x="8997696" y="1828800"/>
            <a:ext cx="2606040" cy="3566160"/>
          </a:xfrm>
          <a:prstGeom prst="roundRect">
            <a:avLst>
              <a:gd name="adj" fmla="val 8000"/>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272016" y="2103120"/>
            <a:ext cx="548640" cy="548640"/>
          </a:xfrm>
          <a:prstGeom prst="ellipse">
            <a:avLst/>
          </a:prstGeom>
          <a:solidFill>
            <a:srgbClr val="EB6A3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800" b="1">
                <a:solidFill>
                  <a:srgbClr val="FFFFFF"/>
                </a:solidFill>
                <a:latin typeface="Calibri"/>
              </a:rPr>
              <a:t>4</a:t>
            </a:r>
          </a:p>
        </p:txBody>
      </p:sp>
      <p:sp>
        <p:nvSpPr>
          <p:cNvPr id="20" name="TextBox 19"/>
          <p:cNvSpPr txBox="1"/>
          <p:nvPr/>
        </p:nvSpPr>
        <p:spPr>
          <a:xfrm>
            <a:off x="9272016" y="2880360"/>
            <a:ext cx="2103120" cy="731520"/>
          </a:xfrm>
          <a:prstGeom prst="rect">
            <a:avLst/>
          </a:prstGeom>
          <a:noFill/>
        </p:spPr>
        <p:txBody>
          <a:bodyPr wrap="square" lIns="0" rIns="0" tIns="0" bIns="0" anchor="t">
            <a:spAutoFit/>
          </a:bodyPr>
          <a:lstStyle/>
          <a:p>
            <a:pPr algn="l"/>
            <a:r>
              <a:rPr sz="1900" b="1" i="0">
                <a:solidFill>
                  <a:srgbClr val="1F2433"/>
                </a:solidFill>
                <a:latin typeface="Cambria"/>
              </a:rPr>
              <a:t>But volatility persists</a:t>
            </a:r>
          </a:p>
        </p:txBody>
      </p:sp>
      <p:sp>
        <p:nvSpPr>
          <p:cNvPr id="21" name="TextBox 20"/>
          <p:cNvSpPr txBox="1"/>
          <p:nvPr/>
        </p:nvSpPr>
        <p:spPr>
          <a:xfrm>
            <a:off x="9272016" y="3657600"/>
            <a:ext cx="2103120" cy="1645920"/>
          </a:xfrm>
          <a:prstGeom prst="rect">
            <a:avLst/>
          </a:prstGeom>
          <a:noFill/>
        </p:spPr>
        <p:txBody>
          <a:bodyPr wrap="square" lIns="0" rIns="0" tIns="0" bIns="0" anchor="t">
            <a:spAutoFit/>
          </a:bodyPr>
          <a:lstStyle/>
          <a:p>
            <a:pPr algn="l"/>
            <a:r>
              <a:rPr sz="1500" b="0" i="0">
                <a:solidFill>
                  <a:srgbClr val="6B7280"/>
                </a:solidFill>
                <a:latin typeface="Calibri"/>
              </a:rPr>
              <a:t>Recent volatility is already a strong forecast, so the bar for a new feature is high</a:t>
            </a:r>
          </a:p>
        </p:txBody>
      </p:sp>
      <p:sp>
        <p:nvSpPr>
          <p:cNvPr id="22" name="TextBox 21"/>
          <p:cNvSpPr txBox="1"/>
          <p:nvPr/>
        </p:nvSpPr>
        <p:spPr>
          <a:xfrm>
            <a:off x="548640" y="5715000"/>
            <a:ext cx="11064240" cy="457200"/>
          </a:xfrm>
          <a:prstGeom prst="rect">
            <a:avLst/>
          </a:prstGeom>
          <a:noFill/>
        </p:spPr>
        <p:txBody>
          <a:bodyPr wrap="square" lIns="0" rIns="0" tIns="0" bIns="0" anchor="t">
            <a:spAutoFit/>
          </a:bodyPr>
          <a:lstStyle/>
          <a:p>
            <a:pPr algn="l"/>
            <a:r>
              <a:rPr sz="1800" b="1" i="0">
                <a:solidFill>
                  <a:srgbClr val="1F2433"/>
                </a:solidFill>
                <a:latin typeface="Calibri"/>
              </a:rPr>
              <a:t>Our question: </a:t>
            </a:r>
            <a:r>
              <a:rPr sz="1800" b="0" i="0">
                <a:solidFill>
                  <a:srgbClr val="1F2433"/>
                </a:solidFill>
                <a:latin typeface="Calibri"/>
              </a:rPr>
              <a:t>does the unlock calendar add forecasting power for 14-day forward volatility </a:t>
            </a:r>
            <a:r>
              <a:rPr sz="1800" b="1" i="0">
                <a:solidFill>
                  <a:srgbClr val="EB6A35"/>
                </a:solidFill>
                <a:latin typeface="Calibri"/>
              </a:rPr>
              <a:t>beyond</a:t>
            </a:r>
            <a:r>
              <a:rPr sz="1800" b="0" i="0">
                <a:solidFill>
                  <a:srgbClr val="1F2433"/>
                </a:solidFill>
                <a:latin typeface="Calibri"/>
              </a:rPr>
              <a:t> volatility persistence and the market regime?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548640" y="320040"/>
            <a:ext cx="11064240" cy="274320"/>
          </a:xfrm>
          <a:prstGeom prst="rect">
            <a:avLst/>
          </a:prstGeom>
          <a:noFill/>
        </p:spPr>
        <p:txBody>
          <a:bodyPr wrap="square" lIns="0" rIns="0" tIns="0" bIns="0" anchor="t">
            <a:spAutoFit/>
          </a:bodyPr>
          <a:lstStyle/>
          <a:p>
            <a:pPr algn="l"/>
            <a:r>
              <a:rPr sz="1200" b="1" i="0">
                <a:solidFill>
                  <a:srgbClr val="EB6A35"/>
                </a:solidFill>
                <a:latin typeface="Calibri"/>
              </a:rPr>
              <a:t>RESEARCH DESIGN</a:t>
            </a:r>
          </a:p>
        </p:txBody>
      </p:sp>
      <p:sp>
        <p:nvSpPr>
          <p:cNvPr id="3" name="Title"/>
          <p:cNvSpPr txBox="1"/>
          <p:nvPr/>
        </p:nvSpPr>
        <p:spPr>
          <a:xfrm>
            <a:off x="548640" y="594360"/>
            <a:ext cx="11064240" cy="822960"/>
          </a:xfrm>
          <a:prstGeom prst="rect">
            <a:avLst/>
          </a:prstGeom>
          <a:noFill/>
        </p:spPr>
        <p:txBody>
          <a:bodyPr wrap="square" lIns="0" rIns="0" tIns="0" bIns="0" anchor="t">
            <a:spAutoFit/>
          </a:bodyPr>
          <a:lstStyle/>
          <a:p>
            <a:pPr algn="l"/>
            <a:r>
              <a:rPr sz="3200" b="1" i="0">
                <a:solidFill>
                  <a:srgbClr val="1F2433"/>
                </a:solidFill>
                <a:latin typeface="Cambria"/>
              </a:rPr>
              <a:t>One paired comparison answers the question</a:t>
            </a:r>
          </a:p>
        </p:txBody>
      </p:sp>
      <p:sp>
        <p:nvSpPr>
          <p:cNvPr id="4" name="Footer"/>
          <p:cNvSpPr txBox="1"/>
          <p:nvPr/>
        </p:nvSpPr>
        <p:spPr>
          <a:xfrm>
            <a:off x="548640" y="6400800"/>
            <a:ext cx="7315200" cy="274320"/>
          </a:xfrm>
          <a:prstGeom prst="rect">
            <a:avLst/>
          </a:prstGeom>
          <a:noFill/>
        </p:spPr>
        <p:txBody>
          <a:bodyPr wrap="square" lIns="0" rIns="0" tIns="0" bIns="0" anchor="t">
            <a:spAutoFit/>
          </a:bodyPr>
          <a:lstStyle/>
          <a:p>
            <a:pPr algn="l"/>
            <a:r>
              <a:rPr sz="1000" b="0" i="0">
                <a:solidFill>
                  <a:srgbClr val="6B7280"/>
                </a:solidFill>
                <a:latin typeface="Calibri"/>
              </a:rPr>
              <a:t>MH6805 Group 7  |  Token unlocks and forward volatility</a:t>
            </a:r>
          </a:p>
        </p:txBody>
      </p:sp>
      <p:sp>
        <p:nvSpPr>
          <p:cNvPr id="5" name="Slide number"/>
          <p:cNvSpPr txBox="1"/>
          <p:nvPr/>
        </p:nvSpPr>
        <p:spPr>
          <a:xfrm>
            <a:off x="10241280" y="6400800"/>
            <a:ext cx="1399032" cy="274320"/>
          </a:xfrm>
          <a:prstGeom prst="rect">
            <a:avLst/>
          </a:prstGeom>
          <a:noFill/>
        </p:spPr>
        <p:txBody>
          <a:bodyPr wrap="square" lIns="0" rIns="0" tIns="0" bIns="0" anchor="t">
            <a:spAutoFit/>
          </a:bodyPr>
          <a:lstStyle/>
          <a:p>
            <a:pPr algn="r"/>
            <a:r>
              <a:rPr sz="1000" b="0" i="0">
                <a:solidFill>
                  <a:srgbClr val="6B7280"/>
                </a:solidFill>
                <a:latin typeface="Calibri"/>
              </a:rPr>
              <a:t>3</a:t>
            </a:r>
          </a:p>
        </p:txBody>
      </p:sp>
      <p:sp>
        <p:nvSpPr>
          <p:cNvPr id="6" name="Controls card"/>
          <p:cNvSpPr/>
          <p:nvPr/>
        </p:nvSpPr>
        <p:spPr>
          <a:xfrm>
            <a:off x="548640" y="1828800"/>
            <a:ext cx="3566160" cy="3383280"/>
          </a:xfrm>
          <a:prstGeom prst="roundRect">
            <a:avLst>
              <a:gd name="adj" fmla="val 8000"/>
            </a:avLst>
          </a:prstGeom>
          <a:solidFill>
            <a:srgbClr val="E6F0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2057400"/>
            <a:ext cx="3108960" cy="457200"/>
          </a:xfrm>
          <a:prstGeom prst="rect">
            <a:avLst/>
          </a:prstGeom>
          <a:noFill/>
        </p:spPr>
        <p:txBody>
          <a:bodyPr wrap="square" lIns="0" rIns="0" tIns="0" bIns="0" anchor="t">
            <a:spAutoFit/>
          </a:bodyPr>
          <a:lstStyle/>
          <a:p>
            <a:pPr algn="l"/>
            <a:r>
              <a:rPr sz="2000" b="1" i="0">
                <a:solidFill>
                  <a:srgbClr val="2B7BD6"/>
                </a:solidFill>
                <a:latin typeface="Cambria"/>
              </a:rPr>
              <a:t>CONTROLS  (9)</a:t>
            </a:r>
          </a:p>
        </p:txBody>
      </p:sp>
      <p:sp>
        <p:nvSpPr>
          <p:cNvPr id="8" name="TextBox 7"/>
          <p:cNvSpPr txBox="1"/>
          <p:nvPr/>
        </p:nvSpPr>
        <p:spPr>
          <a:xfrm>
            <a:off x="822960" y="2606040"/>
            <a:ext cx="3108960" cy="2560320"/>
          </a:xfrm>
          <a:prstGeom prst="rect">
            <a:avLst/>
          </a:prstGeom>
          <a:noFill/>
        </p:spPr>
        <p:txBody>
          <a:bodyPr wrap="square" lIns="0" rIns="0" tIns="0" bIns="0" anchor="t">
            <a:spAutoFit/>
          </a:bodyPr>
          <a:lstStyle/>
          <a:p>
            <a:pPr algn="l">
              <a:spcAft>
                <a:spcPts val="800"/>
              </a:spcAft>
            </a:pPr>
            <a:r>
              <a:rPr sz="1500" b="0" i="0">
                <a:solidFill>
                  <a:srgbClr val="1F2433"/>
                </a:solidFill>
                <a:latin typeface="Calibri"/>
              </a:rPr>
              <a:t>Trailing volatility 7, 14, 30d</a:t>
            </a:r>
          </a:p>
          <a:p>
            <a:pPr algn="l">
              <a:spcAft>
                <a:spcPts val="800"/>
              </a:spcAft>
            </a:pPr>
            <a:r>
              <a:rPr sz="1500" b="0" i="0">
                <a:solidFill>
                  <a:srgbClr val="1F2433"/>
                </a:solidFill>
                <a:latin typeface="Calibri"/>
              </a:rPr>
              <a:t>Trailing return 7, 30d</a:t>
            </a:r>
          </a:p>
          <a:p>
            <a:pPr algn="l">
              <a:spcAft>
                <a:spcPts val="800"/>
              </a:spcAft>
            </a:pPr>
            <a:r>
              <a:rPr sz="1500" b="0" i="0">
                <a:solidFill>
                  <a:srgbClr val="1F2433"/>
                </a:solidFill>
                <a:latin typeface="Calibri"/>
              </a:rPr>
              <a:t>BTC and ETH volatility (regime)</a:t>
            </a:r>
          </a:p>
          <a:p>
            <a:pPr algn="l">
              <a:spcAft>
                <a:spcPts val="800"/>
              </a:spcAft>
            </a:pPr>
            <a:r>
              <a:rPr sz="1500" b="0" i="0">
                <a:solidFill>
                  <a:srgbClr val="1F2433"/>
                </a:solidFill>
                <a:latin typeface="Calibri"/>
              </a:rPr>
              <a:t>Log market cap, token age</a:t>
            </a:r>
          </a:p>
        </p:txBody>
      </p:sp>
      <p:sp>
        <p:nvSpPr>
          <p:cNvPr id="9" name="Full card"/>
          <p:cNvSpPr/>
          <p:nvPr/>
        </p:nvSpPr>
        <p:spPr>
          <a:xfrm>
            <a:off x="4343400" y="1828800"/>
            <a:ext cx="3566160" cy="3383280"/>
          </a:xfrm>
          <a:prstGeom prst="roundRect">
            <a:avLst>
              <a:gd name="adj" fmla="val 8000"/>
            </a:avLst>
          </a:prstGeom>
          <a:solidFill>
            <a:srgbClr val="FDEC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617720" y="2057400"/>
            <a:ext cx="3108960" cy="457200"/>
          </a:xfrm>
          <a:prstGeom prst="rect">
            <a:avLst/>
          </a:prstGeom>
          <a:noFill/>
        </p:spPr>
        <p:txBody>
          <a:bodyPr wrap="square" lIns="0" rIns="0" tIns="0" bIns="0" anchor="t">
            <a:spAutoFit/>
          </a:bodyPr>
          <a:lstStyle/>
          <a:p>
            <a:pPr algn="l"/>
            <a:r>
              <a:rPr sz="2000" b="1" i="0">
                <a:solidFill>
                  <a:srgbClr val="EB6A35"/>
                </a:solidFill>
                <a:latin typeface="Cambria"/>
              </a:rPr>
              <a:t>+ UNLOCK &amp; STATIC (23)</a:t>
            </a:r>
          </a:p>
        </p:txBody>
      </p:sp>
      <p:sp>
        <p:nvSpPr>
          <p:cNvPr id="11" name="TextBox 10"/>
          <p:cNvSpPr txBox="1"/>
          <p:nvPr/>
        </p:nvSpPr>
        <p:spPr>
          <a:xfrm>
            <a:off x="4617720" y="2606040"/>
            <a:ext cx="3108960" cy="2560320"/>
          </a:xfrm>
          <a:prstGeom prst="rect">
            <a:avLst/>
          </a:prstGeom>
          <a:noFill/>
        </p:spPr>
        <p:txBody>
          <a:bodyPr wrap="square" lIns="0" rIns="0" tIns="0" bIns="0" anchor="t">
            <a:spAutoFit/>
          </a:bodyPr>
          <a:lstStyle/>
          <a:p>
            <a:pPr algn="l">
              <a:spcAft>
                <a:spcPts val="800"/>
              </a:spcAft>
            </a:pPr>
            <a:r>
              <a:rPr sz="1500" b="0" i="0">
                <a:solidFill>
                  <a:srgbClr val="1F2433"/>
                </a:solidFill>
                <a:latin typeface="Calibri"/>
              </a:rPr>
              <a:t>Share of float unlocking in next 7, 30, 90 days</a:t>
            </a:r>
          </a:p>
          <a:p>
            <a:pPr algn="l">
              <a:spcAft>
                <a:spcPts val="800"/>
              </a:spcAft>
            </a:pPr>
            <a:r>
              <a:rPr sz="1500" b="0" i="0">
                <a:solidFill>
                  <a:srgbClr val="1F2433"/>
                </a:solidFill>
                <a:latin typeface="Calibri"/>
              </a:rPr>
              <a:t>Days to and size of next cliff</a:t>
            </a:r>
          </a:p>
          <a:p>
            <a:pPr algn="l">
              <a:spcAft>
                <a:spcPts val="800"/>
              </a:spcAft>
            </a:pPr>
            <a:r>
              <a:rPr sz="1500" b="0" i="0">
                <a:solidFill>
                  <a:srgbClr val="1F2433"/>
                </a:solidFill>
                <a:latin typeface="Calibri"/>
              </a:rPr>
              <a:t>30d unlocks by recipient (team, investors, community ...)</a:t>
            </a:r>
          </a:p>
          <a:p>
            <a:pPr algn="l">
              <a:spcAft>
                <a:spcPts val="800"/>
              </a:spcAft>
            </a:pPr>
            <a:r>
              <a:rPr sz="1500" b="0" i="0">
                <a:solidFill>
                  <a:srgbClr val="1F2433"/>
                </a:solidFill>
                <a:latin typeface="Calibri"/>
              </a:rPr>
              <a:t>Allocation shares, data-quality flags</a:t>
            </a:r>
          </a:p>
        </p:txBody>
      </p:sp>
      <p:sp>
        <p:nvSpPr>
          <p:cNvPr id="12" name="Right Arrow 11"/>
          <p:cNvSpPr/>
          <p:nvPr/>
        </p:nvSpPr>
        <p:spPr>
          <a:xfrm>
            <a:off x="8092440" y="3200400"/>
            <a:ext cx="640080" cy="548640"/>
          </a:xfrm>
          <a:prstGeom prst="rightArrow">
            <a:avLst/>
          </a:prstGeom>
          <a:solidFill>
            <a:srgbClr val="141B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Delta card"/>
          <p:cNvSpPr/>
          <p:nvPr/>
        </p:nvSpPr>
        <p:spPr>
          <a:xfrm>
            <a:off x="8915400" y="1828800"/>
            <a:ext cx="2743200" cy="3383280"/>
          </a:xfrm>
          <a:prstGeom prst="roundRect">
            <a:avLst>
              <a:gd name="adj" fmla="val 8000"/>
            </a:avLst>
          </a:prstGeom>
          <a:solidFill>
            <a:srgbClr val="141B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915400" y="2194560"/>
            <a:ext cx="2743200" cy="914400"/>
          </a:xfrm>
          <a:prstGeom prst="rect">
            <a:avLst/>
          </a:prstGeom>
          <a:noFill/>
        </p:spPr>
        <p:txBody>
          <a:bodyPr wrap="square" lIns="0" rIns="0" tIns="0" bIns="0" anchor="t">
            <a:spAutoFit/>
          </a:bodyPr>
          <a:lstStyle/>
          <a:p>
            <a:pPr algn="ctr"/>
            <a:r>
              <a:rPr sz="4800" b="1" i="0">
                <a:solidFill>
                  <a:srgbClr val="FFFFFF"/>
                </a:solidFill>
                <a:latin typeface="Cambria"/>
              </a:rPr>
              <a:t>Δ R²</a:t>
            </a:r>
          </a:p>
        </p:txBody>
      </p:sp>
      <p:sp>
        <p:nvSpPr>
          <p:cNvPr id="15" name="TextBox 14"/>
          <p:cNvSpPr txBox="1"/>
          <p:nvPr/>
        </p:nvSpPr>
        <p:spPr>
          <a:xfrm>
            <a:off x="9144000" y="3291840"/>
            <a:ext cx="2286000" cy="1645920"/>
          </a:xfrm>
          <a:prstGeom prst="rect">
            <a:avLst/>
          </a:prstGeom>
          <a:noFill/>
        </p:spPr>
        <p:txBody>
          <a:bodyPr wrap="square" lIns="0" rIns="0" tIns="0" bIns="0" anchor="t">
            <a:spAutoFit/>
          </a:bodyPr>
          <a:lstStyle/>
          <a:p>
            <a:pPr algn="ctr"/>
            <a:r>
              <a:rPr sz="1500" b="0" i="0">
                <a:solidFill>
                  <a:srgbClr val="C9D3E6"/>
                </a:solidFill>
                <a:latin typeface="Calibri"/>
              </a:rPr>
              <a:t>FULL minus CONTROLS, per fold, same model, same data</a:t>
            </a:r>
          </a:p>
        </p:txBody>
      </p:sp>
      <p:sp>
        <p:nvSpPr>
          <p:cNvPr id="16" name="TextBox 15"/>
          <p:cNvSpPr txBox="1"/>
          <p:nvPr/>
        </p:nvSpPr>
        <p:spPr>
          <a:xfrm>
            <a:off x="548640" y="5532120"/>
            <a:ext cx="11064240" cy="548640"/>
          </a:xfrm>
          <a:prstGeom prst="rect">
            <a:avLst/>
          </a:prstGeom>
          <a:noFill/>
        </p:spPr>
        <p:txBody>
          <a:bodyPr wrap="square" lIns="0" rIns="0" tIns="0" bIns="0" anchor="t">
            <a:spAutoFit/>
          </a:bodyPr>
          <a:lstStyle/>
          <a:p>
            <a:pPr algn="l"/>
            <a:r>
              <a:rPr sz="1500" b="0" i="0">
                <a:solidFill>
                  <a:srgbClr val="6B7280"/>
                </a:solidFill>
                <a:latin typeface="Calibri"/>
              </a:rPr>
              <a:t>Target: log of annualized realized volatility over the next 14 days. Metric: R² out-of-sample vs the persistence forecast (0 = ties “next 14 days look like the last 14”).</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548640" y="320040"/>
            <a:ext cx="11064240" cy="274320"/>
          </a:xfrm>
          <a:prstGeom prst="rect">
            <a:avLst/>
          </a:prstGeom>
          <a:noFill/>
        </p:spPr>
        <p:txBody>
          <a:bodyPr wrap="square" lIns="0" rIns="0" tIns="0" bIns="0" anchor="t">
            <a:spAutoFit/>
          </a:bodyPr>
          <a:lstStyle/>
          <a:p>
            <a:pPr algn="l"/>
            <a:r>
              <a:rPr sz="1200" b="1" i="0">
                <a:solidFill>
                  <a:srgbClr val="EB6A35"/>
                </a:solidFill>
                <a:latin typeface="Calibri"/>
              </a:rPr>
              <a:t>DATASET</a:t>
            </a:r>
          </a:p>
        </p:txBody>
      </p:sp>
      <p:sp>
        <p:nvSpPr>
          <p:cNvPr id="3" name="Title"/>
          <p:cNvSpPr txBox="1"/>
          <p:nvPr/>
        </p:nvSpPr>
        <p:spPr>
          <a:xfrm>
            <a:off x="548640" y="594360"/>
            <a:ext cx="11064240" cy="822960"/>
          </a:xfrm>
          <a:prstGeom prst="rect">
            <a:avLst/>
          </a:prstGeom>
          <a:noFill/>
        </p:spPr>
        <p:txBody>
          <a:bodyPr wrap="square" lIns="0" rIns="0" tIns="0" bIns="0" anchor="t">
            <a:spAutoFit/>
          </a:bodyPr>
          <a:lstStyle/>
          <a:p>
            <a:pPr algn="l"/>
            <a:r>
              <a:rPr sz="3200" b="1" i="0">
                <a:solidFill>
                  <a:srgbClr val="1F2433"/>
                </a:solidFill>
                <a:latin typeface="Cambria"/>
              </a:rPr>
              <a:t>A daily panel of 176 tokens over two years</a:t>
            </a:r>
          </a:p>
        </p:txBody>
      </p:sp>
      <p:sp>
        <p:nvSpPr>
          <p:cNvPr id="4" name="Footer"/>
          <p:cNvSpPr txBox="1"/>
          <p:nvPr/>
        </p:nvSpPr>
        <p:spPr>
          <a:xfrm>
            <a:off x="548640" y="6400800"/>
            <a:ext cx="7315200" cy="274320"/>
          </a:xfrm>
          <a:prstGeom prst="rect">
            <a:avLst/>
          </a:prstGeom>
          <a:noFill/>
        </p:spPr>
        <p:txBody>
          <a:bodyPr wrap="square" lIns="0" rIns="0" tIns="0" bIns="0" anchor="t">
            <a:spAutoFit/>
          </a:bodyPr>
          <a:lstStyle/>
          <a:p>
            <a:pPr algn="l"/>
            <a:r>
              <a:rPr sz="1000" b="0" i="0">
                <a:solidFill>
                  <a:srgbClr val="6B7280"/>
                </a:solidFill>
                <a:latin typeface="Calibri"/>
              </a:rPr>
              <a:t>MH6805 Group 7  |  Token unlocks and forward volatility</a:t>
            </a:r>
          </a:p>
        </p:txBody>
      </p:sp>
      <p:sp>
        <p:nvSpPr>
          <p:cNvPr id="5" name="Slide number"/>
          <p:cNvSpPr txBox="1"/>
          <p:nvPr/>
        </p:nvSpPr>
        <p:spPr>
          <a:xfrm>
            <a:off x="10241280" y="6400800"/>
            <a:ext cx="1399032" cy="274320"/>
          </a:xfrm>
          <a:prstGeom prst="rect">
            <a:avLst/>
          </a:prstGeom>
          <a:noFill/>
        </p:spPr>
        <p:txBody>
          <a:bodyPr wrap="square" lIns="0" rIns="0" tIns="0" bIns="0" anchor="t">
            <a:spAutoFit/>
          </a:bodyPr>
          <a:lstStyle/>
          <a:p>
            <a:pPr algn="r"/>
            <a:r>
              <a:rPr sz="1000" b="0" i="0">
                <a:solidFill>
                  <a:srgbClr val="6B7280"/>
                </a:solidFill>
                <a:latin typeface="Calibri"/>
              </a:rPr>
              <a:t>4</a:t>
            </a:r>
          </a:p>
        </p:txBody>
      </p:sp>
      <p:sp>
        <p:nvSpPr>
          <p:cNvPr id="6" name="TextBox 5"/>
          <p:cNvSpPr txBox="1"/>
          <p:nvPr/>
        </p:nvSpPr>
        <p:spPr>
          <a:xfrm>
            <a:off x="548640" y="1920240"/>
            <a:ext cx="2651760" cy="1005840"/>
          </a:xfrm>
          <a:prstGeom prst="rect">
            <a:avLst/>
          </a:prstGeom>
          <a:noFill/>
        </p:spPr>
        <p:txBody>
          <a:bodyPr wrap="square" lIns="0" rIns="0" tIns="0" bIns="0" anchor="t">
            <a:spAutoFit/>
          </a:bodyPr>
          <a:lstStyle/>
          <a:p>
            <a:pPr algn="l"/>
            <a:r>
              <a:rPr sz="4400" b="1" i="0">
                <a:solidFill>
                  <a:srgbClr val="EB6A35"/>
                </a:solidFill>
                <a:latin typeface="Cambria"/>
              </a:rPr>
              <a:t>176</a:t>
            </a:r>
          </a:p>
        </p:txBody>
      </p:sp>
      <p:sp>
        <p:nvSpPr>
          <p:cNvPr id="7" name="TextBox 6"/>
          <p:cNvSpPr txBox="1"/>
          <p:nvPr/>
        </p:nvSpPr>
        <p:spPr>
          <a:xfrm>
            <a:off x="548640" y="2971800"/>
            <a:ext cx="2651760" cy="365760"/>
          </a:xfrm>
          <a:prstGeom prst="rect">
            <a:avLst/>
          </a:prstGeom>
          <a:noFill/>
        </p:spPr>
        <p:txBody>
          <a:bodyPr wrap="square" lIns="0" rIns="0" tIns="0" bIns="0" anchor="t">
            <a:spAutoFit/>
          </a:bodyPr>
          <a:lstStyle/>
          <a:p>
            <a:pPr algn="l"/>
            <a:r>
              <a:rPr sz="1800" b="1" i="0">
                <a:solidFill>
                  <a:srgbClr val="1F2433"/>
                </a:solidFill>
                <a:latin typeface="Calibri"/>
              </a:rPr>
              <a:t>tokens</a:t>
            </a:r>
          </a:p>
        </p:txBody>
      </p:sp>
      <p:sp>
        <p:nvSpPr>
          <p:cNvPr id="8" name="TextBox 7"/>
          <p:cNvSpPr txBox="1"/>
          <p:nvPr/>
        </p:nvSpPr>
        <p:spPr>
          <a:xfrm>
            <a:off x="548640" y="3429000"/>
            <a:ext cx="2514600" cy="1280160"/>
          </a:xfrm>
          <a:prstGeom prst="rect">
            <a:avLst/>
          </a:prstGeom>
          <a:noFill/>
        </p:spPr>
        <p:txBody>
          <a:bodyPr wrap="square" lIns="0" rIns="0" tIns="0" bIns="0" anchor="t">
            <a:spAutoFit/>
          </a:bodyPr>
          <a:lstStyle/>
          <a:p>
            <a:pPr algn="l"/>
            <a:r>
              <a:rPr sz="1500" b="0" i="0">
                <a:solidFill>
                  <a:srgbClr val="6B7280"/>
                </a:solidFill>
                <a:latin typeface="Calibri"/>
              </a:rPr>
              <a:t>with a Tokenomist schedule and a Binance USDT pair</a:t>
            </a:r>
          </a:p>
        </p:txBody>
      </p:sp>
      <p:sp>
        <p:nvSpPr>
          <p:cNvPr id="9" name="TextBox 8"/>
          <p:cNvSpPr txBox="1"/>
          <p:nvPr/>
        </p:nvSpPr>
        <p:spPr>
          <a:xfrm>
            <a:off x="3364992" y="1920240"/>
            <a:ext cx="2651760" cy="1005840"/>
          </a:xfrm>
          <a:prstGeom prst="rect">
            <a:avLst/>
          </a:prstGeom>
          <a:noFill/>
        </p:spPr>
        <p:txBody>
          <a:bodyPr wrap="square" lIns="0" rIns="0" tIns="0" bIns="0" anchor="t">
            <a:spAutoFit/>
          </a:bodyPr>
          <a:lstStyle/>
          <a:p>
            <a:pPr algn="l"/>
            <a:r>
              <a:rPr sz="4400" b="1" i="0">
                <a:solidFill>
                  <a:srgbClr val="141B2D"/>
                </a:solidFill>
                <a:latin typeface="Cambria"/>
              </a:rPr>
              <a:t>101,393</a:t>
            </a:r>
          </a:p>
        </p:txBody>
      </p:sp>
      <p:sp>
        <p:nvSpPr>
          <p:cNvPr id="10" name="TextBox 9"/>
          <p:cNvSpPr txBox="1"/>
          <p:nvPr/>
        </p:nvSpPr>
        <p:spPr>
          <a:xfrm>
            <a:off x="3364992" y="2971800"/>
            <a:ext cx="2651760" cy="365760"/>
          </a:xfrm>
          <a:prstGeom prst="rect">
            <a:avLst/>
          </a:prstGeom>
          <a:noFill/>
        </p:spPr>
        <p:txBody>
          <a:bodyPr wrap="square" lIns="0" rIns="0" tIns="0" bIns="0" anchor="t">
            <a:spAutoFit/>
          </a:bodyPr>
          <a:lstStyle/>
          <a:p>
            <a:pPr algn="l"/>
            <a:r>
              <a:rPr sz="1800" b="1" i="0">
                <a:solidFill>
                  <a:srgbClr val="1F2433"/>
                </a:solidFill>
                <a:latin typeface="Calibri"/>
              </a:rPr>
              <a:t>token-days</a:t>
            </a:r>
          </a:p>
        </p:txBody>
      </p:sp>
      <p:sp>
        <p:nvSpPr>
          <p:cNvPr id="11" name="TextBox 10"/>
          <p:cNvSpPr txBox="1"/>
          <p:nvPr/>
        </p:nvSpPr>
        <p:spPr>
          <a:xfrm>
            <a:off x="3364992" y="3429000"/>
            <a:ext cx="2514600" cy="1280160"/>
          </a:xfrm>
          <a:prstGeom prst="rect">
            <a:avLst/>
          </a:prstGeom>
          <a:noFill/>
        </p:spPr>
        <p:txBody>
          <a:bodyPr wrap="square" lIns="0" rIns="0" tIns="0" bIns="0" anchor="t">
            <a:spAutoFit/>
          </a:bodyPr>
          <a:lstStyle/>
          <a:p>
            <a:pPr algn="l"/>
            <a:r>
              <a:rPr sz="1500" b="0" i="0">
                <a:solidFill>
                  <a:srgbClr val="6B7280"/>
                </a:solidFill>
                <a:latin typeface="Calibri"/>
              </a:rPr>
              <a:t>2024-09-14 to 2026-08-15, median 701 days per token</a:t>
            </a:r>
          </a:p>
        </p:txBody>
      </p:sp>
      <p:sp>
        <p:nvSpPr>
          <p:cNvPr id="12" name="TextBox 11"/>
          <p:cNvSpPr txBox="1"/>
          <p:nvPr/>
        </p:nvSpPr>
        <p:spPr>
          <a:xfrm>
            <a:off x="6181344" y="1920240"/>
            <a:ext cx="2651760" cy="1005840"/>
          </a:xfrm>
          <a:prstGeom prst="rect">
            <a:avLst/>
          </a:prstGeom>
          <a:noFill/>
        </p:spPr>
        <p:txBody>
          <a:bodyPr wrap="square" lIns="0" rIns="0" tIns="0" bIns="0" anchor="t">
            <a:spAutoFit/>
          </a:bodyPr>
          <a:lstStyle/>
          <a:p>
            <a:pPr algn="l"/>
            <a:r>
              <a:rPr sz="4400" b="1" i="0">
                <a:solidFill>
                  <a:srgbClr val="141B2D"/>
                </a:solidFill>
                <a:latin typeface="Cambria"/>
              </a:rPr>
              <a:t>32</a:t>
            </a:r>
          </a:p>
        </p:txBody>
      </p:sp>
      <p:sp>
        <p:nvSpPr>
          <p:cNvPr id="13" name="TextBox 12"/>
          <p:cNvSpPr txBox="1"/>
          <p:nvPr/>
        </p:nvSpPr>
        <p:spPr>
          <a:xfrm>
            <a:off x="6181344" y="2971800"/>
            <a:ext cx="2651760" cy="365760"/>
          </a:xfrm>
          <a:prstGeom prst="rect">
            <a:avLst/>
          </a:prstGeom>
          <a:noFill/>
        </p:spPr>
        <p:txBody>
          <a:bodyPr wrap="square" lIns="0" rIns="0" tIns="0" bIns="0" anchor="t">
            <a:spAutoFit/>
          </a:bodyPr>
          <a:lstStyle/>
          <a:p>
            <a:pPr algn="l"/>
            <a:r>
              <a:rPr sz="1800" b="1" i="0">
                <a:solidFill>
                  <a:srgbClr val="1F2433"/>
                </a:solidFill>
                <a:latin typeface="Calibri"/>
              </a:rPr>
              <a:t>features</a:t>
            </a:r>
          </a:p>
        </p:txBody>
      </p:sp>
      <p:sp>
        <p:nvSpPr>
          <p:cNvPr id="14" name="TextBox 13"/>
          <p:cNvSpPr txBox="1"/>
          <p:nvPr/>
        </p:nvSpPr>
        <p:spPr>
          <a:xfrm>
            <a:off x="6181344" y="3429000"/>
            <a:ext cx="2514600" cy="1280160"/>
          </a:xfrm>
          <a:prstGeom prst="rect">
            <a:avLst/>
          </a:prstGeom>
          <a:noFill/>
        </p:spPr>
        <p:txBody>
          <a:bodyPr wrap="square" lIns="0" rIns="0" tIns="0" bIns="0" anchor="t">
            <a:spAutoFit/>
          </a:bodyPr>
          <a:lstStyle/>
          <a:p>
            <a:pPr algn="l"/>
            <a:r>
              <a:rPr sz="1500" b="0" i="0">
                <a:solidFill>
                  <a:srgbClr val="6B7280"/>
                </a:solidFill>
                <a:latin typeface="Calibri"/>
              </a:rPr>
              <a:t>9 controls, 13 emission, 10 static; no missing values after cleaning</a:t>
            </a:r>
          </a:p>
        </p:txBody>
      </p:sp>
      <p:sp>
        <p:nvSpPr>
          <p:cNvPr id="15" name="TextBox 14"/>
          <p:cNvSpPr txBox="1"/>
          <p:nvPr/>
        </p:nvSpPr>
        <p:spPr>
          <a:xfrm>
            <a:off x="8997696" y="1920240"/>
            <a:ext cx="2651760" cy="1005840"/>
          </a:xfrm>
          <a:prstGeom prst="rect">
            <a:avLst/>
          </a:prstGeom>
          <a:noFill/>
        </p:spPr>
        <p:txBody>
          <a:bodyPr wrap="square" lIns="0" rIns="0" tIns="0" bIns="0" anchor="t">
            <a:spAutoFit/>
          </a:bodyPr>
          <a:lstStyle/>
          <a:p>
            <a:pPr algn="l"/>
            <a:r>
              <a:rPr sz="4400" b="1" i="0">
                <a:solidFill>
                  <a:srgbClr val="141B2D"/>
                </a:solidFill>
                <a:latin typeface="Cambria"/>
              </a:rPr>
              <a:t>5</a:t>
            </a:r>
          </a:p>
        </p:txBody>
      </p:sp>
      <p:sp>
        <p:nvSpPr>
          <p:cNvPr id="16" name="TextBox 15"/>
          <p:cNvSpPr txBox="1"/>
          <p:nvPr/>
        </p:nvSpPr>
        <p:spPr>
          <a:xfrm>
            <a:off x="8997696" y="2971800"/>
            <a:ext cx="2651760" cy="365760"/>
          </a:xfrm>
          <a:prstGeom prst="rect">
            <a:avLst/>
          </a:prstGeom>
          <a:noFill/>
        </p:spPr>
        <p:txBody>
          <a:bodyPr wrap="square" lIns="0" rIns="0" tIns="0" bIns="0" anchor="t">
            <a:spAutoFit/>
          </a:bodyPr>
          <a:lstStyle/>
          <a:p>
            <a:pPr algn="l"/>
            <a:r>
              <a:rPr sz="1800" b="1" i="0">
                <a:solidFill>
                  <a:srgbClr val="1F2433"/>
                </a:solidFill>
                <a:latin typeface="Calibri"/>
              </a:rPr>
              <a:t>walk-forward folds</a:t>
            </a:r>
          </a:p>
        </p:txBody>
      </p:sp>
      <p:sp>
        <p:nvSpPr>
          <p:cNvPr id="17" name="TextBox 16"/>
          <p:cNvSpPr txBox="1"/>
          <p:nvPr/>
        </p:nvSpPr>
        <p:spPr>
          <a:xfrm>
            <a:off x="8997696" y="3429000"/>
            <a:ext cx="2514600" cy="1280160"/>
          </a:xfrm>
          <a:prstGeom prst="rect">
            <a:avLst/>
          </a:prstGeom>
          <a:noFill/>
        </p:spPr>
        <p:txBody>
          <a:bodyPr wrap="square" lIns="0" rIns="0" tIns="0" bIns="0" anchor="t">
            <a:spAutoFit/>
          </a:bodyPr>
          <a:lstStyle/>
          <a:p>
            <a:pPr algn="l"/>
            <a:r>
              <a:rPr sz="1500" b="0" i="0">
                <a:solidFill>
                  <a:srgbClr val="6B7280"/>
                </a:solidFill>
                <a:latin typeface="Calibri"/>
              </a:rPr>
              <a:t>90-day test windows after a 30-day embargo; rows never shuffled</a:t>
            </a:r>
          </a:p>
        </p:txBody>
      </p:sp>
      <p:sp>
        <p:nvSpPr>
          <p:cNvPr id="18" name="Sources"/>
          <p:cNvSpPr/>
          <p:nvPr/>
        </p:nvSpPr>
        <p:spPr>
          <a:xfrm>
            <a:off x="548640" y="4892040"/>
            <a:ext cx="11064240" cy="1234440"/>
          </a:xfrm>
          <a:prstGeom prst="roundRect">
            <a:avLst>
              <a:gd name="adj" fmla="val 8000"/>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22960" y="5074920"/>
            <a:ext cx="10515600" cy="914400"/>
          </a:xfrm>
          <a:prstGeom prst="rect">
            <a:avLst/>
          </a:prstGeom>
          <a:noFill/>
        </p:spPr>
        <p:txBody>
          <a:bodyPr wrap="square" lIns="0" rIns="0" tIns="0" bIns="0" anchor="t">
            <a:spAutoFit/>
          </a:bodyPr>
          <a:lstStyle/>
          <a:p>
            <a:pPr algn="l">
              <a:spcAft>
                <a:spcPts val="600"/>
              </a:spcAft>
            </a:pPr>
            <a:r>
              <a:rPr sz="1500" b="1" i="0">
                <a:solidFill>
                  <a:srgbClr val="1F2433"/>
                </a:solidFill>
                <a:latin typeface="Calibri"/>
              </a:rPr>
              <a:t>Prices: </a:t>
            </a:r>
            <a:r>
              <a:rPr sz="1500" b="0" i="0">
                <a:solidFill>
                  <a:srgbClr val="1F2433"/>
                </a:solidFill>
                <a:latin typeface="Calibri"/>
              </a:rPr>
              <a:t>Binance spot daily klines (open, high, low, close).  </a:t>
            </a:r>
            <a:r>
              <a:rPr sz="1500" b="1" i="0">
                <a:solidFill>
                  <a:srgbClr val="1F2433"/>
                </a:solidFill>
                <a:latin typeface="Calibri"/>
              </a:rPr>
              <a:t>Unlocks: </a:t>
            </a:r>
            <a:r>
              <a:rPr sz="1500" b="0" i="0">
                <a:solidFill>
                  <a:srgbClr val="1F2433"/>
                </a:solidFill>
                <a:latin typeface="Calibri"/>
              </a:rPr>
              <a:t>Tokenomist API daily emission, unlock events and allocations, pulled 2026-09-14.</a:t>
            </a:r>
          </a:p>
          <a:p>
            <a:pPr algn="l">
              <a:spcAft>
                <a:spcPts val="600"/>
              </a:spcAft>
            </a:pPr>
            <a:r>
              <a:rPr sz="1500" b="0" i="0">
                <a:solidFill>
                  <a:srgbClr val="6B7280"/>
                </a:solidFill>
                <a:latin typeface="Calibri"/>
              </a:rPr>
              <a:t>Weekly panel (14,623 rows) used as a robustness check because daily 14-day targets overlap.</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548640" y="320040"/>
            <a:ext cx="11064240" cy="274320"/>
          </a:xfrm>
          <a:prstGeom prst="rect">
            <a:avLst/>
          </a:prstGeom>
          <a:noFill/>
        </p:spPr>
        <p:txBody>
          <a:bodyPr wrap="square" lIns="0" rIns="0" tIns="0" bIns="0" anchor="t">
            <a:spAutoFit/>
          </a:bodyPr>
          <a:lstStyle/>
          <a:p>
            <a:pPr algn="l"/>
            <a:r>
              <a:rPr sz="1200" b="1" i="0">
                <a:solidFill>
                  <a:srgbClr val="EB6A35"/>
                </a:solidFill>
                <a:latin typeface="Calibri"/>
              </a:rPr>
              <a:t>EXPLORATORY ANALYSIS</a:t>
            </a:r>
          </a:p>
        </p:txBody>
      </p:sp>
      <p:sp>
        <p:nvSpPr>
          <p:cNvPr id="3" name="Title"/>
          <p:cNvSpPr txBox="1"/>
          <p:nvPr/>
        </p:nvSpPr>
        <p:spPr>
          <a:xfrm>
            <a:off x="548640" y="594360"/>
            <a:ext cx="11064240" cy="822960"/>
          </a:xfrm>
          <a:prstGeom prst="rect">
            <a:avLst/>
          </a:prstGeom>
          <a:noFill/>
        </p:spPr>
        <p:txBody>
          <a:bodyPr wrap="square" lIns="0" rIns="0" tIns="0" bIns="0" anchor="t">
            <a:spAutoFit/>
          </a:bodyPr>
          <a:lstStyle/>
          <a:p>
            <a:pPr algn="l"/>
            <a:r>
              <a:rPr sz="3200" b="1" i="0">
                <a:solidFill>
                  <a:srgbClr val="1F2433"/>
                </a:solidFill>
                <a:latin typeface="Cambria"/>
              </a:rPr>
              <a:t>In the raw data, volatility does rise with unlocks</a:t>
            </a:r>
          </a:p>
        </p:txBody>
      </p:sp>
      <p:sp>
        <p:nvSpPr>
          <p:cNvPr id="4" name="Footer"/>
          <p:cNvSpPr txBox="1"/>
          <p:nvPr/>
        </p:nvSpPr>
        <p:spPr>
          <a:xfrm>
            <a:off x="548640" y="6400800"/>
            <a:ext cx="7315200" cy="274320"/>
          </a:xfrm>
          <a:prstGeom prst="rect">
            <a:avLst/>
          </a:prstGeom>
          <a:noFill/>
        </p:spPr>
        <p:txBody>
          <a:bodyPr wrap="square" lIns="0" rIns="0" tIns="0" bIns="0" anchor="t">
            <a:spAutoFit/>
          </a:bodyPr>
          <a:lstStyle/>
          <a:p>
            <a:pPr algn="l"/>
            <a:r>
              <a:rPr sz="1000" b="0" i="0">
                <a:solidFill>
                  <a:srgbClr val="6B7280"/>
                </a:solidFill>
                <a:latin typeface="Calibri"/>
              </a:rPr>
              <a:t>MH6805 Group 7  |  Token unlocks and forward volatility</a:t>
            </a:r>
          </a:p>
        </p:txBody>
      </p:sp>
      <p:sp>
        <p:nvSpPr>
          <p:cNvPr id="5" name="Slide number"/>
          <p:cNvSpPr txBox="1"/>
          <p:nvPr/>
        </p:nvSpPr>
        <p:spPr>
          <a:xfrm>
            <a:off x="10241280" y="6400800"/>
            <a:ext cx="1399032" cy="274320"/>
          </a:xfrm>
          <a:prstGeom prst="rect">
            <a:avLst/>
          </a:prstGeom>
          <a:noFill/>
        </p:spPr>
        <p:txBody>
          <a:bodyPr wrap="square" lIns="0" rIns="0" tIns="0" bIns="0" anchor="t">
            <a:spAutoFit/>
          </a:bodyPr>
          <a:lstStyle/>
          <a:p>
            <a:pPr algn="r"/>
            <a:r>
              <a:rPr sz="1000" b="0" i="0">
                <a:solidFill>
                  <a:srgbClr val="6B7280"/>
                </a:solidFill>
                <a:latin typeface="Calibri"/>
              </a:rPr>
              <a:t>5</a:t>
            </a:r>
          </a:p>
        </p:txBody>
      </p:sp>
      <p:pic>
        <p:nvPicPr>
          <p:cNvPr id="6" name="Picture 5" descr="eda_decile_emission_vs_rv.png"/>
          <p:cNvPicPr>
            <a:picLocks noChangeAspect="1"/>
          </p:cNvPicPr>
          <p:nvPr/>
        </p:nvPicPr>
        <p:blipFill>
          <a:blip r:embed="rId3"/>
          <a:stretch>
            <a:fillRect/>
          </a:stretch>
        </p:blipFill>
        <p:spPr>
          <a:xfrm>
            <a:off x="548640" y="1600200"/>
            <a:ext cx="7152668" cy="4572000"/>
          </a:xfrm>
          <a:prstGeom prst="rect">
            <a:avLst/>
          </a:prstGeom>
        </p:spPr>
      </p:pic>
      <p:sp>
        <p:nvSpPr>
          <p:cNvPr id="7" name="TextBox 6"/>
          <p:cNvSpPr txBox="1"/>
          <p:nvPr/>
        </p:nvSpPr>
        <p:spPr>
          <a:xfrm>
            <a:off x="7955279" y="1737360"/>
            <a:ext cx="3657600" cy="731520"/>
          </a:xfrm>
          <a:prstGeom prst="rect">
            <a:avLst/>
          </a:prstGeom>
          <a:noFill/>
        </p:spPr>
        <p:txBody>
          <a:bodyPr wrap="square" lIns="0" rIns="0" tIns="0" bIns="0" anchor="t">
            <a:spAutoFit/>
          </a:bodyPr>
          <a:lstStyle/>
          <a:p>
            <a:pPr algn="l"/>
            <a:r>
              <a:rPr sz="4400" b="1" i="0">
                <a:solidFill>
                  <a:srgbClr val="141B2D"/>
                </a:solidFill>
                <a:latin typeface="Cambria"/>
              </a:rPr>
              <a:t>0.14</a:t>
            </a:r>
          </a:p>
        </p:txBody>
      </p:sp>
      <p:sp>
        <p:nvSpPr>
          <p:cNvPr id="8" name="TextBox 7"/>
          <p:cNvSpPr txBox="1"/>
          <p:nvPr/>
        </p:nvSpPr>
        <p:spPr>
          <a:xfrm>
            <a:off x="7955279" y="2514600"/>
            <a:ext cx="3657600" cy="731520"/>
          </a:xfrm>
          <a:prstGeom prst="rect">
            <a:avLst/>
          </a:prstGeom>
          <a:noFill/>
        </p:spPr>
        <p:txBody>
          <a:bodyPr wrap="square" lIns="0" rIns="0" tIns="0" bIns="0" anchor="t">
            <a:spAutoFit/>
          </a:bodyPr>
          <a:lstStyle/>
          <a:p>
            <a:pPr algn="l"/>
            <a:r>
              <a:rPr sz="1500" b="0" i="0">
                <a:solidFill>
                  <a:srgbClr val="6B7280"/>
                </a:solidFill>
                <a:latin typeface="Calibri"/>
              </a:rPr>
              <a:t>pooled Spearman ρ between 30-day unlock pressure and forward volatility</a:t>
            </a:r>
          </a:p>
        </p:txBody>
      </p:sp>
      <p:sp>
        <p:nvSpPr>
          <p:cNvPr id="9" name="TextBox 8"/>
          <p:cNvSpPr txBox="1"/>
          <p:nvPr/>
        </p:nvSpPr>
        <p:spPr>
          <a:xfrm>
            <a:off x="7955279" y="3246120"/>
            <a:ext cx="3657600" cy="731520"/>
          </a:xfrm>
          <a:prstGeom prst="rect">
            <a:avLst/>
          </a:prstGeom>
          <a:noFill/>
        </p:spPr>
        <p:txBody>
          <a:bodyPr wrap="square" lIns="0" rIns="0" tIns="0" bIns="0" anchor="t">
            <a:spAutoFit/>
          </a:bodyPr>
          <a:lstStyle/>
          <a:p>
            <a:pPr algn="l"/>
            <a:r>
              <a:rPr sz="4400" b="1" i="0">
                <a:solidFill>
                  <a:srgbClr val="141B2D"/>
                </a:solidFill>
                <a:latin typeface="Cambria"/>
              </a:rPr>
              <a:t>74%</a:t>
            </a:r>
          </a:p>
        </p:txBody>
      </p:sp>
      <p:sp>
        <p:nvSpPr>
          <p:cNvPr id="10" name="TextBox 9"/>
          <p:cNvSpPr txBox="1"/>
          <p:nvPr/>
        </p:nvSpPr>
        <p:spPr>
          <a:xfrm>
            <a:off x="7955279" y="4023360"/>
            <a:ext cx="3657600" cy="731520"/>
          </a:xfrm>
          <a:prstGeom prst="rect">
            <a:avLst/>
          </a:prstGeom>
          <a:noFill/>
        </p:spPr>
        <p:txBody>
          <a:bodyPr wrap="square" lIns="0" rIns="0" tIns="0" bIns="0" anchor="t">
            <a:spAutoFit/>
          </a:bodyPr>
          <a:lstStyle/>
          <a:p>
            <a:pPr algn="l"/>
            <a:r>
              <a:rPr sz="1500" b="0" i="0">
                <a:solidFill>
                  <a:srgbClr val="6B7280"/>
                </a:solidFill>
                <a:latin typeface="Calibri"/>
              </a:rPr>
              <a:t>of tokens show a positive correlation (per-token median ρ = 0.22)</a:t>
            </a:r>
          </a:p>
        </p:txBody>
      </p:sp>
      <p:sp>
        <p:nvSpPr>
          <p:cNvPr id="11" name="But"/>
          <p:cNvSpPr/>
          <p:nvPr/>
        </p:nvSpPr>
        <p:spPr>
          <a:xfrm>
            <a:off x="7955279" y="4846320"/>
            <a:ext cx="3657600" cy="1280160"/>
          </a:xfrm>
          <a:prstGeom prst="roundRect">
            <a:avLst>
              <a:gd name="adj" fmla="val 8000"/>
            </a:avLst>
          </a:prstGeom>
          <a:solidFill>
            <a:srgbClr val="FDEC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183879" y="4983480"/>
            <a:ext cx="3200400" cy="1051560"/>
          </a:xfrm>
          <a:prstGeom prst="rect">
            <a:avLst/>
          </a:prstGeom>
          <a:noFill/>
        </p:spPr>
        <p:txBody>
          <a:bodyPr wrap="square" lIns="0" rIns="0" tIns="0" bIns="0" anchor="t">
            <a:spAutoFit/>
          </a:bodyPr>
          <a:lstStyle/>
          <a:p>
            <a:pPr algn="l"/>
            <a:r>
              <a:rPr sz="1500" b="1" i="0">
                <a:solidFill>
                  <a:srgbClr val="EB6A35"/>
                </a:solidFill>
                <a:latin typeface="Calibri"/>
              </a:rPr>
              <a:t>But: </a:t>
            </a:r>
            <a:r>
              <a:rPr sz="1500" b="0" i="0">
                <a:solidFill>
                  <a:srgbClr val="1F2433"/>
                </a:solidFill>
                <a:latin typeface="Calibri"/>
              </a:rPr>
              <a:t>heavy-unlock tokens are young and already volatile. Is this just persistence in disguise?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548640" y="320040"/>
            <a:ext cx="11064240" cy="274320"/>
          </a:xfrm>
          <a:prstGeom prst="rect">
            <a:avLst/>
          </a:prstGeom>
          <a:noFill/>
        </p:spPr>
        <p:txBody>
          <a:bodyPr wrap="square" lIns="0" rIns="0" tIns="0" bIns="0" anchor="t">
            <a:spAutoFit/>
          </a:bodyPr>
          <a:lstStyle/>
          <a:p>
            <a:pPr algn="l"/>
            <a:r>
              <a:rPr sz="1200" b="1" i="0">
                <a:solidFill>
                  <a:srgbClr val="EB6A35"/>
                </a:solidFill>
                <a:latin typeface="Calibri"/>
              </a:rPr>
              <a:t>PROTOCOL</a:t>
            </a:r>
          </a:p>
        </p:txBody>
      </p:sp>
      <p:sp>
        <p:nvSpPr>
          <p:cNvPr id="3" name="Title"/>
          <p:cNvSpPr txBox="1"/>
          <p:nvPr/>
        </p:nvSpPr>
        <p:spPr>
          <a:xfrm>
            <a:off x="548640" y="594360"/>
            <a:ext cx="11064240" cy="822960"/>
          </a:xfrm>
          <a:prstGeom prst="rect">
            <a:avLst/>
          </a:prstGeom>
          <a:noFill/>
        </p:spPr>
        <p:txBody>
          <a:bodyPr wrap="square" lIns="0" rIns="0" tIns="0" bIns="0" anchor="t">
            <a:spAutoFit/>
          </a:bodyPr>
          <a:lstStyle/>
          <a:p>
            <a:pPr algn="l"/>
            <a:r>
              <a:rPr sz="3200" b="1" i="0">
                <a:solidFill>
                  <a:srgbClr val="1F2433"/>
                </a:solidFill>
                <a:latin typeface="Cambria"/>
              </a:rPr>
              <a:t>Walk-forward validation: never shuffle, never peek</a:t>
            </a:r>
          </a:p>
        </p:txBody>
      </p:sp>
      <p:sp>
        <p:nvSpPr>
          <p:cNvPr id="4" name="Footer"/>
          <p:cNvSpPr txBox="1"/>
          <p:nvPr/>
        </p:nvSpPr>
        <p:spPr>
          <a:xfrm>
            <a:off x="548640" y="6400800"/>
            <a:ext cx="7315200" cy="274320"/>
          </a:xfrm>
          <a:prstGeom prst="rect">
            <a:avLst/>
          </a:prstGeom>
          <a:noFill/>
        </p:spPr>
        <p:txBody>
          <a:bodyPr wrap="square" lIns="0" rIns="0" tIns="0" bIns="0" anchor="t">
            <a:spAutoFit/>
          </a:bodyPr>
          <a:lstStyle/>
          <a:p>
            <a:pPr algn="l"/>
            <a:r>
              <a:rPr sz="1000" b="0" i="0">
                <a:solidFill>
                  <a:srgbClr val="6B7280"/>
                </a:solidFill>
                <a:latin typeface="Calibri"/>
              </a:rPr>
              <a:t>MH6805 Group 7  |  Token unlocks and forward volatility</a:t>
            </a:r>
          </a:p>
        </p:txBody>
      </p:sp>
      <p:sp>
        <p:nvSpPr>
          <p:cNvPr id="5" name="Slide number"/>
          <p:cNvSpPr txBox="1"/>
          <p:nvPr/>
        </p:nvSpPr>
        <p:spPr>
          <a:xfrm>
            <a:off x="10241280" y="6400800"/>
            <a:ext cx="1399032" cy="274320"/>
          </a:xfrm>
          <a:prstGeom prst="rect">
            <a:avLst/>
          </a:prstGeom>
          <a:noFill/>
        </p:spPr>
        <p:txBody>
          <a:bodyPr wrap="square" lIns="0" rIns="0" tIns="0" bIns="0" anchor="t">
            <a:spAutoFit/>
          </a:bodyPr>
          <a:lstStyle/>
          <a:p>
            <a:pPr algn="r"/>
            <a:r>
              <a:rPr sz="1000" b="0" i="0">
                <a:solidFill>
                  <a:srgbClr val="6B7280"/>
                </a:solidFill>
                <a:latin typeface="Calibri"/>
              </a:rPr>
              <a:t>6</a:t>
            </a:r>
          </a:p>
        </p:txBody>
      </p:sp>
      <p:sp>
        <p:nvSpPr>
          <p:cNvPr id="6" name="TextBox 5"/>
          <p:cNvSpPr txBox="1"/>
          <p:nvPr/>
        </p:nvSpPr>
        <p:spPr>
          <a:xfrm>
            <a:off x="548640" y="1847088"/>
            <a:ext cx="1188720" cy="365760"/>
          </a:xfrm>
          <a:prstGeom prst="rect">
            <a:avLst/>
          </a:prstGeom>
          <a:noFill/>
        </p:spPr>
        <p:txBody>
          <a:bodyPr wrap="square" lIns="0" rIns="0" tIns="0" bIns="0" anchor="t">
            <a:spAutoFit/>
          </a:bodyPr>
          <a:lstStyle/>
          <a:p>
            <a:pPr algn="l"/>
            <a:r>
              <a:rPr sz="1400" b="1" i="0">
                <a:solidFill>
                  <a:srgbClr val="1F2433"/>
                </a:solidFill>
                <a:latin typeface="Calibri"/>
              </a:rPr>
              <a:t>Fold 1</a:t>
            </a:r>
          </a:p>
        </p:txBody>
      </p:sp>
      <p:sp>
        <p:nvSpPr>
          <p:cNvPr id="7" name="Train 1"/>
          <p:cNvSpPr/>
          <p:nvPr/>
        </p:nvSpPr>
        <p:spPr>
          <a:xfrm>
            <a:off x="1828800" y="1828800"/>
            <a:ext cx="1800061" cy="365760"/>
          </a:xfrm>
          <a:prstGeom prst="rect">
            <a:avLst/>
          </a:prstGeom>
          <a:solidFill>
            <a:srgbClr val="2B7B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Val 1"/>
          <p:cNvSpPr/>
          <p:nvPr/>
        </p:nvSpPr>
        <p:spPr>
          <a:xfrm>
            <a:off x="3628861" y="1828800"/>
            <a:ext cx="1246196" cy="365760"/>
          </a:xfrm>
          <a:prstGeom prst="rect">
            <a:avLst/>
          </a:prstGeom>
          <a:solidFill>
            <a:srgbClr val="8FB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st 1"/>
          <p:cNvSpPr/>
          <p:nvPr/>
        </p:nvSpPr>
        <p:spPr>
          <a:xfrm>
            <a:off x="5290457" y="1828800"/>
            <a:ext cx="1246196" cy="365760"/>
          </a:xfrm>
          <a:prstGeom prst="rect">
            <a:avLst/>
          </a:prstGeom>
          <a:solidFill>
            <a:srgbClr val="EB6A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48640" y="2414016"/>
            <a:ext cx="1188720" cy="365760"/>
          </a:xfrm>
          <a:prstGeom prst="rect">
            <a:avLst/>
          </a:prstGeom>
          <a:noFill/>
        </p:spPr>
        <p:txBody>
          <a:bodyPr wrap="square" lIns="0" rIns="0" tIns="0" bIns="0" anchor="t">
            <a:spAutoFit/>
          </a:bodyPr>
          <a:lstStyle/>
          <a:p>
            <a:pPr algn="l"/>
            <a:r>
              <a:rPr sz="1400" b="1" i="0">
                <a:solidFill>
                  <a:srgbClr val="1F2433"/>
                </a:solidFill>
                <a:latin typeface="Calibri"/>
              </a:rPr>
              <a:t>Fold 2</a:t>
            </a:r>
          </a:p>
        </p:txBody>
      </p:sp>
      <p:sp>
        <p:nvSpPr>
          <p:cNvPr id="11" name="Train 2"/>
          <p:cNvSpPr/>
          <p:nvPr/>
        </p:nvSpPr>
        <p:spPr>
          <a:xfrm>
            <a:off x="1828800" y="2395728"/>
            <a:ext cx="3046258" cy="365760"/>
          </a:xfrm>
          <a:prstGeom prst="rect">
            <a:avLst/>
          </a:prstGeom>
          <a:solidFill>
            <a:srgbClr val="2B7B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Val 2"/>
          <p:cNvSpPr/>
          <p:nvPr/>
        </p:nvSpPr>
        <p:spPr>
          <a:xfrm>
            <a:off x="4875058" y="2395728"/>
            <a:ext cx="1246196" cy="365760"/>
          </a:xfrm>
          <a:prstGeom prst="rect">
            <a:avLst/>
          </a:prstGeom>
          <a:solidFill>
            <a:srgbClr val="8FB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st 2"/>
          <p:cNvSpPr/>
          <p:nvPr/>
        </p:nvSpPr>
        <p:spPr>
          <a:xfrm>
            <a:off x="6536653" y="2395728"/>
            <a:ext cx="1246196" cy="365760"/>
          </a:xfrm>
          <a:prstGeom prst="rect">
            <a:avLst/>
          </a:prstGeom>
          <a:solidFill>
            <a:srgbClr val="EB6A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48640" y="2980944"/>
            <a:ext cx="1188720" cy="365760"/>
          </a:xfrm>
          <a:prstGeom prst="rect">
            <a:avLst/>
          </a:prstGeom>
          <a:noFill/>
        </p:spPr>
        <p:txBody>
          <a:bodyPr wrap="square" lIns="0" rIns="0" tIns="0" bIns="0" anchor="t">
            <a:spAutoFit/>
          </a:bodyPr>
          <a:lstStyle/>
          <a:p>
            <a:pPr algn="l"/>
            <a:r>
              <a:rPr sz="1400" b="1" i="0">
                <a:solidFill>
                  <a:srgbClr val="1F2433"/>
                </a:solidFill>
                <a:latin typeface="Calibri"/>
              </a:rPr>
              <a:t>Fold 3</a:t>
            </a:r>
          </a:p>
        </p:txBody>
      </p:sp>
      <p:sp>
        <p:nvSpPr>
          <p:cNvPr id="15" name="Train 3"/>
          <p:cNvSpPr/>
          <p:nvPr/>
        </p:nvSpPr>
        <p:spPr>
          <a:xfrm>
            <a:off x="1828800" y="2962656"/>
            <a:ext cx="4292454" cy="365760"/>
          </a:xfrm>
          <a:prstGeom prst="rect">
            <a:avLst/>
          </a:prstGeom>
          <a:solidFill>
            <a:srgbClr val="2B7B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Val 3"/>
          <p:cNvSpPr/>
          <p:nvPr/>
        </p:nvSpPr>
        <p:spPr>
          <a:xfrm>
            <a:off x="6121254" y="2962656"/>
            <a:ext cx="1246196" cy="365760"/>
          </a:xfrm>
          <a:prstGeom prst="rect">
            <a:avLst/>
          </a:prstGeom>
          <a:solidFill>
            <a:srgbClr val="8FB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st 3"/>
          <p:cNvSpPr/>
          <p:nvPr/>
        </p:nvSpPr>
        <p:spPr>
          <a:xfrm>
            <a:off x="7782850" y="2962656"/>
            <a:ext cx="1246196" cy="365760"/>
          </a:xfrm>
          <a:prstGeom prst="rect">
            <a:avLst/>
          </a:prstGeom>
          <a:solidFill>
            <a:srgbClr val="EB6A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48640" y="3547872"/>
            <a:ext cx="1188720" cy="365760"/>
          </a:xfrm>
          <a:prstGeom prst="rect">
            <a:avLst/>
          </a:prstGeom>
          <a:noFill/>
        </p:spPr>
        <p:txBody>
          <a:bodyPr wrap="square" lIns="0" rIns="0" tIns="0" bIns="0" anchor="t">
            <a:spAutoFit/>
          </a:bodyPr>
          <a:lstStyle/>
          <a:p>
            <a:pPr algn="l"/>
            <a:r>
              <a:rPr sz="1400" b="1" i="0">
                <a:solidFill>
                  <a:srgbClr val="1F2433"/>
                </a:solidFill>
                <a:latin typeface="Calibri"/>
              </a:rPr>
              <a:t>Fold 4</a:t>
            </a:r>
          </a:p>
        </p:txBody>
      </p:sp>
      <p:sp>
        <p:nvSpPr>
          <p:cNvPr id="19" name="Train 4"/>
          <p:cNvSpPr/>
          <p:nvPr/>
        </p:nvSpPr>
        <p:spPr>
          <a:xfrm>
            <a:off x="1828800" y="3529584"/>
            <a:ext cx="5538651" cy="365760"/>
          </a:xfrm>
          <a:prstGeom prst="rect">
            <a:avLst/>
          </a:prstGeom>
          <a:solidFill>
            <a:srgbClr val="2B7B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Val 4"/>
          <p:cNvSpPr/>
          <p:nvPr/>
        </p:nvSpPr>
        <p:spPr>
          <a:xfrm>
            <a:off x="7367451" y="3529584"/>
            <a:ext cx="1246196" cy="365760"/>
          </a:xfrm>
          <a:prstGeom prst="rect">
            <a:avLst/>
          </a:prstGeom>
          <a:solidFill>
            <a:srgbClr val="8FB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st 4"/>
          <p:cNvSpPr/>
          <p:nvPr/>
        </p:nvSpPr>
        <p:spPr>
          <a:xfrm>
            <a:off x="9029046" y="3529584"/>
            <a:ext cx="1246196" cy="365760"/>
          </a:xfrm>
          <a:prstGeom prst="rect">
            <a:avLst/>
          </a:prstGeom>
          <a:solidFill>
            <a:srgbClr val="EB6A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48640" y="4114800"/>
            <a:ext cx="1188720" cy="365760"/>
          </a:xfrm>
          <a:prstGeom prst="rect">
            <a:avLst/>
          </a:prstGeom>
          <a:noFill/>
        </p:spPr>
        <p:txBody>
          <a:bodyPr wrap="square" lIns="0" rIns="0" tIns="0" bIns="0" anchor="t">
            <a:spAutoFit/>
          </a:bodyPr>
          <a:lstStyle/>
          <a:p>
            <a:pPr algn="l"/>
            <a:r>
              <a:rPr sz="1400" b="1" i="0">
                <a:solidFill>
                  <a:srgbClr val="1F2433"/>
                </a:solidFill>
                <a:latin typeface="Calibri"/>
              </a:rPr>
              <a:t>Fold 5</a:t>
            </a:r>
          </a:p>
        </p:txBody>
      </p:sp>
      <p:sp>
        <p:nvSpPr>
          <p:cNvPr id="23" name="Train 5"/>
          <p:cNvSpPr/>
          <p:nvPr/>
        </p:nvSpPr>
        <p:spPr>
          <a:xfrm>
            <a:off x="1828800" y="4096512"/>
            <a:ext cx="6784848" cy="365760"/>
          </a:xfrm>
          <a:prstGeom prst="rect">
            <a:avLst/>
          </a:prstGeom>
          <a:solidFill>
            <a:srgbClr val="2B7B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Val 5"/>
          <p:cNvSpPr/>
          <p:nvPr/>
        </p:nvSpPr>
        <p:spPr>
          <a:xfrm>
            <a:off x="8613648" y="4096512"/>
            <a:ext cx="1246196" cy="365760"/>
          </a:xfrm>
          <a:prstGeom prst="rect">
            <a:avLst/>
          </a:prstGeom>
          <a:solidFill>
            <a:srgbClr val="8FB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st 5"/>
          <p:cNvSpPr/>
          <p:nvPr/>
        </p:nvSpPr>
        <p:spPr>
          <a:xfrm>
            <a:off x="10275243" y="4096512"/>
            <a:ext cx="1246196" cy="365760"/>
          </a:xfrm>
          <a:prstGeom prst="rect">
            <a:avLst/>
          </a:prstGeom>
          <a:solidFill>
            <a:srgbClr val="EB6A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371600" y="4681728"/>
            <a:ext cx="914400" cy="274320"/>
          </a:xfrm>
          <a:prstGeom prst="rect">
            <a:avLst/>
          </a:prstGeom>
          <a:noFill/>
        </p:spPr>
        <p:txBody>
          <a:bodyPr wrap="square" lIns="0" rIns="0" tIns="0" bIns="0" anchor="t">
            <a:spAutoFit/>
          </a:bodyPr>
          <a:lstStyle/>
          <a:p>
            <a:pPr algn="ctr"/>
            <a:r>
              <a:rPr sz="1200" b="0" i="0">
                <a:solidFill>
                  <a:srgbClr val="6B7280"/>
                </a:solidFill>
                <a:latin typeface="Calibri"/>
              </a:rPr>
              <a:t>2024-09</a:t>
            </a:r>
          </a:p>
        </p:txBody>
      </p:sp>
      <p:sp>
        <p:nvSpPr>
          <p:cNvPr id="27" name="TextBox 26"/>
          <p:cNvSpPr txBox="1"/>
          <p:nvPr/>
        </p:nvSpPr>
        <p:spPr>
          <a:xfrm>
            <a:off x="4971723" y="4681728"/>
            <a:ext cx="914400" cy="274320"/>
          </a:xfrm>
          <a:prstGeom prst="rect">
            <a:avLst/>
          </a:prstGeom>
          <a:noFill/>
        </p:spPr>
        <p:txBody>
          <a:bodyPr wrap="square" lIns="0" rIns="0" tIns="0" bIns="0" anchor="t">
            <a:spAutoFit/>
          </a:bodyPr>
          <a:lstStyle/>
          <a:p>
            <a:pPr algn="ctr"/>
            <a:r>
              <a:rPr sz="1200" b="0" i="0">
                <a:solidFill>
                  <a:srgbClr val="6B7280"/>
                </a:solidFill>
                <a:latin typeface="Calibri"/>
              </a:rPr>
              <a:t>2025-06</a:t>
            </a:r>
          </a:p>
        </p:txBody>
      </p:sp>
      <p:sp>
        <p:nvSpPr>
          <p:cNvPr id="28" name="TextBox 27"/>
          <p:cNvSpPr txBox="1"/>
          <p:nvPr/>
        </p:nvSpPr>
        <p:spPr>
          <a:xfrm>
            <a:off x="7934901" y="4681728"/>
            <a:ext cx="914400" cy="274320"/>
          </a:xfrm>
          <a:prstGeom prst="rect">
            <a:avLst/>
          </a:prstGeom>
          <a:noFill/>
        </p:spPr>
        <p:txBody>
          <a:bodyPr wrap="square" lIns="0" rIns="0" tIns="0" bIns="0" anchor="t">
            <a:spAutoFit/>
          </a:bodyPr>
          <a:lstStyle/>
          <a:p>
            <a:pPr algn="ctr"/>
            <a:r>
              <a:rPr sz="1200" b="0" i="0">
                <a:solidFill>
                  <a:srgbClr val="6B7280"/>
                </a:solidFill>
                <a:latin typeface="Calibri"/>
              </a:rPr>
              <a:t>2026-01</a:t>
            </a:r>
          </a:p>
        </p:txBody>
      </p:sp>
      <p:sp>
        <p:nvSpPr>
          <p:cNvPr id="29" name="TextBox 28"/>
          <p:cNvSpPr txBox="1"/>
          <p:nvPr/>
        </p:nvSpPr>
        <p:spPr>
          <a:xfrm>
            <a:off x="11064240" y="4681728"/>
            <a:ext cx="914400" cy="274320"/>
          </a:xfrm>
          <a:prstGeom prst="rect">
            <a:avLst/>
          </a:prstGeom>
          <a:noFill/>
        </p:spPr>
        <p:txBody>
          <a:bodyPr wrap="square" lIns="0" rIns="0" tIns="0" bIns="0" anchor="t">
            <a:spAutoFit/>
          </a:bodyPr>
          <a:lstStyle/>
          <a:p>
            <a:pPr algn="ctr"/>
            <a:r>
              <a:rPr sz="1200" b="0" i="0">
                <a:solidFill>
                  <a:srgbClr val="6B7280"/>
                </a:solidFill>
                <a:latin typeface="Calibri"/>
              </a:rPr>
              <a:t>2026-08</a:t>
            </a:r>
          </a:p>
        </p:txBody>
      </p:sp>
      <p:sp>
        <p:nvSpPr>
          <p:cNvPr id="30" name="Rectangle 29"/>
          <p:cNvSpPr/>
          <p:nvPr/>
        </p:nvSpPr>
        <p:spPr>
          <a:xfrm>
            <a:off x="1828800" y="5166360"/>
            <a:ext cx="274320" cy="274320"/>
          </a:xfrm>
          <a:prstGeom prst="rect">
            <a:avLst/>
          </a:prstGeom>
          <a:solidFill>
            <a:srgbClr val="2B7B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2194560" y="5175504"/>
            <a:ext cx="3200400" cy="274320"/>
          </a:xfrm>
          <a:prstGeom prst="rect">
            <a:avLst/>
          </a:prstGeom>
          <a:noFill/>
        </p:spPr>
        <p:txBody>
          <a:bodyPr wrap="square" lIns="0" rIns="0" tIns="0" bIns="0" anchor="t">
            <a:spAutoFit/>
          </a:bodyPr>
          <a:lstStyle/>
          <a:p>
            <a:pPr algn="l"/>
            <a:r>
              <a:rPr sz="1300" b="0" i="0">
                <a:solidFill>
                  <a:srgbClr val="1F2433"/>
                </a:solidFill>
                <a:latin typeface="Calibri"/>
              </a:rPr>
              <a:t>Train</a:t>
            </a:r>
          </a:p>
        </p:txBody>
      </p:sp>
      <p:sp>
        <p:nvSpPr>
          <p:cNvPr id="32" name="Rectangle 31"/>
          <p:cNvSpPr/>
          <p:nvPr/>
        </p:nvSpPr>
        <p:spPr>
          <a:xfrm>
            <a:off x="2720340" y="5166360"/>
            <a:ext cx="274320" cy="274320"/>
          </a:xfrm>
          <a:prstGeom prst="rect">
            <a:avLst/>
          </a:prstGeom>
          <a:solidFill>
            <a:srgbClr val="8FB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3086100" y="5175504"/>
            <a:ext cx="3200400" cy="274320"/>
          </a:xfrm>
          <a:prstGeom prst="rect">
            <a:avLst/>
          </a:prstGeom>
          <a:noFill/>
        </p:spPr>
        <p:txBody>
          <a:bodyPr wrap="square" lIns="0" rIns="0" tIns="0" bIns="0" anchor="t">
            <a:spAutoFit/>
          </a:bodyPr>
          <a:lstStyle/>
          <a:p>
            <a:pPr algn="l"/>
            <a:r>
              <a:rPr sz="1300" b="0" i="0">
                <a:solidFill>
                  <a:srgbClr val="1F2433"/>
                </a:solidFill>
                <a:latin typeface="Calibri"/>
              </a:rPr>
              <a:t>Validation (last 90d of train, for tuning)</a:t>
            </a:r>
          </a:p>
        </p:txBody>
      </p:sp>
      <p:sp>
        <p:nvSpPr>
          <p:cNvPr id="34" name="Rectangle 33"/>
          <p:cNvSpPr/>
          <p:nvPr/>
        </p:nvSpPr>
        <p:spPr>
          <a:xfrm>
            <a:off x="6487668" y="5166360"/>
            <a:ext cx="274320" cy="274320"/>
          </a:xfrm>
          <a:prstGeom prst="rect">
            <a:avLst/>
          </a:prstGeom>
          <a:solidFill>
            <a:srgbClr val="FFFFFF"/>
          </a:solidFill>
          <a:ln w="12700">
            <a:solidFill>
              <a:srgbClr val="D9DD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853428" y="5175504"/>
            <a:ext cx="3200400" cy="274320"/>
          </a:xfrm>
          <a:prstGeom prst="rect">
            <a:avLst/>
          </a:prstGeom>
          <a:noFill/>
        </p:spPr>
        <p:txBody>
          <a:bodyPr wrap="square" lIns="0" rIns="0" tIns="0" bIns="0" anchor="t">
            <a:spAutoFit/>
          </a:bodyPr>
          <a:lstStyle/>
          <a:p>
            <a:pPr algn="l"/>
            <a:r>
              <a:rPr sz="1300" b="0" i="0">
                <a:solidFill>
                  <a:srgbClr val="1F2433"/>
                </a:solidFill>
                <a:latin typeface="Calibri"/>
              </a:rPr>
              <a:t>30-day embargo</a:t>
            </a:r>
          </a:p>
        </p:txBody>
      </p:sp>
      <p:sp>
        <p:nvSpPr>
          <p:cNvPr id="36" name="Rectangle 35"/>
          <p:cNvSpPr/>
          <p:nvPr/>
        </p:nvSpPr>
        <p:spPr>
          <a:xfrm>
            <a:off x="8078724" y="5166360"/>
            <a:ext cx="274320" cy="274320"/>
          </a:xfrm>
          <a:prstGeom prst="rect">
            <a:avLst/>
          </a:prstGeom>
          <a:solidFill>
            <a:srgbClr val="EB6A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8444484" y="5175504"/>
            <a:ext cx="3200400" cy="274320"/>
          </a:xfrm>
          <a:prstGeom prst="rect">
            <a:avLst/>
          </a:prstGeom>
          <a:noFill/>
        </p:spPr>
        <p:txBody>
          <a:bodyPr wrap="square" lIns="0" rIns="0" tIns="0" bIns="0" anchor="t">
            <a:spAutoFit/>
          </a:bodyPr>
          <a:lstStyle/>
          <a:p>
            <a:pPr algn="l"/>
            <a:r>
              <a:rPr sz="1300" b="0" i="0">
                <a:solidFill>
                  <a:srgbClr val="1F2433"/>
                </a:solidFill>
                <a:latin typeface="Calibri"/>
              </a:rPr>
              <a:t>Test (90 days, scored once)</a:t>
            </a:r>
          </a:p>
        </p:txBody>
      </p:sp>
      <p:sp>
        <p:nvSpPr>
          <p:cNvPr id="38" name="TextBox 37"/>
          <p:cNvSpPr txBox="1"/>
          <p:nvPr/>
        </p:nvSpPr>
        <p:spPr>
          <a:xfrm>
            <a:off x="548640" y="5715000"/>
            <a:ext cx="11064240" cy="457200"/>
          </a:xfrm>
          <a:prstGeom prst="rect">
            <a:avLst/>
          </a:prstGeom>
          <a:noFill/>
        </p:spPr>
        <p:txBody>
          <a:bodyPr wrap="square" lIns="0" rIns="0" tIns="0" bIns="0" anchor="t">
            <a:spAutoFit/>
          </a:bodyPr>
          <a:lstStyle/>
          <a:p>
            <a:pPr algn="l"/>
            <a:r>
              <a:rPr sz="1400" b="0" i="0">
                <a:solidFill>
                  <a:srgbClr val="6B7280"/>
                </a:solidFill>
                <a:latin typeface="Calibri"/>
              </a:rPr>
              <a:t>Candidates (pre-processing + model + settings) are compared on validation only; the winner is refit and the test window is scored once, never used to change a model.</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548640" y="320040"/>
            <a:ext cx="11064240" cy="274320"/>
          </a:xfrm>
          <a:prstGeom prst="rect">
            <a:avLst/>
          </a:prstGeom>
          <a:noFill/>
        </p:spPr>
        <p:txBody>
          <a:bodyPr wrap="square" lIns="0" rIns="0" tIns="0" bIns="0" anchor="t">
            <a:spAutoFit/>
          </a:bodyPr>
          <a:lstStyle/>
          <a:p>
            <a:pPr algn="l"/>
            <a:r>
              <a:rPr sz="1200" b="1" i="0">
                <a:solidFill>
                  <a:srgbClr val="EB6A35"/>
                </a:solidFill>
                <a:latin typeface="Calibri"/>
              </a:rPr>
              <a:t>METHODS</a:t>
            </a:r>
          </a:p>
        </p:txBody>
      </p:sp>
      <p:sp>
        <p:nvSpPr>
          <p:cNvPr id="3" name="Title"/>
          <p:cNvSpPr txBox="1"/>
          <p:nvPr/>
        </p:nvSpPr>
        <p:spPr>
          <a:xfrm>
            <a:off x="548640" y="594360"/>
            <a:ext cx="11064240" cy="822960"/>
          </a:xfrm>
          <a:prstGeom prst="rect">
            <a:avLst/>
          </a:prstGeom>
          <a:noFill/>
        </p:spPr>
        <p:txBody>
          <a:bodyPr wrap="square" lIns="0" rIns="0" tIns="0" bIns="0" anchor="t">
            <a:spAutoFit/>
          </a:bodyPr>
          <a:lstStyle/>
          <a:p>
            <a:pPr algn="l"/>
            <a:r>
              <a:rPr sz="3200" b="1" i="0">
                <a:solidFill>
                  <a:srgbClr val="1F2433"/>
                </a:solidFill>
                <a:latin typeface="Cambria"/>
              </a:rPr>
              <a:t>Five models, one shared harness</a:t>
            </a:r>
          </a:p>
        </p:txBody>
      </p:sp>
      <p:sp>
        <p:nvSpPr>
          <p:cNvPr id="4" name="Footer"/>
          <p:cNvSpPr txBox="1"/>
          <p:nvPr/>
        </p:nvSpPr>
        <p:spPr>
          <a:xfrm>
            <a:off x="548640" y="6400800"/>
            <a:ext cx="7315200" cy="274320"/>
          </a:xfrm>
          <a:prstGeom prst="rect">
            <a:avLst/>
          </a:prstGeom>
          <a:noFill/>
        </p:spPr>
        <p:txBody>
          <a:bodyPr wrap="square" lIns="0" rIns="0" tIns="0" bIns="0" anchor="t">
            <a:spAutoFit/>
          </a:bodyPr>
          <a:lstStyle/>
          <a:p>
            <a:pPr algn="l"/>
            <a:r>
              <a:rPr sz="1000" b="0" i="0">
                <a:solidFill>
                  <a:srgbClr val="6B7280"/>
                </a:solidFill>
                <a:latin typeface="Calibri"/>
              </a:rPr>
              <a:t>MH6805 Group 7  |  Token unlocks and forward volatility</a:t>
            </a:r>
          </a:p>
        </p:txBody>
      </p:sp>
      <p:sp>
        <p:nvSpPr>
          <p:cNvPr id="5" name="Slide number"/>
          <p:cNvSpPr txBox="1"/>
          <p:nvPr/>
        </p:nvSpPr>
        <p:spPr>
          <a:xfrm>
            <a:off x="10241280" y="6400800"/>
            <a:ext cx="1399032" cy="274320"/>
          </a:xfrm>
          <a:prstGeom prst="rect">
            <a:avLst/>
          </a:prstGeom>
          <a:noFill/>
        </p:spPr>
        <p:txBody>
          <a:bodyPr wrap="square" lIns="0" rIns="0" tIns="0" bIns="0" anchor="t">
            <a:spAutoFit/>
          </a:bodyPr>
          <a:lstStyle/>
          <a:p>
            <a:pPr algn="r"/>
            <a:r>
              <a:rPr sz="1000" b="0" i="0">
                <a:solidFill>
                  <a:srgbClr val="6B7280"/>
                </a:solidFill>
                <a:latin typeface="Calibri"/>
              </a:rPr>
              <a:t>7</a:t>
            </a:r>
          </a:p>
        </p:txBody>
      </p:sp>
      <p:sp>
        <p:nvSpPr>
          <p:cNvPr id="6" name="Model card KNN"/>
          <p:cNvSpPr/>
          <p:nvPr/>
        </p:nvSpPr>
        <p:spPr>
          <a:xfrm>
            <a:off x="548640" y="1783080"/>
            <a:ext cx="2084831" cy="4206240"/>
          </a:xfrm>
          <a:prstGeom prst="roundRect">
            <a:avLst>
              <a:gd name="adj" fmla="val 8000"/>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49808" y="2011680"/>
            <a:ext cx="1737360" cy="274320"/>
          </a:xfrm>
          <a:prstGeom prst="rect">
            <a:avLst/>
          </a:prstGeom>
          <a:noFill/>
        </p:spPr>
        <p:txBody>
          <a:bodyPr wrap="square" lIns="0" rIns="0" tIns="0" bIns="0" anchor="t">
            <a:spAutoFit/>
          </a:bodyPr>
          <a:lstStyle/>
          <a:p>
            <a:pPr algn="l"/>
            <a:r>
              <a:rPr sz="1100" b="1" i="0">
                <a:solidFill>
                  <a:srgbClr val="EB6A35"/>
                </a:solidFill>
                <a:latin typeface="Calibri"/>
              </a:rPr>
              <a:t>REGRESSION</a:t>
            </a:r>
          </a:p>
        </p:txBody>
      </p:sp>
      <p:sp>
        <p:nvSpPr>
          <p:cNvPr id="8" name="TextBox 7"/>
          <p:cNvSpPr txBox="1"/>
          <p:nvPr/>
        </p:nvSpPr>
        <p:spPr>
          <a:xfrm>
            <a:off x="749808" y="2331720"/>
            <a:ext cx="1737360" cy="822960"/>
          </a:xfrm>
          <a:prstGeom prst="rect">
            <a:avLst/>
          </a:prstGeom>
          <a:noFill/>
        </p:spPr>
        <p:txBody>
          <a:bodyPr wrap="square" lIns="0" rIns="0" tIns="0" bIns="0" anchor="t">
            <a:spAutoFit/>
          </a:bodyPr>
          <a:lstStyle/>
          <a:p>
            <a:pPr algn="l"/>
            <a:r>
              <a:rPr sz="2200" b="1" i="0">
                <a:solidFill>
                  <a:srgbClr val="1F2433"/>
                </a:solidFill>
                <a:latin typeface="Cambria"/>
              </a:rPr>
              <a:t>KNN</a:t>
            </a:r>
          </a:p>
        </p:txBody>
      </p:sp>
      <p:sp>
        <p:nvSpPr>
          <p:cNvPr id="9" name="TextBox 8"/>
          <p:cNvSpPr txBox="1"/>
          <p:nvPr/>
        </p:nvSpPr>
        <p:spPr>
          <a:xfrm>
            <a:off x="749808" y="3200400"/>
            <a:ext cx="1737360" cy="1280160"/>
          </a:xfrm>
          <a:prstGeom prst="rect">
            <a:avLst/>
          </a:prstGeom>
          <a:noFill/>
        </p:spPr>
        <p:txBody>
          <a:bodyPr wrap="square" lIns="0" rIns="0" tIns="0" bIns="0" anchor="t">
            <a:spAutoFit/>
          </a:bodyPr>
          <a:lstStyle/>
          <a:p>
            <a:pPr algn="l"/>
            <a:r>
              <a:rPr sz="1500" b="0" i="0">
                <a:solidFill>
                  <a:srgbClr val="6B7280"/>
                </a:solidFill>
                <a:latin typeface="Calibri"/>
              </a:rPr>
              <a:t>Quantile-scaled distance; k from 5 to 250</a:t>
            </a:r>
          </a:p>
        </p:txBody>
      </p:sp>
      <p:sp>
        <p:nvSpPr>
          <p:cNvPr id="10" name="TextBox 9"/>
          <p:cNvSpPr txBox="1"/>
          <p:nvPr/>
        </p:nvSpPr>
        <p:spPr>
          <a:xfrm>
            <a:off x="749808" y="4572000"/>
            <a:ext cx="1737360" cy="1188720"/>
          </a:xfrm>
          <a:prstGeom prst="rect">
            <a:avLst/>
          </a:prstGeom>
          <a:noFill/>
        </p:spPr>
        <p:txBody>
          <a:bodyPr wrap="square" lIns="0" rIns="0" tIns="0" bIns="0" anchor="t">
            <a:spAutoFit/>
          </a:bodyPr>
          <a:lstStyle/>
          <a:p>
            <a:pPr algn="l"/>
            <a:r>
              <a:rPr sz="1500" b="1" i="0">
                <a:solidFill>
                  <a:srgbClr val="1F2433"/>
                </a:solidFill>
                <a:latin typeface="Calibri"/>
              </a:rPr>
              <a:t>Tuned: k = 100–250</a:t>
            </a:r>
          </a:p>
        </p:txBody>
      </p:sp>
      <p:sp>
        <p:nvSpPr>
          <p:cNvPr id="11" name="Model card Random Forest"/>
          <p:cNvSpPr/>
          <p:nvPr/>
        </p:nvSpPr>
        <p:spPr>
          <a:xfrm>
            <a:off x="2798064" y="1783080"/>
            <a:ext cx="2084831" cy="4206240"/>
          </a:xfrm>
          <a:prstGeom prst="roundRect">
            <a:avLst>
              <a:gd name="adj" fmla="val 8000"/>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999232" y="2011680"/>
            <a:ext cx="1737360" cy="274320"/>
          </a:xfrm>
          <a:prstGeom prst="rect">
            <a:avLst/>
          </a:prstGeom>
          <a:noFill/>
        </p:spPr>
        <p:txBody>
          <a:bodyPr wrap="square" lIns="0" rIns="0" tIns="0" bIns="0" anchor="t">
            <a:spAutoFit/>
          </a:bodyPr>
          <a:lstStyle/>
          <a:p>
            <a:pPr algn="l"/>
            <a:r>
              <a:rPr sz="1100" b="1" i="0">
                <a:solidFill>
                  <a:srgbClr val="EB6A35"/>
                </a:solidFill>
                <a:latin typeface="Calibri"/>
              </a:rPr>
              <a:t>REGRESSION</a:t>
            </a:r>
          </a:p>
        </p:txBody>
      </p:sp>
      <p:sp>
        <p:nvSpPr>
          <p:cNvPr id="13" name="TextBox 12"/>
          <p:cNvSpPr txBox="1"/>
          <p:nvPr/>
        </p:nvSpPr>
        <p:spPr>
          <a:xfrm>
            <a:off x="2999232" y="2331720"/>
            <a:ext cx="1737360" cy="822960"/>
          </a:xfrm>
          <a:prstGeom prst="rect">
            <a:avLst/>
          </a:prstGeom>
          <a:noFill/>
        </p:spPr>
        <p:txBody>
          <a:bodyPr wrap="square" lIns="0" rIns="0" tIns="0" bIns="0" anchor="t">
            <a:spAutoFit/>
          </a:bodyPr>
          <a:lstStyle/>
          <a:p>
            <a:pPr algn="l"/>
            <a:r>
              <a:rPr sz="2200" b="1" i="0">
                <a:solidFill>
                  <a:srgbClr val="1F2433"/>
                </a:solidFill>
                <a:latin typeface="Cambria"/>
              </a:rPr>
              <a:t>Random Forest</a:t>
            </a:r>
          </a:p>
        </p:txBody>
      </p:sp>
      <p:sp>
        <p:nvSpPr>
          <p:cNvPr id="14" name="TextBox 13"/>
          <p:cNvSpPr txBox="1"/>
          <p:nvPr/>
        </p:nvSpPr>
        <p:spPr>
          <a:xfrm>
            <a:off x="2999232" y="3200400"/>
            <a:ext cx="1737360" cy="1280160"/>
          </a:xfrm>
          <a:prstGeom prst="rect">
            <a:avLst/>
          </a:prstGeom>
          <a:noFill/>
        </p:spPr>
        <p:txBody>
          <a:bodyPr wrap="square" lIns="0" rIns="0" tIns="0" bIns="0" anchor="t">
            <a:spAutoFit/>
          </a:bodyPr>
          <a:lstStyle/>
          <a:p>
            <a:pPr algn="l"/>
            <a:r>
              <a:rPr sz="1500" b="0" i="0">
                <a:solidFill>
                  <a:srgbClr val="6B7280"/>
                </a:solidFill>
                <a:latin typeface="Calibri"/>
              </a:rPr>
              <a:t>400 trees, depth × leaf × features grid</a:t>
            </a:r>
          </a:p>
        </p:txBody>
      </p:sp>
      <p:sp>
        <p:nvSpPr>
          <p:cNvPr id="15" name="TextBox 14"/>
          <p:cNvSpPr txBox="1"/>
          <p:nvPr/>
        </p:nvSpPr>
        <p:spPr>
          <a:xfrm>
            <a:off x="2999232" y="4572000"/>
            <a:ext cx="1737360" cy="1188720"/>
          </a:xfrm>
          <a:prstGeom prst="rect">
            <a:avLst/>
          </a:prstGeom>
          <a:noFill/>
        </p:spPr>
        <p:txBody>
          <a:bodyPr wrap="square" lIns="0" rIns="0" tIns="0" bIns="0" anchor="t">
            <a:spAutoFit/>
          </a:bodyPr>
          <a:lstStyle/>
          <a:p>
            <a:pPr algn="l"/>
            <a:r>
              <a:rPr sz="1500" b="1" i="0">
                <a:solidFill>
                  <a:srgbClr val="1F2433"/>
                </a:solidFill>
                <a:latin typeface="Calibri"/>
              </a:rPr>
              <a:t>Tuned: leaves of 50–100 rows</a:t>
            </a:r>
          </a:p>
        </p:txBody>
      </p:sp>
      <p:sp>
        <p:nvSpPr>
          <p:cNvPr id="16" name="Model card Ridge"/>
          <p:cNvSpPr/>
          <p:nvPr/>
        </p:nvSpPr>
        <p:spPr>
          <a:xfrm>
            <a:off x="5047488" y="1783080"/>
            <a:ext cx="2084831" cy="4206240"/>
          </a:xfrm>
          <a:prstGeom prst="roundRect">
            <a:avLst>
              <a:gd name="adj" fmla="val 8000"/>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248655" y="2011680"/>
            <a:ext cx="1737360" cy="274320"/>
          </a:xfrm>
          <a:prstGeom prst="rect">
            <a:avLst/>
          </a:prstGeom>
          <a:noFill/>
        </p:spPr>
        <p:txBody>
          <a:bodyPr wrap="square" lIns="0" rIns="0" tIns="0" bIns="0" anchor="t">
            <a:spAutoFit/>
          </a:bodyPr>
          <a:lstStyle/>
          <a:p>
            <a:pPr algn="l"/>
            <a:r>
              <a:rPr sz="1100" b="1" i="0">
                <a:solidFill>
                  <a:srgbClr val="EB6A35"/>
                </a:solidFill>
                <a:latin typeface="Calibri"/>
              </a:rPr>
              <a:t>REGRESSION</a:t>
            </a:r>
          </a:p>
        </p:txBody>
      </p:sp>
      <p:sp>
        <p:nvSpPr>
          <p:cNvPr id="18" name="TextBox 17"/>
          <p:cNvSpPr txBox="1"/>
          <p:nvPr/>
        </p:nvSpPr>
        <p:spPr>
          <a:xfrm>
            <a:off x="5248655" y="2331720"/>
            <a:ext cx="1737360" cy="822960"/>
          </a:xfrm>
          <a:prstGeom prst="rect">
            <a:avLst/>
          </a:prstGeom>
          <a:noFill/>
        </p:spPr>
        <p:txBody>
          <a:bodyPr wrap="square" lIns="0" rIns="0" tIns="0" bIns="0" anchor="t">
            <a:spAutoFit/>
          </a:bodyPr>
          <a:lstStyle/>
          <a:p>
            <a:pPr algn="l"/>
            <a:r>
              <a:rPr sz="2200" b="1" i="0">
                <a:solidFill>
                  <a:srgbClr val="1F2433"/>
                </a:solidFill>
                <a:latin typeface="Cambria"/>
              </a:rPr>
              <a:t>Ridge</a:t>
            </a:r>
          </a:p>
        </p:txBody>
      </p:sp>
      <p:sp>
        <p:nvSpPr>
          <p:cNvPr id="19" name="TextBox 18"/>
          <p:cNvSpPr txBox="1"/>
          <p:nvPr/>
        </p:nvSpPr>
        <p:spPr>
          <a:xfrm>
            <a:off x="5248655" y="3200400"/>
            <a:ext cx="1737360" cy="1280160"/>
          </a:xfrm>
          <a:prstGeom prst="rect">
            <a:avLst/>
          </a:prstGeom>
          <a:noFill/>
        </p:spPr>
        <p:txBody>
          <a:bodyPr wrap="square" lIns="0" rIns="0" tIns="0" bIns="0" anchor="t">
            <a:spAutoFit/>
          </a:bodyPr>
          <a:lstStyle/>
          <a:p>
            <a:pPr algn="l"/>
            <a:r>
              <a:rPr sz="1500" b="0" i="0">
                <a:solidFill>
                  <a:srgbClr val="6B7280"/>
                </a:solidFill>
                <a:latin typeface="Calibri"/>
              </a:rPr>
              <a:t>L2 penalty; α from 0.1 to 10⁷</a:t>
            </a:r>
          </a:p>
        </p:txBody>
      </p:sp>
      <p:sp>
        <p:nvSpPr>
          <p:cNvPr id="20" name="TextBox 19"/>
          <p:cNvSpPr txBox="1"/>
          <p:nvPr/>
        </p:nvSpPr>
        <p:spPr>
          <a:xfrm>
            <a:off x="5248655" y="4572000"/>
            <a:ext cx="1737360" cy="1188720"/>
          </a:xfrm>
          <a:prstGeom prst="rect">
            <a:avLst/>
          </a:prstGeom>
          <a:noFill/>
        </p:spPr>
        <p:txBody>
          <a:bodyPr wrap="square" lIns="0" rIns="0" tIns="0" bIns="0" anchor="t">
            <a:spAutoFit/>
          </a:bodyPr>
          <a:lstStyle/>
          <a:p>
            <a:pPr algn="l"/>
            <a:r>
              <a:rPr sz="1500" b="1" i="0">
                <a:solidFill>
                  <a:srgbClr val="1F2433"/>
                </a:solidFill>
                <a:latin typeface="Calibri"/>
              </a:rPr>
              <a:t>Tuned: α = 10⁴–10⁷</a:t>
            </a:r>
          </a:p>
        </p:txBody>
      </p:sp>
      <p:sp>
        <p:nvSpPr>
          <p:cNvPr id="21" name="Model card Elastic Net"/>
          <p:cNvSpPr/>
          <p:nvPr/>
        </p:nvSpPr>
        <p:spPr>
          <a:xfrm>
            <a:off x="7296912" y="1783080"/>
            <a:ext cx="2084831" cy="4206240"/>
          </a:xfrm>
          <a:prstGeom prst="roundRect">
            <a:avLst>
              <a:gd name="adj" fmla="val 8000"/>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498079" y="2011680"/>
            <a:ext cx="1737360" cy="274320"/>
          </a:xfrm>
          <a:prstGeom prst="rect">
            <a:avLst/>
          </a:prstGeom>
          <a:noFill/>
        </p:spPr>
        <p:txBody>
          <a:bodyPr wrap="square" lIns="0" rIns="0" tIns="0" bIns="0" anchor="t">
            <a:spAutoFit/>
          </a:bodyPr>
          <a:lstStyle/>
          <a:p>
            <a:pPr algn="l"/>
            <a:r>
              <a:rPr sz="1100" b="1" i="0">
                <a:solidFill>
                  <a:srgbClr val="EB6A35"/>
                </a:solidFill>
                <a:latin typeface="Calibri"/>
              </a:rPr>
              <a:t>REGRESSION</a:t>
            </a:r>
          </a:p>
        </p:txBody>
      </p:sp>
      <p:sp>
        <p:nvSpPr>
          <p:cNvPr id="23" name="TextBox 22"/>
          <p:cNvSpPr txBox="1"/>
          <p:nvPr/>
        </p:nvSpPr>
        <p:spPr>
          <a:xfrm>
            <a:off x="7498079" y="2331720"/>
            <a:ext cx="1737360" cy="822960"/>
          </a:xfrm>
          <a:prstGeom prst="rect">
            <a:avLst/>
          </a:prstGeom>
          <a:noFill/>
        </p:spPr>
        <p:txBody>
          <a:bodyPr wrap="square" lIns="0" rIns="0" tIns="0" bIns="0" anchor="t">
            <a:spAutoFit/>
          </a:bodyPr>
          <a:lstStyle/>
          <a:p>
            <a:pPr algn="l"/>
            <a:r>
              <a:rPr sz="2200" b="1" i="0">
                <a:solidFill>
                  <a:srgbClr val="1F2433"/>
                </a:solidFill>
                <a:latin typeface="Cambria"/>
              </a:rPr>
              <a:t>Elastic Net</a:t>
            </a:r>
          </a:p>
        </p:txBody>
      </p:sp>
      <p:sp>
        <p:nvSpPr>
          <p:cNvPr id="24" name="TextBox 23"/>
          <p:cNvSpPr txBox="1"/>
          <p:nvPr/>
        </p:nvSpPr>
        <p:spPr>
          <a:xfrm>
            <a:off x="7498079" y="3200400"/>
            <a:ext cx="1737360" cy="1280160"/>
          </a:xfrm>
          <a:prstGeom prst="rect">
            <a:avLst/>
          </a:prstGeom>
          <a:noFill/>
        </p:spPr>
        <p:txBody>
          <a:bodyPr wrap="square" lIns="0" rIns="0" tIns="0" bIns="0" anchor="t">
            <a:spAutoFit/>
          </a:bodyPr>
          <a:lstStyle/>
          <a:p>
            <a:pPr algn="l"/>
            <a:r>
              <a:rPr sz="1500" b="0" i="0">
                <a:solidFill>
                  <a:srgbClr val="6B7280"/>
                </a:solidFill>
                <a:latin typeface="Calibri"/>
              </a:rPr>
              <a:t>L1 + L2, α × l1_ratio grid</a:t>
            </a:r>
          </a:p>
        </p:txBody>
      </p:sp>
      <p:sp>
        <p:nvSpPr>
          <p:cNvPr id="25" name="TextBox 24"/>
          <p:cNvSpPr txBox="1"/>
          <p:nvPr/>
        </p:nvSpPr>
        <p:spPr>
          <a:xfrm>
            <a:off x="7498079" y="4572000"/>
            <a:ext cx="1737360" cy="1188720"/>
          </a:xfrm>
          <a:prstGeom prst="rect">
            <a:avLst/>
          </a:prstGeom>
          <a:noFill/>
        </p:spPr>
        <p:txBody>
          <a:bodyPr wrap="square" lIns="0" rIns="0" tIns="0" bIns="0" anchor="t">
            <a:spAutoFit/>
          </a:bodyPr>
          <a:lstStyle/>
          <a:p>
            <a:pPr algn="l"/>
            <a:r>
              <a:rPr sz="1500" b="1" i="0">
                <a:solidFill>
                  <a:srgbClr val="1F2433"/>
                </a:solidFill>
                <a:latin typeface="Calibri"/>
              </a:rPr>
              <a:t>Tuned: all-zero in 2 of 5 folds</a:t>
            </a:r>
          </a:p>
        </p:txBody>
      </p:sp>
      <p:sp>
        <p:nvSpPr>
          <p:cNvPr id="26" name="Model card Logistic"/>
          <p:cNvSpPr/>
          <p:nvPr/>
        </p:nvSpPr>
        <p:spPr>
          <a:xfrm>
            <a:off x="9546336" y="1783080"/>
            <a:ext cx="2084831" cy="4206240"/>
          </a:xfrm>
          <a:prstGeom prst="roundRect">
            <a:avLst>
              <a:gd name="adj" fmla="val 8000"/>
            </a:avLst>
          </a:prstGeom>
          <a:solidFill>
            <a:srgbClr val="141B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747504" y="2011680"/>
            <a:ext cx="1737360" cy="274320"/>
          </a:xfrm>
          <a:prstGeom prst="rect">
            <a:avLst/>
          </a:prstGeom>
          <a:noFill/>
        </p:spPr>
        <p:txBody>
          <a:bodyPr wrap="square" lIns="0" rIns="0" tIns="0" bIns="0" anchor="t">
            <a:spAutoFit/>
          </a:bodyPr>
          <a:lstStyle/>
          <a:p>
            <a:pPr algn="l"/>
            <a:r>
              <a:rPr sz="1100" b="1" i="0">
                <a:solidFill>
                  <a:srgbClr val="EB6A35"/>
                </a:solidFill>
                <a:latin typeface="Calibri"/>
              </a:rPr>
              <a:t>CLASSIFICATION</a:t>
            </a:r>
          </a:p>
        </p:txBody>
      </p:sp>
      <p:sp>
        <p:nvSpPr>
          <p:cNvPr id="28" name="TextBox 27"/>
          <p:cNvSpPr txBox="1"/>
          <p:nvPr/>
        </p:nvSpPr>
        <p:spPr>
          <a:xfrm>
            <a:off x="9747504" y="2331720"/>
            <a:ext cx="1737360" cy="822960"/>
          </a:xfrm>
          <a:prstGeom prst="rect">
            <a:avLst/>
          </a:prstGeom>
          <a:noFill/>
        </p:spPr>
        <p:txBody>
          <a:bodyPr wrap="square" lIns="0" rIns="0" tIns="0" bIns="0" anchor="t">
            <a:spAutoFit/>
          </a:bodyPr>
          <a:lstStyle/>
          <a:p>
            <a:pPr algn="l"/>
            <a:r>
              <a:rPr sz="2200" b="1" i="0">
                <a:solidFill>
                  <a:srgbClr val="FFFFFF"/>
                </a:solidFill>
                <a:latin typeface="Cambria"/>
              </a:rPr>
              <a:t>Logistic</a:t>
            </a:r>
          </a:p>
        </p:txBody>
      </p:sp>
      <p:sp>
        <p:nvSpPr>
          <p:cNvPr id="29" name="TextBox 28"/>
          <p:cNvSpPr txBox="1"/>
          <p:nvPr/>
        </p:nvSpPr>
        <p:spPr>
          <a:xfrm>
            <a:off x="9747504" y="3200400"/>
            <a:ext cx="1737360" cy="1280160"/>
          </a:xfrm>
          <a:prstGeom prst="rect">
            <a:avLst/>
          </a:prstGeom>
          <a:noFill/>
        </p:spPr>
        <p:txBody>
          <a:bodyPr wrap="square" lIns="0" rIns="0" tIns="0" bIns="0" anchor="t">
            <a:spAutoFit/>
          </a:bodyPr>
          <a:lstStyle/>
          <a:p>
            <a:pPr algn="l"/>
            <a:r>
              <a:rPr sz="1500" b="0" i="0">
                <a:solidFill>
                  <a:srgbClr val="C9D3E6"/>
                </a:solidFill>
                <a:latin typeface="Calibri"/>
              </a:rPr>
              <a:t>L2; C from 10⁻⁵ to 10, log-loss tuning</a:t>
            </a:r>
          </a:p>
        </p:txBody>
      </p:sp>
      <p:sp>
        <p:nvSpPr>
          <p:cNvPr id="30" name="TextBox 29"/>
          <p:cNvSpPr txBox="1"/>
          <p:nvPr/>
        </p:nvSpPr>
        <p:spPr>
          <a:xfrm>
            <a:off x="9747504" y="4572000"/>
            <a:ext cx="1737360" cy="1188720"/>
          </a:xfrm>
          <a:prstGeom prst="rect">
            <a:avLst/>
          </a:prstGeom>
          <a:noFill/>
        </p:spPr>
        <p:txBody>
          <a:bodyPr wrap="square" lIns="0" rIns="0" tIns="0" bIns="0" anchor="t">
            <a:spAutoFit/>
          </a:bodyPr>
          <a:lstStyle/>
          <a:p>
            <a:pPr algn="l"/>
            <a:r>
              <a:rPr sz="1500" b="1" i="0">
                <a:solidFill>
                  <a:srgbClr val="FFFFFF"/>
                </a:solidFill>
                <a:latin typeface="Calibri"/>
              </a:rPr>
              <a:t>Events: top-20% vol, 1.5× spike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548640" y="320040"/>
            <a:ext cx="11064240" cy="274320"/>
          </a:xfrm>
          <a:prstGeom prst="rect">
            <a:avLst/>
          </a:prstGeom>
          <a:noFill/>
        </p:spPr>
        <p:txBody>
          <a:bodyPr wrap="square" lIns="0" rIns="0" tIns="0" bIns="0" anchor="t">
            <a:spAutoFit/>
          </a:bodyPr>
          <a:lstStyle/>
          <a:p>
            <a:pPr algn="l"/>
            <a:r>
              <a:rPr sz="1200" b="1" i="0">
                <a:solidFill>
                  <a:srgbClr val="EB6A35"/>
                </a:solidFill>
                <a:latin typeface="Calibri"/>
              </a:rPr>
              <a:t>RESULT 1</a:t>
            </a:r>
          </a:p>
        </p:txBody>
      </p:sp>
      <p:sp>
        <p:nvSpPr>
          <p:cNvPr id="3" name="Title"/>
          <p:cNvSpPr txBox="1"/>
          <p:nvPr/>
        </p:nvSpPr>
        <p:spPr>
          <a:xfrm>
            <a:off x="548640" y="594360"/>
            <a:ext cx="11064240" cy="822960"/>
          </a:xfrm>
          <a:prstGeom prst="rect">
            <a:avLst/>
          </a:prstGeom>
          <a:noFill/>
        </p:spPr>
        <p:txBody>
          <a:bodyPr wrap="square" lIns="0" rIns="0" tIns="0" bIns="0" anchor="t">
            <a:spAutoFit/>
          </a:bodyPr>
          <a:lstStyle/>
          <a:p>
            <a:pPr algn="l"/>
            <a:r>
              <a:rPr sz="3200" b="1" i="0">
                <a:solidFill>
                  <a:srgbClr val="1F2433"/>
                </a:solidFill>
                <a:latin typeface="Cambria"/>
              </a:rPr>
              <a:t>All models beat the benchmarks on controls alone</a:t>
            </a:r>
          </a:p>
        </p:txBody>
      </p:sp>
      <p:sp>
        <p:nvSpPr>
          <p:cNvPr id="4" name="Footer"/>
          <p:cNvSpPr txBox="1"/>
          <p:nvPr/>
        </p:nvSpPr>
        <p:spPr>
          <a:xfrm>
            <a:off x="548640" y="6400800"/>
            <a:ext cx="7315200" cy="274320"/>
          </a:xfrm>
          <a:prstGeom prst="rect">
            <a:avLst/>
          </a:prstGeom>
          <a:noFill/>
        </p:spPr>
        <p:txBody>
          <a:bodyPr wrap="square" lIns="0" rIns="0" tIns="0" bIns="0" anchor="t">
            <a:spAutoFit/>
          </a:bodyPr>
          <a:lstStyle/>
          <a:p>
            <a:pPr algn="l"/>
            <a:r>
              <a:rPr sz="1000" b="0" i="0">
                <a:solidFill>
                  <a:srgbClr val="6B7280"/>
                </a:solidFill>
                <a:latin typeface="Calibri"/>
              </a:rPr>
              <a:t>MH6805 Group 7  |  Token unlocks and forward volatility</a:t>
            </a:r>
          </a:p>
        </p:txBody>
      </p:sp>
      <p:sp>
        <p:nvSpPr>
          <p:cNvPr id="5" name="Slide number"/>
          <p:cNvSpPr txBox="1"/>
          <p:nvPr/>
        </p:nvSpPr>
        <p:spPr>
          <a:xfrm>
            <a:off x="10241280" y="6400800"/>
            <a:ext cx="1399032" cy="274320"/>
          </a:xfrm>
          <a:prstGeom prst="rect">
            <a:avLst/>
          </a:prstGeom>
          <a:noFill/>
        </p:spPr>
        <p:txBody>
          <a:bodyPr wrap="square" lIns="0" rIns="0" tIns="0" bIns="0" anchor="t">
            <a:spAutoFit/>
          </a:bodyPr>
          <a:lstStyle/>
          <a:p>
            <a:pPr algn="r"/>
            <a:r>
              <a:rPr sz="1000" b="0" i="0">
                <a:solidFill>
                  <a:srgbClr val="6B7280"/>
                </a:solidFill>
                <a:latin typeface="Calibri"/>
              </a:rPr>
              <a:t>8</a:t>
            </a:r>
          </a:p>
        </p:txBody>
      </p:sp>
      <p:graphicFrame>
        <p:nvGraphicFramePr>
          <p:cNvPr id="6" name="Chart 5"/>
          <p:cNvGraphicFramePr>
            <a:graphicFrameLocks noGrp="1"/>
          </p:cNvGraphicFramePr>
          <p:nvPr/>
        </p:nvGraphicFramePr>
        <p:xfrm>
          <a:off x="548640" y="1600200"/>
          <a:ext cx="7589520" cy="4572000"/>
        </p:xfrm>
        <a:graphic>
          <a:graphicData uri="http://schemas.openxmlformats.org/drawingml/2006/chart">
            <c:chart xmlns:c="http://schemas.openxmlformats.org/drawingml/2006/chart" r:id="rId3"/>
          </a:graphicData>
        </a:graphic>
      </p:graphicFrame>
      <p:sp>
        <p:nvSpPr>
          <p:cNvPr id="7" name="TextBox 6"/>
          <p:cNvSpPr txBox="1"/>
          <p:nvPr/>
        </p:nvSpPr>
        <p:spPr>
          <a:xfrm>
            <a:off x="8503920" y="1737360"/>
            <a:ext cx="3108960" cy="365760"/>
          </a:xfrm>
          <a:prstGeom prst="rect">
            <a:avLst/>
          </a:prstGeom>
          <a:noFill/>
        </p:spPr>
        <p:txBody>
          <a:bodyPr wrap="square" lIns="0" rIns="0" tIns="0" bIns="0" anchor="t">
            <a:spAutoFit/>
          </a:bodyPr>
          <a:lstStyle/>
          <a:p>
            <a:pPr algn="l"/>
            <a:r>
              <a:rPr sz="1400" b="1" i="0">
                <a:solidFill>
                  <a:srgbClr val="1F2433"/>
                </a:solidFill>
                <a:latin typeface="Calibri"/>
              </a:rPr>
              <a:t>Out-of-sample R² vs persistence</a:t>
            </a:r>
          </a:p>
        </p:txBody>
      </p:sp>
      <p:sp>
        <p:nvSpPr>
          <p:cNvPr id="8" name="TextBox 7"/>
          <p:cNvSpPr txBox="1"/>
          <p:nvPr/>
        </p:nvSpPr>
        <p:spPr>
          <a:xfrm>
            <a:off x="8503920" y="2057400"/>
            <a:ext cx="3108960" cy="365760"/>
          </a:xfrm>
          <a:prstGeom prst="rect">
            <a:avLst/>
          </a:prstGeom>
          <a:noFill/>
        </p:spPr>
        <p:txBody>
          <a:bodyPr wrap="square" lIns="0" rIns="0" tIns="0" bIns="0" anchor="t">
            <a:spAutoFit/>
          </a:bodyPr>
          <a:lstStyle/>
          <a:p>
            <a:pPr algn="l"/>
            <a:r>
              <a:rPr sz="1300" b="0" i="0">
                <a:solidFill>
                  <a:srgbClr val="6B7280"/>
                </a:solidFill>
                <a:latin typeface="Calibri"/>
              </a:rPr>
              <a:t>daily panel, 5 test folds, same test rows for every forecast</a:t>
            </a:r>
          </a:p>
        </p:txBody>
      </p:sp>
      <p:sp>
        <p:nvSpPr>
          <p:cNvPr id="9" name="TextBox 8"/>
          <p:cNvSpPr txBox="1"/>
          <p:nvPr/>
        </p:nvSpPr>
        <p:spPr>
          <a:xfrm>
            <a:off x="8503920" y="2743200"/>
            <a:ext cx="3200400" cy="640080"/>
          </a:xfrm>
          <a:prstGeom prst="rect">
            <a:avLst/>
          </a:prstGeom>
          <a:noFill/>
        </p:spPr>
        <p:txBody>
          <a:bodyPr wrap="square" lIns="0" rIns="0" tIns="0" bIns="0" anchor="t">
            <a:spAutoFit/>
          </a:bodyPr>
          <a:lstStyle/>
          <a:p>
            <a:pPr algn="l"/>
            <a:r>
              <a:rPr sz="3600" b="1" i="0">
                <a:solidFill>
                  <a:srgbClr val="141B2D"/>
                </a:solidFill>
                <a:latin typeface="Cambria"/>
              </a:rPr>
              <a:t>0.17</a:t>
            </a:r>
          </a:p>
        </p:txBody>
      </p:sp>
      <p:sp>
        <p:nvSpPr>
          <p:cNvPr id="10" name="TextBox 9"/>
          <p:cNvSpPr txBox="1"/>
          <p:nvPr/>
        </p:nvSpPr>
        <p:spPr>
          <a:xfrm>
            <a:off x="8503920" y="3429000"/>
            <a:ext cx="3108960" cy="731520"/>
          </a:xfrm>
          <a:prstGeom prst="rect">
            <a:avLst/>
          </a:prstGeom>
          <a:noFill/>
        </p:spPr>
        <p:txBody>
          <a:bodyPr wrap="square" lIns="0" rIns="0" tIns="0" bIns="0" anchor="t">
            <a:spAutoFit/>
          </a:bodyPr>
          <a:lstStyle/>
          <a:p>
            <a:pPr algn="l"/>
            <a:r>
              <a:rPr sz="1500" b="0" i="0">
                <a:solidFill>
                  <a:srgbClr val="6B7280"/>
                </a:solidFill>
                <a:latin typeface="Calibri"/>
              </a:rPr>
              <a:t>training-mean benchmark: every model is above it</a:t>
            </a:r>
          </a:p>
        </p:txBody>
      </p:sp>
      <p:sp>
        <p:nvSpPr>
          <p:cNvPr id="11" name="TextBox 10"/>
          <p:cNvSpPr txBox="1"/>
          <p:nvPr/>
        </p:nvSpPr>
        <p:spPr>
          <a:xfrm>
            <a:off x="8503920" y="4343400"/>
            <a:ext cx="3200400" cy="640080"/>
          </a:xfrm>
          <a:prstGeom prst="rect">
            <a:avLst/>
          </a:prstGeom>
          <a:noFill/>
        </p:spPr>
        <p:txBody>
          <a:bodyPr wrap="square" lIns="0" rIns="0" tIns="0" bIns="0" anchor="t">
            <a:spAutoFit/>
          </a:bodyPr>
          <a:lstStyle/>
          <a:p>
            <a:pPr algn="l"/>
            <a:r>
              <a:rPr sz="3000" b="1" i="0">
                <a:solidFill>
                  <a:srgbClr val="EB6A35"/>
                </a:solidFill>
                <a:latin typeface="Cambria"/>
              </a:rPr>
              <a:t>+0.001 to +0.006</a:t>
            </a:r>
          </a:p>
        </p:txBody>
      </p:sp>
      <p:sp>
        <p:nvSpPr>
          <p:cNvPr id="12" name="TextBox 11"/>
          <p:cNvSpPr txBox="1"/>
          <p:nvPr/>
        </p:nvSpPr>
        <p:spPr>
          <a:xfrm>
            <a:off x="8503920" y="5029200"/>
            <a:ext cx="3108960" cy="731520"/>
          </a:xfrm>
          <a:prstGeom prst="rect">
            <a:avLst/>
          </a:prstGeom>
          <a:noFill/>
        </p:spPr>
        <p:txBody>
          <a:bodyPr wrap="square" lIns="0" rIns="0" tIns="0" bIns="0" anchor="t">
            <a:spAutoFit/>
          </a:bodyPr>
          <a:lstStyle/>
          <a:p>
            <a:pPr algn="l"/>
            <a:r>
              <a:rPr sz="1500" b="0" i="0">
                <a:solidFill>
                  <a:srgbClr val="6B7280"/>
                </a:solidFill>
                <a:latin typeface="Calibri"/>
              </a:rPr>
              <a:t>gain from adding 23 unlock and static features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548640" y="320040"/>
            <a:ext cx="11064240" cy="274320"/>
          </a:xfrm>
          <a:prstGeom prst="rect">
            <a:avLst/>
          </a:prstGeom>
          <a:noFill/>
        </p:spPr>
        <p:txBody>
          <a:bodyPr wrap="square" lIns="0" rIns="0" tIns="0" bIns="0" anchor="t">
            <a:spAutoFit/>
          </a:bodyPr>
          <a:lstStyle/>
          <a:p>
            <a:pPr algn="l"/>
            <a:r>
              <a:rPr sz="1200" b="1" i="0">
                <a:solidFill>
                  <a:srgbClr val="EB6A35"/>
                </a:solidFill>
                <a:latin typeface="Calibri"/>
              </a:rPr>
              <a:t>RESULT 2</a:t>
            </a:r>
          </a:p>
        </p:txBody>
      </p:sp>
      <p:sp>
        <p:nvSpPr>
          <p:cNvPr id="3" name="Title"/>
          <p:cNvSpPr txBox="1"/>
          <p:nvPr/>
        </p:nvSpPr>
        <p:spPr>
          <a:xfrm>
            <a:off x="548640" y="594360"/>
            <a:ext cx="11064240" cy="822960"/>
          </a:xfrm>
          <a:prstGeom prst="rect">
            <a:avLst/>
          </a:prstGeom>
          <a:noFill/>
        </p:spPr>
        <p:txBody>
          <a:bodyPr wrap="square" lIns="0" rIns="0" tIns="0" bIns="0" anchor="t">
            <a:spAutoFit/>
          </a:bodyPr>
          <a:lstStyle/>
          <a:p>
            <a:pPr algn="l"/>
            <a:r>
              <a:rPr sz="3200" b="1" i="0">
                <a:solidFill>
                  <a:srgbClr val="1F2433"/>
                </a:solidFill>
                <a:latin typeface="Cambria"/>
              </a:rPr>
              <a:t>The small gain is noise: it flips sign across folds</a:t>
            </a:r>
          </a:p>
        </p:txBody>
      </p:sp>
      <p:sp>
        <p:nvSpPr>
          <p:cNvPr id="4" name="Footer"/>
          <p:cNvSpPr txBox="1"/>
          <p:nvPr/>
        </p:nvSpPr>
        <p:spPr>
          <a:xfrm>
            <a:off x="548640" y="6400800"/>
            <a:ext cx="7315200" cy="274320"/>
          </a:xfrm>
          <a:prstGeom prst="rect">
            <a:avLst/>
          </a:prstGeom>
          <a:noFill/>
        </p:spPr>
        <p:txBody>
          <a:bodyPr wrap="square" lIns="0" rIns="0" tIns="0" bIns="0" anchor="t">
            <a:spAutoFit/>
          </a:bodyPr>
          <a:lstStyle/>
          <a:p>
            <a:pPr algn="l"/>
            <a:r>
              <a:rPr sz="1000" b="0" i="0">
                <a:solidFill>
                  <a:srgbClr val="6B7280"/>
                </a:solidFill>
                <a:latin typeface="Calibri"/>
              </a:rPr>
              <a:t>MH6805 Group 7  |  Token unlocks and forward volatility</a:t>
            </a:r>
          </a:p>
        </p:txBody>
      </p:sp>
      <p:sp>
        <p:nvSpPr>
          <p:cNvPr id="5" name="Slide number"/>
          <p:cNvSpPr txBox="1"/>
          <p:nvPr/>
        </p:nvSpPr>
        <p:spPr>
          <a:xfrm>
            <a:off x="10241280" y="6400800"/>
            <a:ext cx="1399032" cy="274320"/>
          </a:xfrm>
          <a:prstGeom prst="rect">
            <a:avLst/>
          </a:prstGeom>
          <a:noFill/>
        </p:spPr>
        <p:txBody>
          <a:bodyPr wrap="square" lIns="0" rIns="0" tIns="0" bIns="0" anchor="t">
            <a:spAutoFit/>
          </a:bodyPr>
          <a:lstStyle/>
          <a:p>
            <a:pPr algn="r"/>
            <a:r>
              <a:rPr sz="1000" b="0" i="0">
                <a:solidFill>
                  <a:srgbClr val="6B7280"/>
                </a:solidFill>
                <a:latin typeface="Calibri"/>
              </a:rPr>
              <a:t>9</a:t>
            </a:r>
          </a:p>
        </p:txBody>
      </p:sp>
      <p:graphicFrame>
        <p:nvGraphicFramePr>
          <p:cNvPr id="6" name="Chart 5"/>
          <p:cNvGraphicFramePr>
            <a:graphicFrameLocks noGrp="1"/>
          </p:cNvGraphicFramePr>
          <p:nvPr/>
        </p:nvGraphicFramePr>
        <p:xfrm>
          <a:off x="548640" y="1600200"/>
          <a:ext cx="7589520" cy="4572000"/>
        </p:xfrm>
        <a:graphic>
          <a:graphicData uri="http://schemas.openxmlformats.org/drawingml/2006/chart">
            <c:chart xmlns:c="http://schemas.openxmlformats.org/drawingml/2006/chart" r:id="rId3"/>
          </a:graphicData>
        </a:graphic>
      </p:graphicFrame>
      <p:sp>
        <p:nvSpPr>
          <p:cNvPr id="7" name="TextBox 6"/>
          <p:cNvSpPr txBox="1"/>
          <p:nvPr/>
        </p:nvSpPr>
        <p:spPr>
          <a:xfrm>
            <a:off x="8503920" y="1737360"/>
            <a:ext cx="3108960" cy="365760"/>
          </a:xfrm>
          <a:prstGeom prst="rect">
            <a:avLst/>
          </a:prstGeom>
          <a:noFill/>
        </p:spPr>
        <p:txBody>
          <a:bodyPr wrap="square" lIns="0" rIns="0" tIns="0" bIns="0" anchor="t">
            <a:spAutoFit/>
          </a:bodyPr>
          <a:lstStyle/>
          <a:p>
            <a:pPr algn="l"/>
            <a:r>
              <a:rPr sz="1400" b="1" i="0">
                <a:solidFill>
                  <a:srgbClr val="1F2433"/>
                </a:solidFill>
                <a:latin typeface="Calibri"/>
              </a:rPr>
              <a:t>Δ R²oos = FULL − CONTROLS</a:t>
            </a:r>
          </a:p>
        </p:txBody>
      </p:sp>
      <p:sp>
        <p:nvSpPr>
          <p:cNvPr id="8" name="TextBox 7"/>
          <p:cNvSpPr txBox="1"/>
          <p:nvPr/>
        </p:nvSpPr>
        <p:spPr>
          <a:xfrm>
            <a:off x="8503920" y="2057400"/>
            <a:ext cx="3108960" cy="365760"/>
          </a:xfrm>
          <a:prstGeom prst="rect">
            <a:avLst/>
          </a:prstGeom>
          <a:noFill/>
        </p:spPr>
        <p:txBody>
          <a:bodyPr wrap="square" lIns="0" rIns="0" tIns="0" bIns="0" anchor="t">
            <a:spAutoFit/>
          </a:bodyPr>
          <a:lstStyle/>
          <a:p>
            <a:pPr algn="l"/>
            <a:r>
              <a:rPr sz="1300" b="0" i="0">
                <a:solidFill>
                  <a:srgbClr val="6B7280"/>
                </a:solidFill>
                <a:latin typeface="Calibri"/>
              </a:rPr>
              <a:t>per test fold, in calendar order</a:t>
            </a:r>
          </a:p>
        </p:txBody>
      </p:sp>
      <p:sp>
        <p:nvSpPr>
          <p:cNvPr id="9" name="TextBox 8"/>
          <p:cNvSpPr txBox="1"/>
          <p:nvPr/>
        </p:nvSpPr>
        <p:spPr>
          <a:xfrm>
            <a:off x="8503920" y="2743200"/>
            <a:ext cx="3200400" cy="640080"/>
          </a:xfrm>
          <a:prstGeom prst="rect">
            <a:avLst/>
          </a:prstGeom>
          <a:noFill/>
        </p:spPr>
        <p:txBody>
          <a:bodyPr wrap="square" lIns="0" rIns="0" tIns="0" bIns="0" anchor="t">
            <a:spAutoFit/>
          </a:bodyPr>
          <a:lstStyle/>
          <a:p>
            <a:pPr algn="l"/>
            <a:r>
              <a:rPr sz="3600" b="1" i="0">
                <a:solidFill>
                  <a:srgbClr val="EB6A35"/>
                </a:solidFill>
                <a:latin typeface="Cambria"/>
              </a:rPr>
              <a:t>2 of 5</a:t>
            </a:r>
          </a:p>
        </p:txBody>
      </p:sp>
      <p:sp>
        <p:nvSpPr>
          <p:cNvPr id="10" name="TextBox 9"/>
          <p:cNvSpPr txBox="1"/>
          <p:nvPr/>
        </p:nvSpPr>
        <p:spPr>
          <a:xfrm>
            <a:off x="8503920" y="3429000"/>
            <a:ext cx="3108960" cy="822960"/>
          </a:xfrm>
          <a:prstGeom prst="rect">
            <a:avLst/>
          </a:prstGeom>
          <a:noFill/>
        </p:spPr>
        <p:txBody>
          <a:bodyPr wrap="square" lIns="0" rIns="0" tIns="0" bIns="0" anchor="t">
            <a:spAutoFit/>
          </a:bodyPr>
          <a:lstStyle/>
          <a:p>
            <a:pPr algn="l"/>
            <a:r>
              <a:rPr sz="1500" b="0" i="0">
                <a:solidFill>
                  <a:srgbClr val="6B7280"/>
                </a:solidFill>
                <a:latin typeface="Calibri"/>
              </a:rPr>
              <a:t>folds where FULL beats CONTROLS (RF and KNN); 3 of 5 for the linear models</a:t>
            </a:r>
          </a:p>
        </p:txBody>
      </p:sp>
      <p:sp>
        <p:nvSpPr>
          <p:cNvPr id="11" name="TextBox 10"/>
          <p:cNvSpPr txBox="1"/>
          <p:nvPr/>
        </p:nvSpPr>
        <p:spPr>
          <a:xfrm>
            <a:off x="8503920" y="4343400"/>
            <a:ext cx="3200400" cy="640080"/>
          </a:xfrm>
          <a:prstGeom prst="rect">
            <a:avLst/>
          </a:prstGeom>
          <a:noFill/>
        </p:spPr>
        <p:txBody>
          <a:bodyPr wrap="square" lIns="0" rIns="0" tIns="0" bIns="0" anchor="t">
            <a:spAutoFit/>
          </a:bodyPr>
          <a:lstStyle/>
          <a:p>
            <a:pPr algn="l"/>
            <a:r>
              <a:rPr sz="3600" b="1" i="0">
                <a:solidFill>
                  <a:srgbClr val="141B2D"/>
                </a:solidFill>
                <a:latin typeface="Cambria"/>
              </a:rPr>
              <a:t>±0.15</a:t>
            </a:r>
          </a:p>
        </p:txBody>
      </p:sp>
      <p:sp>
        <p:nvSpPr>
          <p:cNvPr id="12" name="TextBox 11"/>
          <p:cNvSpPr txBox="1"/>
          <p:nvPr/>
        </p:nvSpPr>
        <p:spPr>
          <a:xfrm>
            <a:off x="8503920" y="5029200"/>
            <a:ext cx="3108960" cy="822960"/>
          </a:xfrm>
          <a:prstGeom prst="rect">
            <a:avLst/>
          </a:prstGeom>
          <a:noFill/>
        </p:spPr>
        <p:txBody>
          <a:bodyPr wrap="square" lIns="0" rIns="0" tIns="0" bIns="0" anchor="t">
            <a:spAutoFit/>
          </a:bodyPr>
          <a:lstStyle/>
          <a:p>
            <a:pPr algn="l"/>
            <a:r>
              <a:rPr sz="1500" b="0" i="0">
                <a:solidFill>
                  <a:srgbClr val="6B7280"/>
                </a:solidFill>
                <a:latin typeface="Calibri"/>
              </a:rPr>
              <a:t>fold-to-fold s.d. of R²oos itself, 25× the largest mean gain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548640" y="320040"/>
            <a:ext cx="11064240" cy="274320"/>
          </a:xfrm>
          <a:prstGeom prst="rect">
            <a:avLst/>
          </a:prstGeom>
          <a:noFill/>
        </p:spPr>
        <p:txBody>
          <a:bodyPr wrap="square" lIns="0" rIns="0" tIns="0" bIns="0" anchor="t">
            <a:spAutoFit/>
          </a:bodyPr>
          <a:lstStyle/>
          <a:p>
            <a:pPr algn="l"/>
            <a:r>
              <a:rPr sz="1200" b="1" i="0">
                <a:solidFill>
                  <a:srgbClr val="EB6A35"/>
                </a:solidFill>
                <a:latin typeface="Calibri"/>
              </a:rPr>
              <a:t>WHICH MISTAKES REMAIN?</a:t>
            </a:r>
          </a:p>
        </p:txBody>
      </p:sp>
      <p:sp>
        <p:nvSpPr>
          <p:cNvPr id="3" name="Title"/>
          <p:cNvSpPr txBox="1"/>
          <p:nvPr/>
        </p:nvSpPr>
        <p:spPr>
          <a:xfrm>
            <a:off x="548640" y="594360"/>
            <a:ext cx="11064240" cy="822960"/>
          </a:xfrm>
          <a:prstGeom prst="rect">
            <a:avLst/>
          </a:prstGeom>
          <a:noFill/>
        </p:spPr>
        <p:txBody>
          <a:bodyPr wrap="square" lIns="0" rIns="0" tIns="0" bIns="0" anchor="t">
            <a:spAutoFit/>
          </a:bodyPr>
          <a:lstStyle/>
          <a:p>
            <a:pPr algn="l"/>
            <a:r>
              <a:rPr sz="3200" b="1" i="0">
                <a:solidFill>
                  <a:srgbClr val="1F2433"/>
                </a:solidFill>
                <a:latin typeface="Cambria"/>
              </a:rPr>
              <a:t>Unlock features do not help even where unlocks are big</a:t>
            </a:r>
          </a:p>
        </p:txBody>
      </p:sp>
      <p:sp>
        <p:nvSpPr>
          <p:cNvPr id="4" name="Footer"/>
          <p:cNvSpPr txBox="1"/>
          <p:nvPr/>
        </p:nvSpPr>
        <p:spPr>
          <a:xfrm>
            <a:off x="548640" y="6400800"/>
            <a:ext cx="7315200" cy="274320"/>
          </a:xfrm>
          <a:prstGeom prst="rect">
            <a:avLst/>
          </a:prstGeom>
          <a:noFill/>
        </p:spPr>
        <p:txBody>
          <a:bodyPr wrap="square" lIns="0" rIns="0" tIns="0" bIns="0" anchor="t">
            <a:spAutoFit/>
          </a:bodyPr>
          <a:lstStyle/>
          <a:p>
            <a:pPr algn="l"/>
            <a:r>
              <a:rPr sz="1000" b="0" i="0">
                <a:solidFill>
                  <a:srgbClr val="6B7280"/>
                </a:solidFill>
                <a:latin typeface="Calibri"/>
              </a:rPr>
              <a:t>MH6805 Group 7  |  Token unlocks and forward volatility</a:t>
            </a:r>
          </a:p>
        </p:txBody>
      </p:sp>
      <p:sp>
        <p:nvSpPr>
          <p:cNvPr id="5" name="Slide number"/>
          <p:cNvSpPr txBox="1"/>
          <p:nvPr/>
        </p:nvSpPr>
        <p:spPr>
          <a:xfrm>
            <a:off x="10241280" y="6400800"/>
            <a:ext cx="1399032" cy="274320"/>
          </a:xfrm>
          <a:prstGeom prst="rect">
            <a:avLst/>
          </a:prstGeom>
          <a:noFill/>
        </p:spPr>
        <p:txBody>
          <a:bodyPr wrap="square" lIns="0" rIns="0" tIns="0" bIns="0" anchor="t">
            <a:spAutoFit/>
          </a:bodyPr>
          <a:lstStyle/>
          <a:p>
            <a:pPr algn="r"/>
            <a:r>
              <a:rPr sz="1000" b="0" i="0">
                <a:solidFill>
                  <a:srgbClr val="6B7280"/>
                </a:solidFill>
                <a:latin typeface="Calibri"/>
              </a:rPr>
              <a:t>10</a:t>
            </a:r>
          </a:p>
        </p:txBody>
      </p:sp>
      <p:graphicFrame>
        <p:nvGraphicFramePr>
          <p:cNvPr id="6" name="Chart 5"/>
          <p:cNvGraphicFramePr>
            <a:graphicFrameLocks noGrp="1"/>
          </p:cNvGraphicFramePr>
          <p:nvPr/>
        </p:nvGraphicFramePr>
        <p:xfrm>
          <a:off x="548640" y="2011680"/>
          <a:ext cx="7589520" cy="4160520"/>
        </p:xfrm>
        <a:graphic>
          <a:graphicData uri="http://schemas.openxmlformats.org/drawingml/2006/chart">
            <c:chart xmlns:c="http://schemas.openxmlformats.org/drawingml/2006/chart" r:id="rId3"/>
          </a:graphicData>
        </a:graphic>
      </p:graphicFrame>
      <p:sp>
        <p:nvSpPr>
          <p:cNvPr id="7" name="TextBox 6"/>
          <p:cNvSpPr txBox="1"/>
          <p:nvPr/>
        </p:nvSpPr>
        <p:spPr>
          <a:xfrm>
            <a:off x="548640" y="1645920"/>
            <a:ext cx="7589520" cy="365760"/>
          </a:xfrm>
          <a:prstGeom prst="rect">
            <a:avLst/>
          </a:prstGeom>
          <a:noFill/>
        </p:spPr>
        <p:txBody>
          <a:bodyPr wrap="square" lIns="0" rIns="0" tIns="0" bIns="0" anchor="t">
            <a:spAutoFit/>
          </a:bodyPr>
          <a:lstStyle/>
          <a:p>
            <a:pPr algn="l"/>
            <a:r>
              <a:rPr sz="1400" b="1" i="0">
                <a:solidFill>
                  <a:srgbClr val="1F2433"/>
                </a:solidFill>
                <a:latin typeface="Calibri"/>
              </a:rPr>
              <a:t>Change in test RMSE from adding unlock features (positive = worse), by 30-day unlock share of float</a:t>
            </a:r>
          </a:p>
        </p:txBody>
      </p:sp>
      <p:sp>
        <p:nvSpPr>
          <p:cNvPr id="8" name="TextBox 7"/>
          <p:cNvSpPr txBox="1"/>
          <p:nvPr/>
        </p:nvSpPr>
        <p:spPr>
          <a:xfrm>
            <a:off x="8503920" y="1737360"/>
            <a:ext cx="3200400" cy="640080"/>
          </a:xfrm>
          <a:prstGeom prst="rect">
            <a:avLst/>
          </a:prstGeom>
          <a:noFill/>
        </p:spPr>
        <p:txBody>
          <a:bodyPr wrap="square" lIns="0" rIns="0" tIns="0" bIns="0" anchor="t">
            <a:spAutoFit/>
          </a:bodyPr>
          <a:lstStyle/>
          <a:p>
            <a:pPr algn="l"/>
            <a:r>
              <a:rPr sz="3200" b="1" i="0">
                <a:solidFill>
                  <a:srgbClr val="141B2D"/>
                </a:solidFill>
                <a:latin typeface="Cambria"/>
              </a:rPr>
              <a:t>18% → 12%</a:t>
            </a:r>
          </a:p>
        </p:txBody>
      </p:sp>
      <p:sp>
        <p:nvSpPr>
          <p:cNvPr id="9" name="TextBox 8"/>
          <p:cNvSpPr txBox="1"/>
          <p:nvPr/>
        </p:nvSpPr>
        <p:spPr>
          <a:xfrm>
            <a:off x="8503920" y="2423160"/>
            <a:ext cx="3108960" cy="1097280"/>
          </a:xfrm>
          <a:prstGeom prst="rect">
            <a:avLst/>
          </a:prstGeom>
          <a:noFill/>
        </p:spPr>
        <p:txBody>
          <a:bodyPr wrap="square" lIns="0" rIns="0" tIns="0" bIns="0" anchor="t">
            <a:spAutoFit/>
          </a:bodyPr>
          <a:lstStyle/>
          <a:p>
            <a:pPr algn="l"/>
            <a:r>
              <a:rPr sz="1500" b="0" i="0">
                <a:solidFill>
                  <a:srgbClr val="6B7280"/>
                </a:solidFill>
                <a:latin typeface="Calibri"/>
              </a:rPr>
              <a:t>forecasts off by more than 2×: persistence vs Ridge. The real gain is fewer large misses</a:t>
            </a:r>
          </a:p>
        </p:txBody>
      </p:sp>
      <p:sp>
        <p:nvSpPr>
          <p:cNvPr id="10" name="TextBox 9"/>
          <p:cNvSpPr txBox="1"/>
          <p:nvPr/>
        </p:nvSpPr>
        <p:spPr>
          <a:xfrm>
            <a:off x="8503920" y="3886200"/>
            <a:ext cx="3200400" cy="640080"/>
          </a:xfrm>
          <a:prstGeom prst="rect">
            <a:avLst/>
          </a:prstGeom>
          <a:noFill/>
        </p:spPr>
        <p:txBody>
          <a:bodyPr wrap="square" lIns="0" rIns="0" tIns="0" bIns="0" anchor="t">
            <a:spAutoFit/>
          </a:bodyPr>
          <a:lstStyle/>
          <a:p>
            <a:pPr algn="l"/>
            <a:r>
              <a:rPr sz="3200" b="1" i="0">
                <a:solidFill>
                  <a:srgbClr val="EB6A35"/>
                </a:solidFill>
                <a:latin typeface="Cambria"/>
              </a:rPr>
              <a:t>62%</a:t>
            </a:r>
          </a:p>
        </p:txBody>
      </p:sp>
      <p:sp>
        <p:nvSpPr>
          <p:cNvPr id="11" name="TextBox 10"/>
          <p:cNvSpPr txBox="1"/>
          <p:nvPr/>
        </p:nvSpPr>
        <p:spPr>
          <a:xfrm>
            <a:off x="8503920" y="4572000"/>
            <a:ext cx="3108960" cy="1097280"/>
          </a:xfrm>
          <a:prstGeom prst="rect">
            <a:avLst/>
          </a:prstGeom>
          <a:noFill/>
        </p:spPr>
        <p:txBody>
          <a:bodyPr wrap="square" lIns="0" rIns="0" tIns="0" bIns="0" anchor="t">
            <a:spAutoFit/>
          </a:bodyPr>
          <a:lstStyle/>
          <a:p>
            <a:pPr algn="l"/>
            <a:r>
              <a:rPr sz="1500" b="0" i="0">
                <a:solidFill>
                  <a:srgbClr val="6B7280"/>
                </a:solidFill>
                <a:latin typeface="Calibri"/>
              </a:rPr>
              <a:t>of remaining 2× misses are over-forecasts: volatility collapsed. The rest are spikes no feature sees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548640" y="320040"/>
            <a:ext cx="11064240" cy="274320"/>
          </a:xfrm>
          <a:prstGeom prst="rect">
            <a:avLst/>
          </a:prstGeom>
          <a:noFill/>
        </p:spPr>
        <p:txBody>
          <a:bodyPr wrap="square" lIns="0" rIns="0" tIns="0" bIns="0" anchor="t">
            <a:spAutoFit/>
          </a:bodyPr>
          <a:lstStyle/>
          <a:p>
            <a:pPr algn="l"/>
            <a:r>
              <a:rPr sz="1200" b="1" i="0">
                <a:solidFill>
                  <a:srgbClr val="EB6A35"/>
                </a:solidFill>
                <a:latin typeface="Calibri"/>
              </a:rPr>
              <a:t>INTERPRETATION</a:t>
            </a:r>
          </a:p>
        </p:txBody>
      </p:sp>
      <p:sp>
        <p:nvSpPr>
          <p:cNvPr id="3" name="Title"/>
          <p:cNvSpPr txBox="1"/>
          <p:nvPr/>
        </p:nvSpPr>
        <p:spPr>
          <a:xfrm>
            <a:off x="548640" y="594360"/>
            <a:ext cx="11064240" cy="822960"/>
          </a:xfrm>
          <a:prstGeom prst="rect">
            <a:avLst/>
          </a:prstGeom>
          <a:noFill/>
        </p:spPr>
        <p:txBody>
          <a:bodyPr wrap="square" lIns="0" rIns="0" tIns="0" bIns="0" anchor="t">
            <a:spAutoFit/>
          </a:bodyPr>
          <a:lstStyle/>
          <a:p>
            <a:pPr algn="l"/>
            <a:r>
              <a:rPr sz="3200" b="1" i="0">
                <a:solidFill>
                  <a:srgbClr val="1F2433"/>
                </a:solidFill>
                <a:latin typeface="Cambria"/>
              </a:rPr>
              <a:t>Inside the models, unlock features barely register</a:t>
            </a:r>
          </a:p>
        </p:txBody>
      </p:sp>
      <p:sp>
        <p:nvSpPr>
          <p:cNvPr id="4" name="Footer"/>
          <p:cNvSpPr txBox="1"/>
          <p:nvPr/>
        </p:nvSpPr>
        <p:spPr>
          <a:xfrm>
            <a:off x="548640" y="6400800"/>
            <a:ext cx="7315200" cy="274320"/>
          </a:xfrm>
          <a:prstGeom prst="rect">
            <a:avLst/>
          </a:prstGeom>
          <a:noFill/>
        </p:spPr>
        <p:txBody>
          <a:bodyPr wrap="square" lIns="0" rIns="0" tIns="0" bIns="0" anchor="t">
            <a:spAutoFit/>
          </a:bodyPr>
          <a:lstStyle/>
          <a:p>
            <a:pPr algn="l"/>
            <a:r>
              <a:rPr sz="1000" b="0" i="0">
                <a:solidFill>
                  <a:srgbClr val="6B7280"/>
                </a:solidFill>
                <a:latin typeface="Calibri"/>
              </a:rPr>
              <a:t>MH6805 Group 7  |  Token unlocks and forward volatility</a:t>
            </a:r>
          </a:p>
        </p:txBody>
      </p:sp>
      <p:sp>
        <p:nvSpPr>
          <p:cNvPr id="5" name="Slide number"/>
          <p:cNvSpPr txBox="1"/>
          <p:nvPr/>
        </p:nvSpPr>
        <p:spPr>
          <a:xfrm>
            <a:off x="10241280" y="6400800"/>
            <a:ext cx="1399032" cy="274320"/>
          </a:xfrm>
          <a:prstGeom prst="rect">
            <a:avLst/>
          </a:prstGeom>
          <a:noFill/>
        </p:spPr>
        <p:txBody>
          <a:bodyPr wrap="square" lIns="0" rIns="0" tIns="0" bIns="0" anchor="t">
            <a:spAutoFit/>
          </a:bodyPr>
          <a:lstStyle/>
          <a:p>
            <a:pPr algn="r"/>
            <a:r>
              <a:rPr sz="1000" b="0" i="0">
                <a:solidFill>
                  <a:srgbClr val="6B7280"/>
                </a:solidFill>
                <a:latin typeface="Calibri"/>
              </a:rPr>
              <a:t>11</a:t>
            </a:r>
          </a:p>
        </p:txBody>
      </p:sp>
      <p:graphicFrame>
        <p:nvGraphicFramePr>
          <p:cNvPr id="6" name="Chart 5"/>
          <p:cNvGraphicFramePr>
            <a:graphicFrameLocks noGrp="1"/>
          </p:cNvGraphicFramePr>
          <p:nvPr/>
        </p:nvGraphicFramePr>
        <p:xfrm>
          <a:off x="548640" y="2057400"/>
          <a:ext cx="5486400" cy="3291840"/>
        </p:xfrm>
        <a:graphic>
          <a:graphicData uri="http://schemas.openxmlformats.org/drawingml/2006/chart">
            <c:chart xmlns:c="http://schemas.openxmlformats.org/drawingml/2006/chart" r:id="rId3"/>
          </a:graphicData>
        </a:graphic>
      </p:graphicFrame>
      <p:sp>
        <p:nvSpPr>
          <p:cNvPr id="7" name="TextBox 6"/>
          <p:cNvSpPr txBox="1"/>
          <p:nvPr/>
        </p:nvSpPr>
        <p:spPr>
          <a:xfrm>
            <a:off x="548640" y="1645920"/>
            <a:ext cx="5486400" cy="365760"/>
          </a:xfrm>
          <a:prstGeom prst="rect">
            <a:avLst/>
          </a:prstGeom>
          <a:noFill/>
        </p:spPr>
        <p:txBody>
          <a:bodyPr wrap="square" lIns="0" rIns="0" tIns="0" bIns="0" anchor="t">
            <a:spAutoFit/>
          </a:bodyPr>
          <a:lstStyle/>
          <a:p>
            <a:pPr algn="l"/>
            <a:r>
              <a:rPr sz="1400" b="1" i="0">
                <a:solidFill>
                  <a:srgbClr val="1F2433"/>
                </a:solidFill>
                <a:latin typeface="Calibri"/>
              </a:rPr>
              <a:t>Random Forest: test-RMSE increase when a feature group is shuffled</a:t>
            </a:r>
          </a:p>
        </p:txBody>
      </p:sp>
      <p:sp>
        <p:nvSpPr>
          <p:cNvPr id="8" name="TextBox 7"/>
          <p:cNvSpPr txBox="1"/>
          <p:nvPr/>
        </p:nvSpPr>
        <p:spPr>
          <a:xfrm>
            <a:off x="548640" y="5440680"/>
            <a:ext cx="5486400" cy="640080"/>
          </a:xfrm>
          <a:prstGeom prst="rect">
            <a:avLst/>
          </a:prstGeom>
          <a:noFill/>
        </p:spPr>
        <p:txBody>
          <a:bodyPr wrap="square" lIns="0" rIns="0" tIns="0" bIns="0" anchor="t">
            <a:spAutoFit/>
          </a:bodyPr>
          <a:lstStyle/>
          <a:p>
            <a:pPr algn="l"/>
            <a:r>
              <a:rPr sz="1300" b="0" i="0">
                <a:solidFill>
                  <a:srgbClr val="6B7280"/>
                </a:solidFill>
                <a:latin typeface="Calibri"/>
              </a:rPr>
              <a:t>Top 5 features are all controls: trailing 30d, 14d, 7d vol, 30d return, token age. Partial dependence on unlock pressure is flat across BTC regimes.</a:t>
            </a:r>
          </a:p>
        </p:txBody>
      </p:sp>
      <p:sp>
        <p:nvSpPr>
          <p:cNvPr id="9" name="Interpretation card 0"/>
          <p:cNvSpPr/>
          <p:nvPr/>
        </p:nvSpPr>
        <p:spPr>
          <a:xfrm>
            <a:off x="6492240" y="1691640"/>
            <a:ext cx="5120640" cy="1298448"/>
          </a:xfrm>
          <a:prstGeom prst="roundRect">
            <a:avLst>
              <a:gd name="adj" fmla="val 8000"/>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720840" y="1856232"/>
            <a:ext cx="4663440" cy="274320"/>
          </a:xfrm>
          <a:prstGeom prst="rect">
            <a:avLst/>
          </a:prstGeom>
          <a:noFill/>
        </p:spPr>
        <p:txBody>
          <a:bodyPr wrap="square" lIns="0" rIns="0" tIns="0" bIns="0" anchor="t">
            <a:spAutoFit/>
          </a:bodyPr>
          <a:lstStyle/>
          <a:p>
            <a:pPr algn="l"/>
            <a:r>
              <a:rPr sz="1100" b="1" i="0">
                <a:solidFill>
                  <a:srgbClr val="EB6A35"/>
                </a:solidFill>
                <a:latin typeface="Calibri"/>
              </a:rPr>
              <a:t>COEFFICIENTS</a:t>
            </a:r>
          </a:p>
        </p:txBody>
      </p:sp>
      <p:sp>
        <p:nvSpPr>
          <p:cNvPr id="11" name="TextBox 10"/>
          <p:cNvSpPr txBox="1"/>
          <p:nvPr/>
        </p:nvSpPr>
        <p:spPr>
          <a:xfrm>
            <a:off x="6720840" y="2103120"/>
            <a:ext cx="4663440" cy="365760"/>
          </a:xfrm>
          <a:prstGeom prst="rect">
            <a:avLst/>
          </a:prstGeom>
          <a:noFill/>
        </p:spPr>
        <p:txBody>
          <a:bodyPr wrap="square" lIns="0" rIns="0" tIns="0" bIns="0" anchor="t">
            <a:spAutoFit/>
          </a:bodyPr>
          <a:lstStyle/>
          <a:p>
            <a:pPr algn="l"/>
            <a:r>
              <a:rPr sz="1500" b="1" i="0">
                <a:solidFill>
                  <a:srgbClr val="1F2433"/>
                </a:solidFill>
                <a:latin typeface="Calibri"/>
              </a:rPr>
              <a:t>Ridge / Elastic Net</a:t>
            </a:r>
          </a:p>
        </p:txBody>
      </p:sp>
      <p:sp>
        <p:nvSpPr>
          <p:cNvPr id="12" name="TextBox 11"/>
          <p:cNvSpPr txBox="1"/>
          <p:nvPr/>
        </p:nvSpPr>
        <p:spPr>
          <a:xfrm>
            <a:off x="6720840" y="2441448"/>
            <a:ext cx="4663440" cy="548640"/>
          </a:xfrm>
          <a:prstGeom prst="rect">
            <a:avLst/>
          </a:prstGeom>
          <a:noFill/>
        </p:spPr>
        <p:txBody>
          <a:bodyPr wrap="square" lIns="0" rIns="0" tIns="0" bIns="0" anchor="t">
            <a:spAutoFit/>
          </a:bodyPr>
          <a:lstStyle/>
          <a:p>
            <a:pPr algn="l"/>
            <a:r>
              <a:rPr sz="1300" b="0" i="0">
                <a:solidFill>
                  <a:srgbClr val="6B7280"/>
                </a:solidFill>
                <a:latin typeface="Calibri"/>
              </a:rPr>
              <a:t>Largest unlock coefficient +0.008 vs +0.040 for trailing 30d vol; EN drops every feature in 2 of 5 folds</a:t>
            </a:r>
          </a:p>
        </p:txBody>
      </p:sp>
      <p:sp>
        <p:nvSpPr>
          <p:cNvPr id="13" name="Interpretation card 1"/>
          <p:cNvSpPr/>
          <p:nvPr/>
        </p:nvSpPr>
        <p:spPr>
          <a:xfrm>
            <a:off x="6492240" y="3172968"/>
            <a:ext cx="5120640" cy="1298448"/>
          </a:xfrm>
          <a:prstGeom prst="roundRect">
            <a:avLst>
              <a:gd name="adj" fmla="val 8000"/>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720840" y="3337560"/>
            <a:ext cx="4663440" cy="274320"/>
          </a:xfrm>
          <a:prstGeom prst="rect">
            <a:avLst/>
          </a:prstGeom>
          <a:noFill/>
        </p:spPr>
        <p:txBody>
          <a:bodyPr wrap="square" lIns="0" rIns="0" tIns="0" bIns="0" anchor="t">
            <a:spAutoFit/>
          </a:bodyPr>
          <a:lstStyle/>
          <a:p>
            <a:pPr algn="l"/>
            <a:r>
              <a:rPr sz="1100" b="1" i="0">
                <a:solidFill>
                  <a:srgbClr val="EB6A35"/>
                </a:solidFill>
                <a:latin typeface="Calibri"/>
              </a:rPr>
              <a:t>A TREE</a:t>
            </a:r>
          </a:p>
        </p:txBody>
      </p:sp>
      <p:sp>
        <p:nvSpPr>
          <p:cNvPr id="15" name="TextBox 14"/>
          <p:cNvSpPr txBox="1"/>
          <p:nvPr/>
        </p:nvSpPr>
        <p:spPr>
          <a:xfrm>
            <a:off x="6720840" y="3584448"/>
            <a:ext cx="4663440" cy="365760"/>
          </a:xfrm>
          <a:prstGeom prst="rect">
            <a:avLst/>
          </a:prstGeom>
          <a:noFill/>
        </p:spPr>
        <p:txBody>
          <a:bodyPr wrap="square" lIns="0" rIns="0" tIns="0" bIns="0" anchor="t">
            <a:spAutoFit/>
          </a:bodyPr>
          <a:lstStyle/>
          <a:p>
            <a:pPr algn="l"/>
            <a:r>
              <a:rPr sz="1500" b="1" i="0">
                <a:solidFill>
                  <a:srgbClr val="1F2433"/>
                </a:solidFill>
                <a:latin typeface="Calibri"/>
              </a:rPr>
              <a:t>Depth-3 tree, all 32 features</a:t>
            </a:r>
          </a:p>
        </p:txBody>
      </p:sp>
      <p:sp>
        <p:nvSpPr>
          <p:cNvPr id="16" name="TextBox 15"/>
          <p:cNvSpPr txBox="1"/>
          <p:nvPr/>
        </p:nvSpPr>
        <p:spPr>
          <a:xfrm>
            <a:off x="6720840" y="3922776"/>
            <a:ext cx="4663440" cy="548640"/>
          </a:xfrm>
          <a:prstGeom prst="rect">
            <a:avLst/>
          </a:prstGeom>
          <a:noFill/>
        </p:spPr>
        <p:txBody>
          <a:bodyPr wrap="square" lIns="0" rIns="0" tIns="0" bIns="0" anchor="t">
            <a:spAutoFit/>
          </a:bodyPr>
          <a:lstStyle/>
          <a:p>
            <a:pPr algn="l"/>
            <a:r>
              <a:rPr sz="1300" b="0" i="0">
                <a:solidFill>
                  <a:srgbClr val="6B7280"/>
                </a:solidFill>
                <a:latin typeface="Calibri"/>
              </a:rPr>
              <a:t>Splits only on trailing vol, BTC/ETH vol, token age and 30d return</a:t>
            </a:r>
          </a:p>
        </p:txBody>
      </p:sp>
      <p:sp>
        <p:nvSpPr>
          <p:cNvPr id="17" name="Interpretation card 2"/>
          <p:cNvSpPr/>
          <p:nvPr/>
        </p:nvSpPr>
        <p:spPr>
          <a:xfrm>
            <a:off x="6492240" y="4654296"/>
            <a:ext cx="5120640" cy="1298448"/>
          </a:xfrm>
          <a:prstGeom prst="roundRect">
            <a:avLst>
              <a:gd name="adj" fmla="val 8000"/>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720840" y="4818888"/>
            <a:ext cx="4663440" cy="274320"/>
          </a:xfrm>
          <a:prstGeom prst="rect">
            <a:avLst/>
          </a:prstGeom>
          <a:noFill/>
        </p:spPr>
        <p:txBody>
          <a:bodyPr wrap="square" lIns="0" rIns="0" tIns="0" bIns="0" anchor="t">
            <a:spAutoFit/>
          </a:bodyPr>
          <a:lstStyle/>
          <a:p>
            <a:pPr algn="l"/>
            <a:r>
              <a:rPr sz="1100" b="1" i="0">
                <a:solidFill>
                  <a:srgbClr val="EB6A35"/>
                </a:solidFill>
                <a:latin typeface="Calibri"/>
              </a:rPr>
              <a:t>NEIGHBOURS</a:t>
            </a:r>
          </a:p>
        </p:txBody>
      </p:sp>
      <p:sp>
        <p:nvSpPr>
          <p:cNvPr id="19" name="TextBox 18"/>
          <p:cNvSpPr txBox="1"/>
          <p:nvPr/>
        </p:nvSpPr>
        <p:spPr>
          <a:xfrm>
            <a:off x="6720840" y="5065776"/>
            <a:ext cx="4663440" cy="365760"/>
          </a:xfrm>
          <a:prstGeom prst="rect">
            <a:avLst/>
          </a:prstGeom>
          <a:noFill/>
        </p:spPr>
        <p:txBody>
          <a:bodyPr wrap="square" lIns="0" rIns="0" tIns="0" bIns="0" anchor="t">
            <a:spAutoFit/>
          </a:bodyPr>
          <a:lstStyle/>
          <a:p>
            <a:pPr algn="l"/>
            <a:r>
              <a:rPr sz="1500" b="1" i="0">
                <a:solidFill>
                  <a:srgbClr val="1F2433"/>
                </a:solidFill>
                <a:latin typeface="Calibri"/>
              </a:rPr>
              <a:t>KNN, most unlock-heavy row</a:t>
            </a:r>
          </a:p>
        </p:txBody>
      </p:sp>
      <p:sp>
        <p:nvSpPr>
          <p:cNvPr id="20" name="TextBox 19"/>
          <p:cNvSpPr txBox="1"/>
          <p:nvPr/>
        </p:nvSpPr>
        <p:spPr>
          <a:xfrm>
            <a:off x="6720840" y="5404104"/>
            <a:ext cx="4663440" cy="548640"/>
          </a:xfrm>
          <a:prstGeom prst="rect">
            <a:avLst/>
          </a:prstGeom>
          <a:noFill/>
        </p:spPr>
        <p:txBody>
          <a:bodyPr wrap="square" lIns="0" rIns="0" tIns="0" bIns="0" anchor="t">
            <a:spAutoFit/>
          </a:bodyPr>
          <a:lstStyle/>
          <a:p>
            <a:pPr algn="l"/>
            <a:r>
              <a:rPr sz="1300" b="0" i="0">
                <a:solidFill>
                  <a:srgbClr val="6B7280"/>
                </a:solidFill>
                <a:latin typeface="Calibri"/>
              </a:rPr>
              <a:t>104% of float unlocking; neighbours' median 12.5%. Forecast 0.78, realized 0.55</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548640" y="320040"/>
            <a:ext cx="11064240" cy="274320"/>
          </a:xfrm>
          <a:prstGeom prst="rect">
            <a:avLst/>
          </a:prstGeom>
          <a:noFill/>
        </p:spPr>
        <p:txBody>
          <a:bodyPr wrap="square" lIns="0" rIns="0" tIns="0" bIns="0" anchor="t">
            <a:spAutoFit/>
          </a:bodyPr>
          <a:lstStyle/>
          <a:p>
            <a:pPr algn="l"/>
            <a:r>
              <a:rPr sz="1200" b="1" i="0">
                <a:solidFill>
                  <a:srgbClr val="EB6A35"/>
                </a:solidFill>
                <a:latin typeface="Calibri"/>
              </a:rPr>
              <a:t>RESULT 3</a:t>
            </a:r>
          </a:p>
        </p:txBody>
      </p:sp>
      <p:sp>
        <p:nvSpPr>
          <p:cNvPr id="3" name="Title"/>
          <p:cNvSpPr txBox="1"/>
          <p:nvPr/>
        </p:nvSpPr>
        <p:spPr>
          <a:xfrm>
            <a:off x="548640" y="594360"/>
            <a:ext cx="11064240" cy="822960"/>
          </a:xfrm>
          <a:prstGeom prst="rect">
            <a:avLst/>
          </a:prstGeom>
          <a:noFill/>
        </p:spPr>
        <p:txBody>
          <a:bodyPr wrap="square" lIns="0" rIns="0" tIns="0" bIns="0" anchor="t">
            <a:spAutoFit/>
          </a:bodyPr>
          <a:lstStyle/>
          <a:p>
            <a:pPr algn="l"/>
            <a:r>
              <a:rPr sz="3200" b="1" i="0">
                <a:solidFill>
                  <a:srgbClr val="1F2433"/>
                </a:solidFill>
                <a:latin typeface="Cambria"/>
              </a:rPr>
              <a:t>Classification view: unlock features slightly hurt</a:t>
            </a:r>
          </a:p>
        </p:txBody>
      </p:sp>
      <p:sp>
        <p:nvSpPr>
          <p:cNvPr id="4" name="Footer"/>
          <p:cNvSpPr txBox="1"/>
          <p:nvPr/>
        </p:nvSpPr>
        <p:spPr>
          <a:xfrm>
            <a:off x="548640" y="6400800"/>
            <a:ext cx="7315200" cy="274320"/>
          </a:xfrm>
          <a:prstGeom prst="rect">
            <a:avLst/>
          </a:prstGeom>
          <a:noFill/>
        </p:spPr>
        <p:txBody>
          <a:bodyPr wrap="square" lIns="0" rIns="0" tIns="0" bIns="0" anchor="t">
            <a:spAutoFit/>
          </a:bodyPr>
          <a:lstStyle/>
          <a:p>
            <a:pPr algn="l"/>
            <a:r>
              <a:rPr sz="1000" b="0" i="0">
                <a:solidFill>
                  <a:srgbClr val="6B7280"/>
                </a:solidFill>
                <a:latin typeface="Calibri"/>
              </a:rPr>
              <a:t>MH6805 Group 7  |  Token unlocks and forward volatility</a:t>
            </a:r>
          </a:p>
        </p:txBody>
      </p:sp>
      <p:sp>
        <p:nvSpPr>
          <p:cNvPr id="5" name="Slide number"/>
          <p:cNvSpPr txBox="1"/>
          <p:nvPr/>
        </p:nvSpPr>
        <p:spPr>
          <a:xfrm>
            <a:off x="10241280" y="6400800"/>
            <a:ext cx="1399032" cy="274320"/>
          </a:xfrm>
          <a:prstGeom prst="rect">
            <a:avLst/>
          </a:prstGeom>
          <a:noFill/>
        </p:spPr>
        <p:txBody>
          <a:bodyPr wrap="square" lIns="0" rIns="0" tIns="0" bIns="0" anchor="t">
            <a:spAutoFit/>
          </a:bodyPr>
          <a:lstStyle/>
          <a:p>
            <a:pPr algn="r"/>
            <a:r>
              <a:rPr sz="1000" b="0" i="0">
                <a:solidFill>
                  <a:srgbClr val="6B7280"/>
                </a:solidFill>
                <a:latin typeface="Calibri"/>
              </a:rPr>
              <a:t>12</a:t>
            </a:r>
          </a:p>
        </p:txBody>
      </p:sp>
      <p:graphicFrame>
        <p:nvGraphicFramePr>
          <p:cNvPr id="6" name="Table 5"/>
          <p:cNvGraphicFramePr>
            <a:graphicFrameLocks noGrp="1"/>
          </p:cNvGraphicFramePr>
          <p:nvPr/>
        </p:nvGraphicFramePr>
        <p:xfrm>
          <a:off x="548640" y="1828800"/>
          <a:ext cx="11064240" cy="1920240"/>
        </p:xfrm>
        <a:graphic>
          <a:graphicData uri="http://schemas.openxmlformats.org/drawingml/2006/table">
            <a:tbl>
              <a:tblPr firstRow="1" bandRow="1">
                <a:tableStyleId>{5C22544A-7EE6-4342-B048-85BDC9FD1C3A}</a:tableStyleId>
              </a:tblPr>
              <a:tblGrid>
                <a:gridCol w="4206240"/>
                <a:gridCol w="1280160"/>
                <a:gridCol w="1371600"/>
                <a:gridCol w="1463040"/>
                <a:gridCol w="1463040"/>
                <a:gridCol w="1280160"/>
              </a:tblGrid>
              <a:tr h="640080">
                <a:tc>
                  <a:txBody>
                    <a:bodyPr/>
                    <a:lstStyle/>
                    <a:p>
                      <a:pPr algn="l"/>
                      <a:r>
                        <a:rPr sz="1500" b="1">
                          <a:solidFill>
                            <a:srgbClr val="FFFFFF"/>
                          </a:solidFill>
                          <a:latin typeface="Calibri"/>
                        </a:rPr>
                        <a:t>Event</a:t>
                      </a:r>
                    </a:p>
                  </a:txBody>
                  <a:tcPr anchor="ctr">
                    <a:solidFill>
                      <a:srgbClr val="141B2D"/>
                    </a:solidFill>
                  </a:tcPr>
                </a:tc>
                <a:tc>
                  <a:txBody>
                    <a:bodyPr/>
                    <a:lstStyle/>
                    <a:p>
                      <a:pPr algn="ctr"/>
                      <a:r>
                        <a:rPr sz="1500" b="1">
                          <a:solidFill>
                            <a:srgbClr val="FFFFFF"/>
                          </a:solidFill>
                          <a:latin typeface="Calibri"/>
                        </a:rPr>
                        <a:t>Base rate</a:t>
                      </a:r>
                    </a:p>
                  </a:txBody>
                  <a:tcPr anchor="ctr">
                    <a:solidFill>
                      <a:srgbClr val="141B2D"/>
                    </a:solidFill>
                  </a:tcPr>
                </a:tc>
                <a:tc>
                  <a:txBody>
                    <a:bodyPr/>
                    <a:lstStyle/>
                    <a:p>
                      <a:pPr algn="ctr"/>
                      <a:r>
                        <a:rPr sz="1500" b="1">
                          <a:solidFill>
                            <a:srgbClr val="FFFFFF"/>
                          </a:solidFill>
                          <a:latin typeface="Calibri"/>
                        </a:rPr>
                        <a:t>Naive AUC</a:t>
                      </a:r>
                    </a:p>
                  </a:txBody>
                  <a:tcPr anchor="ctr">
                    <a:solidFill>
                      <a:srgbClr val="141B2D"/>
                    </a:solidFill>
                  </a:tcPr>
                </a:tc>
                <a:tc>
                  <a:txBody>
                    <a:bodyPr/>
                    <a:lstStyle/>
                    <a:p>
                      <a:pPr algn="ctr"/>
                      <a:r>
                        <a:rPr sz="1500" b="1">
                          <a:solidFill>
                            <a:srgbClr val="FFFFFF"/>
                          </a:solidFill>
                          <a:latin typeface="Calibri"/>
                        </a:rPr>
                        <a:t>AUC controls</a:t>
                      </a:r>
                    </a:p>
                  </a:txBody>
                  <a:tcPr anchor="ctr">
                    <a:solidFill>
                      <a:srgbClr val="141B2D"/>
                    </a:solidFill>
                  </a:tcPr>
                </a:tc>
                <a:tc>
                  <a:txBody>
                    <a:bodyPr/>
                    <a:lstStyle/>
                    <a:p>
                      <a:pPr algn="ctr"/>
                      <a:r>
                        <a:rPr sz="1500" b="1">
                          <a:solidFill>
                            <a:srgbClr val="FFFFFF"/>
                          </a:solidFill>
                          <a:latin typeface="Calibri"/>
                        </a:rPr>
                        <a:t>AUC + unlocks</a:t>
                      </a:r>
                    </a:p>
                  </a:txBody>
                  <a:tcPr anchor="ctr">
                    <a:solidFill>
                      <a:srgbClr val="141B2D"/>
                    </a:solidFill>
                  </a:tcPr>
                </a:tc>
                <a:tc>
                  <a:txBody>
                    <a:bodyPr/>
                    <a:lstStyle/>
                    <a:p>
                      <a:pPr algn="ctr"/>
                      <a:r>
                        <a:rPr sz="1500" b="1">
                          <a:solidFill>
                            <a:srgbClr val="FFFFFF"/>
                          </a:solidFill>
                          <a:latin typeface="Calibri"/>
                        </a:rPr>
                        <a:t>Δ AUC</a:t>
                      </a:r>
                    </a:p>
                  </a:txBody>
                  <a:tcPr anchor="ctr">
                    <a:solidFill>
                      <a:srgbClr val="141B2D"/>
                    </a:solidFill>
                  </a:tcPr>
                </a:tc>
              </a:tr>
              <a:tr h="640080">
                <a:tc>
                  <a:txBody>
                    <a:bodyPr/>
                    <a:lstStyle/>
                    <a:p>
                      <a:pPr algn="l"/>
                      <a:r>
                        <a:rPr sz="1500" b="0">
                          <a:solidFill>
                            <a:srgbClr val="1F2433"/>
                          </a:solidFill>
                          <a:latin typeface="Calibri"/>
                        </a:rPr>
                        <a:t>Top 20% most volatile tokens on the date</a:t>
                      </a:r>
                    </a:p>
                  </a:txBody>
                  <a:tcPr anchor="ctr">
                    <a:solidFill>
                      <a:srgbClr val="FFFFFF"/>
                    </a:solidFill>
                  </a:tcPr>
                </a:tc>
                <a:tc>
                  <a:txBody>
                    <a:bodyPr/>
                    <a:lstStyle/>
                    <a:p>
                      <a:pPr algn="ctr"/>
                      <a:r>
                        <a:rPr sz="1500" b="0">
                          <a:solidFill>
                            <a:srgbClr val="1F2433"/>
                          </a:solidFill>
                          <a:latin typeface="Calibri"/>
                        </a:rPr>
                        <a:t>20%</a:t>
                      </a:r>
                    </a:p>
                  </a:txBody>
                  <a:tcPr anchor="ctr">
                    <a:solidFill>
                      <a:srgbClr val="FFFFFF"/>
                    </a:solidFill>
                  </a:tcPr>
                </a:tc>
                <a:tc>
                  <a:txBody>
                    <a:bodyPr/>
                    <a:lstStyle/>
                    <a:p>
                      <a:pPr algn="ctr"/>
                      <a:r>
                        <a:rPr sz="1500" b="0">
                          <a:solidFill>
                            <a:srgbClr val="1F2433"/>
                          </a:solidFill>
                          <a:latin typeface="Calibri"/>
                        </a:rPr>
                        <a:t>0.653</a:t>
                      </a:r>
                    </a:p>
                  </a:txBody>
                  <a:tcPr anchor="ctr">
                    <a:solidFill>
                      <a:srgbClr val="FFFFFF"/>
                    </a:solidFill>
                  </a:tcPr>
                </a:tc>
                <a:tc>
                  <a:txBody>
                    <a:bodyPr/>
                    <a:lstStyle/>
                    <a:p>
                      <a:pPr algn="ctr"/>
                      <a:r>
                        <a:rPr sz="1500" b="0">
                          <a:solidFill>
                            <a:srgbClr val="1F2433"/>
                          </a:solidFill>
                          <a:latin typeface="Calibri"/>
                        </a:rPr>
                        <a:t>0.694</a:t>
                      </a:r>
                    </a:p>
                  </a:txBody>
                  <a:tcPr anchor="ctr">
                    <a:solidFill>
                      <a:srgbClr val="FFFFFF"/>
                    </a:solidFill>
                  </a:tcPr>
                </a:tc>
                <a:tc>
                  <a:txBody>
                    <a:bodyPr/>
                    <a:lstStyle/>
                    <a:p>
                      <a:pPr algn="ctr"/>
                      <a:r>
                        <a:rPr sz="1500" b="0">
                          <a:solidFill>
                            <a:srgbClr val="1F2433"/>
                          </a:solidFill>
                          <a:latin typeface="Calibri"/>
                        </a:rPr>
                        <a:t>0.693</a:t>
                      </a:r>
                    </a:p>
                  </a:txBody>
                  <a:tcPr anchor="ctr">
                    <a:solidFill>
                      <a:srgbClr val="FFFFFF"/>
                    </a:solidFill>
                  </a:tcPr>
                </a:tc>
                <a:tc>
                  <a:txBody>
                    <a:bodyPr/>
                    <a:lstStyle/>
                    <a:p>
                      <a:pPr algn="ctr"/>
                      <a:r>
                        <a:rPr sz="1500" b="1">
                          <a:solidFill>
                            <a:srgbClr val="EB6A35"/>
                          </a:solidFill>
                          <a:latin typeface="Calibri"/>
                        </a:rPr>
                        <a:t>-0.002</a:t>
                      </a:r>
                    </a:p>
                  </a:txBody>
                  <a:tcPr anchor="ctr">
                    <a:solidFill>
                      <a:srgbClr val="FFFFFF"/>
                    </a:solidFill>
                  </a:tcPr>
                </a:tc>
              </a:tr>
              <a:tr h="640080">
                <a:tc>
                  <a:txBody>
                    <a:bodyPr/>
                    <a:lstStyle/>
                    <a:p>
                      <a:pPr algn="l"/>
                      <a:r>
                        <a:rPr sz="1500" b="0">
                          <a:solidFill>
                            <a:srgbClr val="1F2433"/>
                          </a:solidFill>
                          <a:latin typeface="Calibri"/>
                        </a:rPr>
                        <a:t>Vol jumps above 1.5× own 30d level</a:t>
                      </a:r>
                    </a:p>
                  </a:txBody>
                  <a:tcPr anchor="ctr">
                    <a:solidFill>
                      <a:srgbClr val="F2F4F7"/>
                    </a:solidFill>
                  </a:tcPr>
                </a:tc>
                <a:tc>
                  <a:txBody>
                    <a:bodyPr/>
                    <a:lstStyle/>
                    <a:p>
                      <a:pPr algn="ctr"/>
                      <a:r>
                        <a:rPr sz="1500" b="0">
                          <a:solidFill>
                            <a:srgbClr val="1F2433"/>
                          </a:solidFill>
                          <a:latin typeface="Calibri"/>
                        </a:rPr>
                        <a:t>14%</a:t>
                      </a:r>
                    </a:p>
                  </a:txBody>
                  <a:tcPr anchor="ctr">
                    <a:solidFill>
                      <a:srgbClr val="F2F4F7"/>
                    </a:solidFill>
                  </a:tcPr>
                </a:tc>
                <a:tc>
                  <a:txBody>
                    <a:bodyPr/>
                    <a:lstStyle/>
                    <a:p>
                      <a:pPr algn="ctr"/>
                      <a:r>
                        <a:rPr sz="1500" b="0">
                          <a:solidFill>
                            <a:srgbClr val="1F2433"/>
                          </a:solidFill>
                          <a:latin typeface="Calibri"/>
                        </a:rPr>
                        <a:t>–</a:t>
                      </a:r>
                    </a:p>
                  </a:txBody>
                  <a:tcPr anchor="ctr">
                    <a:solidFill>
                      <a:srgbClr val="F2F4F7"/>
                    </a:solidFill>
                  </a:tcPr>
                </a:tc>
                <a:tc>
                  <a:txBody>
                    <a:bodyPr/>
                    <a:lstStyle/>
                    <a:p>
                      <a:pPr algn="ctr"/>
                      <a:r>
                        <a:rPr sz="1500" b="0">
                          <a:solidFill>
                            <a:srgbClr val="1F2433"/>
                          </a:solidFill>
                          <a:latin typeface="Calibri"/>
                        </a:rPr>
                        <a:t>0.722</a:t>
                      </a:r>
                    </a:p>
                  </a:txBody>
                  <a:tcPr anchor="ctr">
                    <a:solidFill>
                      <a:srgbClr val="F2F4F7"/>
                    </a:solidFill>
                  </a:tcPr>
                </a:tc>
                <a:tc>
                  <a:txBody>
                    <a:bodyPr/>
                    <a:lstStyle/>
                    <a:p>
                      <a:pPr algn="ctr"/>
                      <a:r>
                        <a:rPr sz="1500" b="0">
                          <a:solidFill>
                            <a:srgbClr val="1F2433"/>
                          </a:solidFill>
                          <a:latin typeface="Calibri"/>
                        </a:rPr>
                        <a:t>0.718</a:t>
                      </a:r>
                    </a:p>
                  </a:txBody>
                  <a:tcPr anchor="ctr">
                    <a:solidFill>
                      <a:srgbClr val="F2F4F7"/>
                    </a:solidFill>
                  </a:tcPr>
                </a:tc>
                <a:tc>
                  <a:txBody>
                    <a:bodyPr/>
                    <a:lstStyle/>
                    <a:p>
                      <a:pPr algn="ctr"/>
                      <a:r>
                        <a:rPr sz="1500" b="1">
                          <a:solidFill>
                            <a:srgbClr val="EB6A35"/>
                          </a:solidFill>
                          <a:latin typeface="Calibri"/>
                        </a:rPr>
                        <a:t>-0.004</a:t>
                      </a:r>
                    </a:p>
                  </a:txBody>
                  <a:tcPr anchor="ctr">
                    <a:solidFill>
                      <a:srgbClr val="F2F4F7"/>
                    </a:solidFill>
                  </a:tcPr>
                </a:tc>
              </a:tr>
            </a:tbl>
          </a:graphicData>
        </a:graphic>
      </p:graphicFrame>
      <p:pic>
        <p:nvPicPr>
          <p:cNvPr id="7" name="Picture 6" descr="logistic_auc.png"/>
          <p:cNvPicPr>
            <a:picLocks noChangeAspect="1"/>
          </p:cNvPicPr>
          <p:nvPr/>
        </p:nvPicPr>
        <p:blipFill>
          <a:blip r:embed="rId3"/>
          <a:stretch>
            <a:fillRect/>
          </a:stretch>
        </p:blipFill>
        <p:spPr>
          <a:xfrm>
            <a:off x="548640" y="3977639"/>
            <a:ext cx="4917621" cy="2240280"/>
          </a:xfrm>
          <a:prstGeom prst="rect">
            <a:avLst/>
          </a:prstGeom>
        </p:spPr>
      </p:pic>
      <p:sp>
        <p:nvSpPr>
          <p:cNvPr id="8" name="Logistic takeaway"/>
          <p:cNvSpPr/>
          <p:nvPr/>
        </p:nvSpPr>
        <p:spPr>
          <a:xfrm>
            <a:off x="6675120" y="4069080"/>
            <a:ext cx="4937760" cy="1600200"/>
          </a:xfrm>
          <a:prstGeom prst="roundRect">
            <a:avLst>
              <a:gd name="adj" fmla="val 8000"/>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949440" y="4251960"/>
            <a:ext cx="4480560" cy="1737360"/>
          </a:xfrm>
          <a:prstGeom prst="rect">
            <a:avLst/>
          </a:prstGeom>
          <a:noFill/>
        </p:spPr>
        <p:txBody>
          <a:bodyPr wrap="square" lIns="0" rIns="0" tIns="0" bIns="0" anchor="t">
            <a:spAutoFit/>
          </a:bodyPr>
          <a:lstStyle/>
          <a:p>
            <a:pPr algn="l"/>
            <a:r>
              <a:rPr sz="1500" b="1" i="0">
                <a:solidFill>
                  <a:srgbClr val="1F2433"/>
                </a:solidFill>
                <a:latin typeface="Calibri"/>
              </a:rPr>
              <a:t>Daily panel, mean of 5 folds. </a:t>
            </a:r>
            <a:r>
              <a:rPr sz="1500" b="0" i="0">
                <a:solidFill>
                  <a:srgbClr val="1F2433"/>
                </a:solidFill>
                <a:latin typeface="Calibri"/>
              </a:rPr>
              <a:t>PR-AUC and Brier skill fall too, on both panels. Unlock schedules do not help pick the most volatile tokens, nor anticipate a token's own volatility jump.</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548640" y="320040"/>
            <a:ext cx="11064240" cy="274320"/>
          </a:xfrm>
          <a:prstGeom prst="rect">
            <a:avLst/>
          </a:prstGeom>
          <a:noFill/>
        </p:spPr>
        <p:txBody>
          <a:bodyPr wrap="square" lIns="0" rIns="0" tIns="0" bIns="0" anchor="t">
            <a:spAutoFit/>
          </a:bodyPr>
          <a:lstStyle/>
          <a:p>
            <a:pPr algn="l"/>
            <a:r>
              <a:rPr sz="1200" b="1" i="0">
                <a:solidFill>
                  <a:srgbClr val="EB6A35"/>
                </a:solidFill>
                <a:latin typeface="Calibri"/>
              </a:rPr>
              <a:t>ROBUSTNESS</a:t>
            </a:r>
          </a:p>
        </p:txBody>
      </p:sp>
      <p:sp>
        <p:nvSpPr>
          <p:cNvPr id="3" name="Title"/>
          <p:cNvSpPr txBox="1"/>
          <p:nvPr/>
        </p:nvSpPr>
        <p:spPr>
          <a:xfrm>
            <a:off x="548640" y="594360"/>
            <a:ext cx="11064240" cy="822960"/>
          </a:xfrm>
          <a:prstGeom prst="rect">
            <a:avLst/>
          </a:prstGeom>
          <a:noFill/>
        </p:spPr>
        <p:txBody>
          <a:bodyPr wrap="square" lIns="0" rIns="0" tIns="0" bIns="0" anchor="t">
            <a:spAutoFit/>
          </a:bodyPr>
          <a:lstStyle/>
          <a:p>
            <a:pPr algn="l"/>
            <a:r>
              <a:rPr sz="3200" b="1" i="0">
                <a:solidFill>
                  <a:srgbClr val="1F2433"/>
                </a:solidFill>
                <a:latin typeface="Cambria"/>
              </a:rPr>
              <a:t>The null result survives every robustness check</a:t>
            </a:r>
          </a:p>
        </p:txBody>
      </p:sp>
      <p:sp>
        <p:nvSpPr>
          <p:cNvPr id="4" name="Footer"/>
          <p:cNvSpPr txBox="1"/>
          <p:nvPr/>
        </p:nvSpPr>
        <p:spPr>
          <a:xfrm>
            <a:off x="548640" y="6400800"/>
            <a:ext cx="7315200" cy="274320"/>
          </a:xfrm>
          <a:prstGeom prst="rect">
            <a:avLst/>
          </a:prstGeom>
          <a:noFill/>
        </p:spPr>
        <p:txBody>
          <a:bodyPr wrap="square" lIns="0" rIns="0" tIns="0" bIns="0" anchor="t">
            <a:spAutoFit/>
          </a:bodyPr>
          <a:lstStyle/>
          <a:p>
            <a:pPr algn="l"/>
            <a:r>
              <a:rPr sz="1000" b="0" i="0">
                <a:solidFill>
                  <a:srgbClr val="6B7280"/>
                </a:solidFill>
                <a:latin typeface="Calibri"/>
              </a:rPr>
              <a:t>MH6805 Group 7  |  Token unlocks and forward volatility</a:t>
            </a:r>
          </a:p>
        </p:txBody>
      </p:sp>
      <p:sp>
        <p:nvSpPr>
          <p:cNvPr id="5" name="Slide number"/>
          <p:cNvSpPr txBox="1"/>
          <p:nvPr/>
        </p:nvSpPr>
        <p:spPr>
          <a:xfrm>
            <a:off x="10241280" y="6400800"/>
            <a:ext cx="1399032" cy="274320"/>
          </a:xfrm>
          <a:prstGeom prst="rect">
            <a:avLst/>
          </a:prstGeom>
          <a:noFill/>
        </p:spPr>
        <p:txBody>
          <a:bodyPr wrap="square" lIns="0" rIns="0" tIns="0" bIns="0" anchor="t">
            <a:spAutoFit/>
          </a:bodyPr>
          <a:lstStyle/>
          <a:p>
            <a:pPr algn="r"/>
            <a:r>
              <a:rPr sz="1000" b="0" i="0">
                <a:solidFill>
                  <a:srgbClr val="6B7280"/>
                </a:solidFill>
                <a:latin typeface="Calibri"/>
              </a:rPr>
              <a:t>13</a:t>
            </a:r>
          </a:p>
        </p:txBody>
      </p:sp>
      <p:graphicFrame>
        <p:nvGraphicFramePr>
          <p:cNvPr id="6" name="Table 5"/>
          <p:cNvGraphicFramePr>
            <a:graphicFrameLocks noGrp="1"/>
          </p:cNvGraphicFramePr>
          <p:nvPr/>
        </p:nvGraphicFramePr>
        <p:xfrm>
          <a:off x="548640" y="1737360"/>
          <a:ext cx="9601200" cy="4114800"/>
        </p:xfrm>
        <a:graphic>
          <a:graphicData uri="http://schemas.openxmlformats.org/drawingml/2006/table">
            <a:tbl>
              <a:tblPr firstRow="1" bandRow="1">
                <a:tableStyleId>{5C22544A-7EE6-4342-B048-85BDC9FD1C3A}</a:tableStyleId>
              </a:tblPr>
              <a:tblGrid>
                <a:gridCol w="3291840"/>
                <a:gridCol w="1463040"/>
                <a:gridCol w="1737360"/>
                <a:gridCol w="1463040"/>
                <a:gridCol w="1645920"/>
              </a:tblGrid>
              <a:tr h="587828">
                <a:tc>
                  <a:txBody>
                    <a:bodyPr/>
                    <a:lstStyle/>
                    <a:p>
                      <a:pPr algn="l"/>
                      <a:r>
                        <a:rPr sz="1500" b="1">
                          <a:solidFill>
                            <a:srgbClr val="FFFFFF"/>
                          </a:solidFill>
                          <a:latin typeface="Calibri"/>
                        </a:rPr>
                        <a:t>Specification</a:t>
                      </a:r>
                    </a:p>
                  </a:txBody>
                  <a:tcPr anchor="ctr">
                    <a:solidFill>
                      <a:srgbClr val="141B2D"/>
                    </a:solidFill>
                  </a:tcPr>
                </a:tc>
                <a:tc>
                  <a:txBody>
                    <a:bodyPr/>
                    <a:lstStyle/>
                    <a:p>
                      <a:pPr algn="ctr"/>
                      <a:r>
                        <a:rPr sz="1500" b="1">
                          <a:solidFill>
                            <a:srgbClr val="FFFFFF"/>
                          </a:solidFill>
                          <a:latin typeface="Calibri"/>
                        </a:rPr>
                        <a:t>KNN</a:t>
                      </a:r>
                    </a:p>
                  </a:txBody>
                  <a:tcPr anchor="ctr">
                    <a:solidFill>
                      <a:srgbClr val="141B2D"/>
                    </a:solidFill>
                  </a:tcPr>
                </a:tc>
                <a:tc>
                  <a:txBody>
                    <a:bodyPr/>
                    <a:lstStyle/>
                    <a:p>
                      <a:pPr algn="ctr"/>
                      <a:r>
                        <a:rPr sz="1500" b="1">
                          <a:solidFill>
                            <a:srgbClr val="FFFFFF"/>
                          </a:solidFill>
                          <a:latin typeface="Calibri"/>
                        </a:rPr>
                        <a:t>Random Forest</a:t>
                      </a:r>
                    </a:p>
                  </a:txBody>
                  <a:tcPr anchor="ctr">
                    <a:solidFill>
                      <a:srgbClr val="141B2D"/>
                    </a:solidFill>
                  </a:tcPr>
                </a:tc>
                <a:tc>
                  <a:txBody>
                    <a:bodyPr/>
                    <a:lstStyle/>
                    <a:p>
                      <a:pPr algn="ctr"/>
                      <a:r>
                        <a:rPr sz="1500" b="1">
                          <a:solidFill>
                            <a:srgbClr val="FFFFFF"/>
                          </a:solidFill>
                          <a:latin typeface="Calibri"/>
                        </a:rPr>
                        <a:t>Ridge</a:t>
                      </a:r>
                    </a:p>
                  </a:txBody>
                  <a:tcPr anchor="ctr">
                    <a:solidFill>
                      <a:srgbClr val="141B2D"/>
                    </a:solidFill>
                  </a:tcPr>
                </a:tc>
                <a:tc>
                  <a:txBody>
                    <a:bodyPr/>
                    <a:lstStyle/>
                    <a:p>
                      <a:pPr algn="ctr"/>
                      <a:r>
                        <a:rPr sz="1500" b="1">
                          <a:solidFill>
                            <a:srgbClr val="FFFFFF"/>
                          </a:solidFill>
                          <a:latin typeface="Calibri"/>
                        </a:rPr>
                        <a:t>Elastic Net</a:t>
                      </a:r>
                    </a:p>
                  </a:txBody>
                  <a:tcPr anchor="ctr">
                    <a:solidFill>
                      <a:srgbClr val="141B2D"/>
                    </a:solidFill>
                  </a:tcPr>
                </a:tc>
              </a:tr>
              <a:tr h="587828">
                <a:tc>
                  <a:txBody>
                    <a:bodyPr/>
                    <a:lstStyle/>
                    <a:p>
                      <a:pPr algn="l"/>
                      <a:r>
                        <a:rPr sz="1500" b="0">
                          <a:solidFill>
                            <a:srgbClr val="1F2433"/>
                          </a:solidFill>
                          <a:latin typeface="Calibri"/>
                        </a:rPr>
                        <a:t>Daily panel (main)</a:t>
                      </a:r>
                    </a:p>
                  </a:txBody>
                  <a:tcPr anchor="ctr">
                    <a:solidFill>
                      <a:srgbClr val="FFFFFF"/>
                    </a:solidFill>
                  </a:tcPr>
                </a:tc>
                <a:tc>
                  <a:txBody>
                    <a:bodyPr/>
                    <a:lstStyle/>
                    <a:p>
                      <a:pPr algn="ctr"/>
                      <a:r>
                        <a:rPr sz="1500" b="0">
                          <a:solidFill>
                            <a:srgbClr val="1F2433"/>
                          </a:solidFill>
                          <a:latin typeface="Calibri"/>
                        </a:rPr>
                        <a:t>+0.001</a:t>
                      </a:r>
                    </a:p>
                  </a:txBody>
                  <a:tcPr anchor="ctr">
                    <a:solidFill>
                      <a:srgbClr val="FFFFFF"/>
                    </a:solidFill>
                  </a:tcPr>
                </a:tc>
                <a:tc>
                  <a:txBody>
                    <a:bodyPr/>
                    <a:lstStyle/>
                    <a:p>
                      <a:pPr algn="ctr"/>
                      <a:r>
                        <a:rPr sz="1500" b="0">
                          <a:solidFill>
                            <a:srgbClr val="1F2433"/>
                          </a:solidFill>
                          <a:latin typeface="Calibri"/>
                        </a:rPr>
                        <a:t>+0.006</a:t>
                      </a:r>
                    </a:p>
                  </a:txBody>
                  <a:tcPr anchor="ctr">
                    <a:solidFill>
                      <a:srgbClr val="FFFFFF"/>
                    </a:solidFill>
                  </a:tcPr>
                </a:tc>
                <a:tc>
                  <a:txBody>
                    <a:bodyPr/>
                    <a:lstStyle/>
                    <a:p>
                      <a:pPr algn="ctr"/>
                      <a:r>
                        <a:rPr sz="1500" b="0">
                          <a:solidFill>
                            <a:srgbClr val="1F2433"/>
                          </a:solidFill>
                          <a:latin typeface="Calibri"/>
                        </a:rPr>
                        <a:t>+0.001</a:t>
                      </a:r>
                    </a:p>
                  </a:txBody>
                  <a:tcPr anchor="ctr">
                    <a:solidFill>
                      <a:srgbClr val="FFFFFF"/>
                    </a:solidFill>
                  </a:tcPr>
                </a:tc>
                <a:tc>
                  <a:txBody>
                    <a:bodyPr/>
                    <a:lstStyle/>
                    <a:p>
                      <a:pPr algn="ctr"/>
                      <a:r>
                        <a:rPr sz="1500" b="0">
                          <a:solidFill>
                            <a:srgbClr val="1F2433"/>
                          </a:solidFill>
                          <a:latin typeface="Calibri"/>
                        </a:rPr>
                        <a:t>+0.001</a:t>
                      </a:r>
                    </a:p>
                  </a:txBody>
                  <a:tcPr anchor="ctr">
                    <a:solidFill>
                      <a:srgbClr val="FFFFFF"/>
                    </a:solidFill>
                  </a:tcPr>
                </a:tc>
              </a:tr>
              <a:tr h="587828">
                <a:tc>
                  <a:txBody>
                    <a:bodyPr/>
                    <a:lstStyle/>
                    <a:p>
                      <a:pPr algn="l"/>
                      <a:r>
                        <a:rPr sz="1500" b="0">
                          <a:solidFill>
                            <a:srgbClr val="1F2433"/>
                          </a:solidFill>
                          <a:latin typeface="Calibri"/>
                        </a:rPr>
                        <a:t>Weekly panel</a:t>
                      </a:r>
                    </a:p>
                  </a:txBody>
                  <a:tcPr anchor="ctr">
                    <a:solidFill>
                      <a:srgbClr val="F2F4F7"/>
                    </a:solidFill>
                  </a:tcPr>
                </a:tc>
                <a:tc>
                  <a:txBody>
                    <a:bodyPr/>
                    <a:lstStyle/>
                    <a:p>
                      <a:pPr algn="ctr"/>
                      <a:r>
                        <a:rPr sz="1500" b="0">
                          <a:solidFill>
                            <a:srgbClr val="1F2433"/>
                          </a:solidFill>
                          <a:latin typeface="Calibri"/>
                        </a:rPr>
                        <a:t>-0.008</a:t>
                      </a:r>
                    </a:p>
                  </a:txBody>
                  <a:tcPr anchor="ctr">
                    <a:solidFill>
                      <a:srgbClr val="F2F4F7"/>
                    </a:solidFill>
                  </a:tcPr>
                </a:tc>
                <a:tc>
                  <a:txBody>
                    <a:bodyPr/>
                    <a:lstStyle/>
                    <a:p>
                      <a:pPr algn="ctr"/>
                      <a:r>
                        <a:rPr sz="1500" b="0">
                          <a:solidFill>
                            <a:srgbClr val="1F2433"/>
                          </a:solidFill>
                          <a:latin typeface="Calibri"/>
                        </a:rPr>
                        <a:t>+0.007</a:t>
                      </a:r>
                    </a:p>
                  </a:txBody>
                  <a:tcPr anchor="ctr">
                    <a:solidFill>
                      <a:srgbClr val="F2F4F7"/>
                    </a:solidFill>
                  </a:tcPr>
                </a:tc>
                <a:tc>
                  <a:txBody>
                    <a:bodyPr/>
                    <a:lstStyle/>
                    <a:p>
                      <a:pPr algn="ctr"/>
                      <a:r>
                        <a:rPr sz="1500" b="0">
                          <a:solidFill>
                            <a:srgbClr val="1F2433"/>
                          </a:solidFill>
                          <a:latin typeface="Calibri"/>
                        </a:rPr>
                        <a:t>+0.014</a:t>
                      </a:r>
                    </a:p>
                  </a:txBody>
                  <a:tcPr anchor="ctr">
                    <a:solidFill>
                      <a:srgbClr val="F2F4F7"/>
                    </a:solidFill>
                  </a:tcPr>
                </a:tc>
                <a:tc>
                  <a:txBody>
                    <a:bodyPr/>
                    <a:lstStyle/>
                    <a:p>
                      <a:pPr algn="ctr"/>
                      <a:r>
                        <a:rPr sz="1500" b="0">
                          <a:solidFill>
                            <a:srgbClr val="1F2433"/>
                          </a:solidFill>
                          <a:latin typeface="Calibri"/>
                        </a:rPr>
                        <a:t>+0.002</a:t>
                      </a:r>
                    </a:p>
                  </a:txBody>
                  <a:tcPr anchor="ctr">
                    <a:solidFill>
                      <a:srgbClr val="F2F4F7"/>
                    </a:solidFill>
                  </a:tcPr>
                </a:tc>
              </a:tr>
              <a:tr h="587828">
                <a:tc>
                  <a:txBody>
                    <a:bodyPr/>
                    <a:lstStyle/>
                    <a:p>
                      <a:pPr algn="l"/>
                      <a:r>
                        <a:rPr sz="1500" b="0">
                          <a:solidFill>
                            <a:srgbClr val="1F2433"/>
                          </a:solidFill>
                          <a:latin typeface="Calibri"/>
                        </a:rPr>
                        <a:t>Hand-curated tokens only</a:t>
                      </a:r>
                    </a:p>
                  </a:txBody>
                  <a:tcPr anchor="ctr">
                    <a:solidFill>
                      <a:srgbClr val="FFFFFF"/>
                    </a:solidFill>
                  </a:tcPr>
                </a:tc>
                <a:tc>
                  <a:txBody>
                    <a:bodyPr/>
                    <a:lstStyle/>
                    <a:p>
                      <a:pPr algn="ctr"/>
                      <a:r>
                        <a:rPr sz="1500" b="0">
                          <a:solidFill>
                            <a:srgbClr val="1F2433"/>
                          </a:solidFill>
                          <a:latin typeface="Calibri"/>
                        </a:rPr>
                        <a:t>–</a:t>
                      </a:r>
                    </a:p>
                  </a:txBody>
                  <a:tcPr anchor="ctr">
                    <a:solidFill>
                      <a:srgbClr val="FFFFFF"/>
                    </a:solidFill>
                  </a:tcPr>
                </a:tc>
                <a:tc>
                  <a:txBody>
                    <a:bodyPr/>
                    <a:lstStyle/>
                    <a:p>
                      <a:pPr algn="ctr"/>
                      <a:r>
                        <a:rPr sz="1500" b="0">
                          <a:solidFill>
                            <a:srgbClr val="1F2433"/>
                          </a:solidFill>
                          <a:latin typeface="Calibri"/>
                        </a:rPr>
                        <a:t>+0.017</a:t>
                      </a:r>
                    </a:p>
                  </a:txBody>
                  <a:tcPr anchor="ctr">
                    <a:solidFill>
                      <a:srgbClr val="FFFFFF"/>
                    </a:solidFill>
                  </a:tcPr>
                </a:tc>
                <a:tc>
                  <a:txBody>
                    <a:bodyPr/>
                    <a:lstStyle/>
                    <a:p>
                      <a:pPr algn="ctr"/>
                      <a:r>
                        <a:rPr sz="1500" b="0">
                          <a:solidFill>
                            <a:srgbClr val="1F2433"/>
                          </a:solidFill>
                          <a:latin typeface="Calibri"/>
                        </a:rPr>
                        <a:t>+0.005</a:t>
                      </a:r>
                    </a:p>
                  </a:txBody>
                  <a:tcPr anchor="ctr">
                    <a:solidFill>
                      <a:srgbClr val="FFFFFF"/>
                    </a:solidFill>
                  </a:tcPr>
                </a:tc>
                <a:tc>
                  <a:txBody>
                    <a:bodyPr/>
                    <a:lstStyle/>
                    <a:p>
                      <a:pPr algn="ctr"/>
                      <a:r>
                        <a:rPr sz="1500" b="0">
                          <a:solidFill>
                            <a:srgbClr val="1F2433"/>
                          </a:solidFill>
                          <a:latin typeface="Calibri"/>
                        </a:rPr>
                        <a:t>0.000</a:t>
                      </a:r>
                    </a:p>
                  </a:txBody>
                  <a:tcPr anchor="ctr">
                    <a:solidFill>
                      <a:srgbClr val="FFFFFF"/>
                    </a:solidFill>
                  </a:tcPr>
                </a:tc>
              </a:tr>
              <a:tr h="587828">
                <a:tc>
                  <a:txBody>
                    <a:bodyPr/>
                    <a:lstStyle/>
                    <a:p>
                      <a:pPr algn="l"/>
                      <a:r>
                        <a:rPr sz="1500" b="0">
                          <a:solidFill>
                            <a:srgbClr val="1F2433"/>
                          </a:solidFill>
                          <a:latin typeface="Calibri"/>
                        </a:rPr>
                        <a:t>Target: 7-day vol</a:t>
                      </a:r>
                    </a:p>
                  </a:txBody>
                  <a:tcPr anchor="ctr">
                    <a:solidFill>
                      <a:srgbClr val="F2F4F7"/>
                    </a:solidFill>
                  </a:tcPr>
                </a:tc>
                <a:tc>
                  <a:txBody>
                    <a:bodyPr/>
                    <a:lstStyle/>
                    <a:p>
                      <a:pPr algn="ctr"/>
                      <a:r>
                        <a:rPr sz="1500" b="0">
                          <a:solidFill>
                            <a:srgbClr val="1F2433"/>
                          </a:solidFill>
                          <a:latin typeface="Calibri"/>
                        </a:rPr>
                        <a:t>–</a:t>
                      </a:r>
                    </a:p>
                  </a:txBody>
                  <a:tcPr anchor="ctr">
                    <a:solidFill>
                      <a:srgbClr val="F2F4F7"/>
                    </a:solidFill>
                  </a:tcPr>
                </a:tc>
                <a:tc>
                  <a:txBody>
                    <a:bodyPr/>
                    <a:lstStyle/>
                    <a:p>
                      <a:pPr algn="ctr"/>
                      <a:r>
                        <a:rPr sz="1500" b="0">
                          <a:solidFill>
                            <a:srgbClr val="1F2433"/>
                          </a:solidFill>
                          <a:latin typeface="Calibri"/>
                        </a:rPr>
                        <a:t>–</a:t>
                      </a:r>
                    </a:p>
                  </a:txBody>
                  <a:tcPr anchor="ctr">
                    <a:solidFill>
                      <a:srgbClr val="F2F4F7"/>
                    </a:solidFill>
                  </a:tcPr>
                </a:tc>
                <a:tc>
                  <a:txBody>
                    <a:bodyPr/>
                    <a:lstStyle/>
                    <a:p>
                      <a:pPr algn="ctr"/>
                      <a:r>
                        <a:rPr sz="1500" b="0">
                          <a:solidFill>
                            <a:srgbClr val="1F2433"/>
                          </a:solidFill>
                          <a:latin typeface="Calibri"/>
                        </a:rPr>
                        <a:t>+0.004</a:t>
                      </a:r>
                    </a:p>
                  </a:txBody>
                  <a:tcPr anchor="ctr">
                    <a:solidFill>
                      <a:srgbClr val="F2F4F7"/>
                    </a:solidFill>
                  </a:tcPr>
                </a:tc>
                <a:tc>
                  <a:txBody>
                    <a:bodyPr/>
                    <a:lstStyle/>
                    <a:p>
                      <a:pPr algn="ctr"/>
                      <a:r>
                        <a:rPr sz="1500" b="0">
                          <a:solidFill>
                            <a:srgbClr val="1F2433"/>
                          </a:solidFill>
                          <a:latin typeface="Calibri"/>
                        </a:rPr>
                        <a:t>+0.002</a:t>
                      </a:r>
                    </a:p>
                  </a:txBody>
                  <a:tcPr anchor="ctr">
                    <a:solidFill>
                      <a:srgbClr val="F2F4F7"/>
                    </a:solidFill>
                  </a:tcPr>
                </a:tc>
              </a:tr>
              <a:tr h="587828">
                <a:tc>
                  <a:txBody>
                    <a:bodyPr/>
                    <a:lstStyle/>
                    <a:p>
                      <a:pPr algn="l"/>
                      <a:r>
                        <a:rPr sz="1500" b="0">
                          <a:solidFill>
                            <a:srgbClr val="1F2433"/>
                          </a:solidFill>
                          <a:latin typeface="Calibri"/>
                        </a:rPr>
                        <a:t>Target: 30-day vol</a:t>
                      </a:r>
                    </a:p>
                  </a:txBody>
                  <a:tcPr anchor="ctr">
                    <a:solidFill>
                      <a:srgbClr val="FFFFFF"/>
                    </a:solidFill>
                  </a:tcPr>
                </a:tc>
                <a:tc>
                  <a:txBody>
                    <a:bodyPr/>
                    <a:lstStyle/>
                    <a:p>
                      <a:pPr algn="ctr"/>
                      <a:r>
                        <a:rPr sz="1500" b="0">
                          <a:solidFill>
                            <a:srgbClr val="1F2433"/>
                          </a:solidFill>
                          <a:latin typeface="Calibri"/>
                        </a:rPr>
                        <a:t>–</a:t>
                      </a:r>
                    </a:p>
                  </a:txBody>
                  <a:tcPr anchor="ctr">
                    <a:solidFill>
                      <a:srgbClr val="FFFFFF"/>
                    </a:solidFill>
                  </a:tcPr>
                </a:tc>
                <a:tc>
                  <a:txBody>
                    <a:bodyPr/>
                    <a:lstStyle/>
                    <a:p>
                      <a:pPr algn="ctr"/>
                      <a:r>
                        <a:rPr sz="1500" b="0">
                          <a:solidFill>
                            <a:srgbClr val="1F2433"/>
                          </a:solidFill>
                          <a:latin typeface="Calibri"/>
                        </a:rPr>
                        <a:t>–</a:t>
                      </a:r>
                    </a:p>
                  </a:txBody>
                  <a:tcPr anchor="ctr">
                    <a:solidFill>
                      <a:srgbClr val="FFFFFF"/>
                    </a:solidFill>
                  </a:tcPr>
                </a:tc>
                <a:tc>
                  <a:txBody>
                    <a:bodyPr/>
                    <a:lstStyle/>
                    <a:p>
                      <a:pPr algn="ctr"/>
                      <a:r>
                        <a:rPr sz="1500" b="0">
                          <a:solidFill>
                            <a:srgbClr val="1F2433"/>
                          </a:solidFill>
                          <a:latin typeface="Calibri"/>
                        </a:rPr>
                        <a:t>+0.003</a:t>
                      </a:r>
                    </a:p>
                  </a:txBody>
                  <a:tcPr anchor="ctr">
                    <a:solidFill>
                      <a:srgbClr val="FFFFFF"/>
                    </a:solidFill>
                  </a:tcPr>
                </a:tc>
                <a:tc>
                  <a:txBody>
                    <a:bodyPr/>
                    <a:lstStyle/>
                    <a:p>
                      <a:pPr algn="ctr"/>
                      <a:r>
                        <a:rPr sz="1500" b="0">
                          <a:solidFill>
                            <a:srgbClr val="1F2433"/>
                          </a:solidFill>
                          <a:latin typeface="Calibri"/>
                        </a:rPr>
                        <a:t>+0.003</a:t>
                      </a:r>
                    </a:p>
                  </a:txBody>
                  <a:tcPr anchor="ctr">
                    <a:solidFill>
                      <a:srgbClr val="FFFFFF"/>
                    </a:solidFill>
                  </a:tcPr>
                </a:tc>
              </a:tr>
              <a:tr h="587832">
                <a:tc>
                  <a:txBody>
                    <a:bodyPr/>
                    <a:lstStyle/>
                    <a:p>
                      <a:pPr algn="l"/>
                      <a:r>
                        <a:rPr sz="1500" b="0">
                          <a:solidFill>
                            <a:srgbClr val="1F2433"/>
                          </a:solidFill>
                          <a:latin typeface="Calibri"/>
                        </a:rPr>
                        <a:t>Target: Parkinson 14-day</a:t>
                      </a:r>
                    </a:p>
                  </a:txBody>
                  <a:tcPr anchor="ctr">
                    <a:solidFill>
                      <a:srgbClr val="F2F4F7"/>
                    </a:solidFill>
                  </a:tcPr>
                </a:tc>
                <a:tc>
                  <a:txBody>
                    <a:bodyPr/>
                    <a:lstStyle/>
                    <a:p>
                      <a:pPr algn="ctr"/>
                      <a:r>
                        <a:rPr sz="1500" b="0">
                          <a:solidFill>
                            <a:srgbClr val="1F2433"/>
                          </a:solidFill>
                          <a:latin typeface="Calibri"/>
                        </a:rPr>
                        <a:t>–</a:t>
                      </a:r>
                    </a:p>
                  </a:txBody>
                  <a:tcPr anchor="ctr">
                    <a:solidFill>
                      <a:srgbClr val="F2F4F7"/>
                    </a:solidFill>
                  </a:tcPr>
                </a:tc>
                <a:tc>
                  <a:txBody>
                    <a:bodyPr/>
                    <a:lstStyle/>
                    <a:p>
                      <a:pPr algn="ctr"/>
                      <a:r>
                        <a:rPr sz="1500" b="0">
                          <a:solidFill>
                            <a:srgbClr val="1F2433"/>
                          </a:solidFill>
                          <a:latin typeface="Calibri"/>
                        </a:rPr>
                        <a:t>–</a:t>
                      </a:r>
                    </a:p>
                  </a:txBody>
                  <a:tcPr anchor="ctr">
                    <a:solidFill>
                      <a:srgbClr val="F2F4F7"/>
                    </a:solidFill>
                  </a:tcPr>
                </a:tc>
                <a:tc>
                  <a:txBody>
                    <a:bodyPr/>
                    <a:lstStyle/>
                    <a:p>
                      <a:pPr algn="ctr"/>
                      <a:r>
                        <a:rPr sz="1500" b="0">
                          <a:solidFill>
                            <a:srgbClr val="1F2433"/>
                          </a:solidFill>
                          <a:latin typeface="Calibri"/>
                        </a:rPr>
                        <a:t>+0.011</a:t>
                      </a:r>
                    </a:p>
                  </a:txBody>
                  <a:tcPr anchor="ctr">
                    <a:solidFill>
                      <a:srgbClr val="F2F4F7"/>
                    </a:solidFill>
                  </a:tcPr>
                </a:tc>
                <a:tc>
                  <a:txBody>
                    <a:bodyPr/>
                    <a:lstStyle/>
                    <a:p>
                      <a:pPr algn="ctr"/>
                      <a:r>
                        <a:rPr sz="1500" b="0">
                          <a:solidFill>
                            <a:srgbClr val="1F2433"/>
                          </a:solidFill>
                          <a:latin typeface="Calibri"/>
                        </a:rPr>
                        <a:t>+0.001</a:t>
                      </a:r>
                    </a:p>
                  </a:txBody>
                  <a:tcPr anchor="ctr">
                    <a:solidFill>
                      <a:srgbClr val="F2F4F7"/>
                    </a:solidFill>
                  </a:tcPr>
                </a:tc>
              </a:tr>
            </a:tbl>
          </a:graphicData>
        </a:graphic>
      </p:graphicFrame>
      <p:sp>
        <p:nvSpPr>
          <p:cNvPr id="7" name="TextBox 6"/>
          <p:cNvSpPr txBox="1"/>
          <p:nvPr/>
        </p:nvSpPr>
        <p:spPr>
          <a:xfrm>
            <a:off x="548640" y="5943600"/>
            <a:ext cx="9601200" cy="365760"/>
          </a:xfrm>
          <a:prstGeom prst="rect">
            <a:avLst/>
          </a:prstGeom>
          <a:noFill/>
        </p:spPr>
        <p:txBody>
          <a:bodyPr wrap="square" lIns="0" rIns="0" tIns="0" bIns="0" anchor="t">
            <a:spAutoFit/>
          </a:bodyPr>
          <a:lstStyle/>
          <a:p>
            <a:pPr algn="l"/>
            <a:r>
              <a:rPr sz="1200" b="0" i="0">
                <a:solidFill>
                  <a:srgbClr val="6B7280"/>
                </a:solidFill>
                <a:latin typeface="Calibri"/>
              </a:rPr>
              <a:t>Cells: mean Δ R²oos (FULL − CONTROLS) over 5 folds.  – = controls-only run not done for that specification.</a:t>
            </a:r>
          </a:p>
        </p:txBody>
      </p:sp>
      <p:sp>
        <p:nvSpPr>
          <p:cNvPr id="8" name="TextBox 7"/>
          <p:cNvSpPr txBox="1"/>
          <p:nvPr/>
        </p:nvSpPr>
        <p:spPr>
          <a:xfrm>
            <a:off x="10332720" y="1828800"/>
            <a:ext cx="1463040" cy="822960"/>
          </a:xfrm>
          <a:prstGeom prst="rect">
            <a:avLst/>
          </a:prstGeom>
          <a:noFill/>
        </p:spPr>
        <p:txBody>
          <a:bodyPr wrap="square" lIns="0" rIns="0" tIns="0" bIns="0" anchor="t">
            <a:spAutoFit/>
          </a:bodyPr>
          <a:lstStyle/>
          <a:p>
            <a:pPr algn="l"/>
            <a:r>
              <a:rPr sz="3000" b="1" i="0">
                <a:solidFill>
                  <a:srgbClr val="EB6A35"/>
                </a:solidFill>
                <a:latin typeface="Cambria"/>
              </a:rPr>
              <a:t>+0.017</a:t>
            </a:r>
          </a:p>
        </p:txBody>
      </p:sp>
      <p:sp>
        <p:nvSpPr>
          <p:cNvPr id="9" name="TextBox 8"/>
          <p:cNvSpPr txBox="1"/>
          <p:nvPr/>
        </p:nvSpPr>
        <p:spPr>
          <a:xfrm>
            <a:off x="10332720" y="2514600"/>
            <a:ext cx="1371600" cy="1463040"/>
          </a:xfrm>
          <a:prstGeom prst="rect">
            <a:avLst/>
          </a:prstGeom>
          <a:noFill/>
        </p:spPr>
        <p:txBody>
          <a:bodyPr wrap="square" lIns="0" rIns="0" tIns="0" bIns="0" anchor="t">
            <a:spAutoFit/>
          </a:bodyPr>
          <a:lstStyle/>
          <a:p>
            <a:pPr algn="l"/>
            <a:r>
              <a:rPr sz="1400" b="0" i="0">
                <a:solidFill>
                  <a:srgbClr val="6B7280"/>
                </a:solidFill>
                <a:latin typeface="Calibri"/>
              </a:rPr>
              <a:t>largest gain anywhere (RF, curated tokens)</a:t>
            </a:r>
          </a:p>
        </p:txBody>
      </p:sp>
      <p:sp>
        <p:nvSpPr>
          <p:cNvPr id="10" name="TextBox 9"/>
          <p:cNvSpPr txBox="1"/>
          <p:nvPr/>
        </p:nvSpPr>
        <p:spPr>
          <a:xfrm>
            <a:off x="10332720" y="3840480"/>
            <a:ext cx="1463040" cy="822960"/>
          </a:xfrm>
          <a:prstGeom prst="rect">
            <a:avLst/>
          </a:prstGeom>
          <a:noFill/>
        </p:spPr>
        <p:txBody>
          <a:bodyPr wrap="square" lIns="0" rIns="0" tIns="0" bIns="0" anchor="t">
            <a:spAutoFit/>
          </a:bodyPr>
          <a:lstStyle/>
          <a:p>
            <a:pPr algn="l"/>
            <a:r>
              <a:rPr sz="3000" b="1" i="0">
                <a:solidFill>
                  <a:srgbClr val="141B2D"/>
                </a:solidFill>
                <a:latin typeface="Cambria"/>
              </a:rPr>
              <a:t>0.15</a:t>
            </a:r>
          </a:p>
        </p:txBody>
      </p:sp>
      <p:sp>
        <p:nvSpPr>
          <p:cNvPr id="11" name="TextBox 10"/>
          <p:cNvSpPr txBox="1"/>
          <p:nvPr/>
        </p:nvSpPr>
        <p:spPr>
          <a:xfrm>
            <a:off x="10332720" y="4526280"/>
            <a:ext cx="1371600" cy="1188720"/>
          </a:xfrm>
          <a:prstGeom prst="rect">
            <a:avLst/>
          </a:prstGeom>
          <a:noFill/>
        </p:spPr>
        <p:txBody>
          <a:bodyPr wrap="square" lIns="0" rIns="0" tIns="0" bIns="0" anchor="t">
            <a:spAutoFit/>
          </a:bodyPr>
          <a:lstStyle/>
          <a:p>
            <a:pPr algn="l"/>
            <a:r>
              <a:rPr sz="1400" b="0" i="0">
                <a:solidFill>
                  <a:srgbClr val="6B7280"/>
                </a:solidFill>
                <a:latin typeface="Calibri"/>
              </a:rPr>
              <a:t>typical fold-to-fold s.d. of R²oos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548640" y="320040"/>
            <a:ext cx="11064240" cy="274320"/>
          </a:xfrm>
          <a:prstGeom prst="rect">
            <a:avLst/>
          </a:prstGeom>
          <a:noFill/>
        </p:spPr>
        <p:txBody>
          <a:bodyPr wrap="square" lIns="0" rIns="0" tIns="0" bIns="0" anchor="t">
            <a:spAutoFit/>
          </a:bodyPr>
          <a:lstStyle/>
          <a:p>
            <a:pPr algn="l"/>
            <a:r>
              <a:rPr sz="1200" b="1" i="0">
                <a:solidFill>
                  <a:srgbClr val="EB6A35"/>
                </a:solidFill>
                <a:latin typeface="Calibri"/>
              </a:rPr>
              <a:t>PRACTICAL RELEVANCE</a:t>
            </a:r>
          </a:p>
        </p:txBody>
      </p:sp>
      <p:sp>
        <p:nvSpPr>
          <p:cNvPr id="3" name="Title"/>
          <p:cNvSpPr txBox="1"/>
          <p:nvPr/>
        </p:nvSpPr>
        <p:spPr>
          <a:xfrm>
            <a:off x="548640" y="594360"/>
            <a:ext cx="11064240" cy="822960"/>
          </a:xfrm>
          <a:prstGeom prst="rect">
            <a:avLst/>
          </a:prstGeom>
          <a:noFill/>
        </p:spPr>
        <p:txBody>
          <a:bodyPr wrap="square" lIns="0" rIns="0" tIns="0" bIns="0" anchor="t">
            <a:spAutoFit/>
          </a:bodyPr>
          <a:lstStyle/>
          <a:p>
            <a:pPr algn="l"/>
            <a:r>
              <a:rPr sz="3200" b="1" i="0">
                <a:solidFill>
                  <a:srgbClr val="1F2433"/>
                </a:solidFill>
                <a:latin typeface="Cambria"/>
              </a:rPr>
              <a:t>Is any improvement useful for the decision?</a:t>
            </a:r>
          </a:p>
        </p:txBody>
      </p:sp>
      <p:sp>
        <p:nvSpPr>
          <p:cNvPr id="4" name="Footer"/>
          <p:cNvSpPr txBox="1"/>
          <p:nvPr/>
        </p:nvSpPr>
        <p:spPr>
          <a:xfrm>
            <a:off x="548640" y="6400800"/>
            <a:ext cx="7315200" cy="274320"/>
          </a:xfrm>
          <a:prstGeom prst="rect">
            <a:avLst/>
          </a:prstGeom>
          <a:noFill/>
        </p:spPr>
        <p:txBody>
          <a:bodyPr wrap="square" lIns="0" rIns="0" tIns="0" bIns="0" anchor="t">
            <a:spAutoFit/>
          </a:bodyPr>
          <a:lstStyle/>
          <a:p>
            <a:pPr algn="l"/>
            <a:r>
              <a:rPr sz="1000" b="0" i="0">
                <a:solidFill>
                  <a:srgbClr val="6B7280"/>
                </a:solidFill>
                <a:latin typeface="Calibri"/>
              </a:rPr>
              <a:t>MH6805 Group 7  |  Token unlocks and forward volatility</a:t>
            </a:r>
          </a:p>
        </p:txBody>
      </p:sp>
      <p:sp>
        <p:nvSpPr>
          <p:cNvPr id="5" name="Slide number"/>
          <p:cNvSpPr txBox="1"/>
          <p:nvPr/>
        </p:nvSpPr>
        <p:spPr>
          <a:xfrm>
            <a:off x="10241280" y="6400800"/>
            <a:ext cx="1399032" cy="274320"/>
          </a:xfrm>
          <a:prstGeom prst="rect">
            <a:avLst/>
          </a:prstGeom>
          <a:noFill/>
        </p:spPr>
        <p:txBody>
          <a:bodyPr wrap="square" lIns="0" rIns="0" tIns="0" bIns="0" anchor="t">
            <a:spAutoFit/>
          </a:bodyPr>
          <a:lstStyle/>
          <a:p>
            <a:pPr algn="r"/>
            <a:r>
              <a:rPr sz="1000" b="0" i="0">
                <a:solidFill>
                  <a:srgbClr val="6B7280"/>
                </a:solidFill>
                <a:latin typeface="Calibri"/>
              </a:rPr>
              <a:t>14</a:t>
            </a:r>
          </a:p>
        </p:txBody>
      </p:sp>
      <p:sp>
        <p:nvSpPr>
          <p:cNvPr id="6" name="TextBox 5"/>
          <p:cNvSpPr txBox="1"/>
          <p:nvPr/>
        </p:nvSpPr>
        <p:spPr>
          <a:xfrm>
            <a:off x="548640" y="1737360"/>
            <a:ext cx="2377440" cy="822960"/>
          </a:xfrm>
          <a:prstGeom prst="rect">
            <a:avLst/>
          </a:prstGeom>
          <a:noFill/>
        </p:spPr>
        <p:txBody>
          <a:bodyPr wrap="square" lIns="0" rIns="0" tIns="0" bIns="0" anchor="t">
            <a:spAutoFit/>
          </a:bodyPr>
          <a:lstStyle/>
          <a:p>
            <a:pPr algn="l"/>
            <a:r>
              <a:rPr sz="4000" b="1" i="0">
                <a:solidFill>
                  <a:srgbClr val="141B2D"/>
                </a:solidFill>
                <a:latin typeface="Cambria"/>
              </a:rPr>
              <a:t>0.27</a:t>
            </a:r>
          </a:p>
        </p:txBody>
      </p:sp>
      <p:sp>
        <p:nvSpPr>
          <p:cNvPr id="7" name="TextBox 6"/>
          <p:cNvSpPr txBox="1"/>
          <p:nvPr/>
        </p:nvSpPr>
        <p:spPr>
          <a:xfrm>
            <a:off x="3017520" y="1874519"/>
            <a:ext cx="3291840" cy="1097280"/>
          </a:xfrm>
          <a:prstGeom prst="rect">
            <a:avLst/>
          </a:prstGeom>
          <a:noFill/>
        </p:spPr>
        <p:txBody>
          <a:bodyPr wrap="square" lIns="0" rIns="0" tIns="0" bIns="0" anchor="t">
            <a:spAutoFit/>
          </a:bodyPr>
          <a:lstStyle/>
          <a:p>
            <a:pPr algn="l"/>
            <a:r>
              <a:rPr sz="1500" b="0" i="0">
                <a:solidFill>
                  <a:srgbClr val="6B7280"/>
                </a:solidFill>
                <a:latin typeface="Calibri"/>
              </a:rPr>
              <a:t>median absolute error, annualized-vol points (32% of the level)</a:t>
            </a:r>
          </a:p>
        </p:txBody>
      </p:sp>
      <p:sp>
        <p:nvSpPr>
          <p:cNvPr id="8" name="TextBox 7"/>
          <p:cNvSpPr txBox="1"/>
          <p:nvPr/>
        </p:nvSpPr>
        <p:spPr>
          <a:xfrm>
            <a:off x="548640" y="3200400"/>
            <a:ext cx="2377440" cy="822960"/>
          </a:xfrm>
          <a:prstGeom prst="rect">
            <a:avLst/>
          </a:prstGeom>
          <a:noFill/>
        </p:spPr>
        <p:txBody>
          <a:bodyPr wrap="square" lIns="0" rIns="0" tIns="0" bIns="0" anchor="t">
            <a:spAutoFit/>
          </a:bodyPr>
          <a:lstStyle/>
          <a:p>
            <a:pPr algn="l"/>
            <a:r>
              <a:rPr sz="4000" b="1" i="0">
                <a:solidFill>
                  <a:srgbClr val="141B2D"/>
                </a:solidFill>
                <a:latin typeface="Cambria"/>
              </a:rPr>
              <a:t>41%</a:t>
            </a:r>
          </a:p>
        </p:txBody>
      </p:sp>
      <p:sp>
        <p:nvSpPr>
          <p:cNvPr id="9" name="TextBox 8"/>
          <p:cNvSpPr txBox="1"/>
          <p:nvPr/>
        </p:nvSpPr>
        <p:spPr>
          <a:xfrm>
            <a:off x="3017520" y="3337560"/>
            <a:ext cx="3291840" cy="1097280"/>
          </a:xfrm>
          <a:prstGeom prst="rect">
            <a:avLst/>
          </a:prstGeom>
          <a:noFill/>
        </p:spPr>
        <p:txBody>
          <a:bodyPr wrap="square" lIns="0" rIns="0" tIns="0" bIns="0" anchor="t">
            <a:spAutoFit/>
          </a:bodyPr>
          <a:lstStyle/>
          <a:p>
            <a:pPr algn="l"/>
            <a:r>
              <a:rPr sz="1500" b="0" i="0">
                <a:solidFill>
                  <a:srgbClr val="6B7280"/>
                </a:solidFill>
                <a:latin typeface="Calibri"/>
              </a:rPr>
              <a:t>of forecasts within 25% of realized (persistence 41%)</a:t>
            </a:r>
          </a:p>
        </p:txBody>
      </p:sp>
      <p:sp>
        <p:nvSpPr>
          <p:cNvPr id="10" name="TextBox 9"/>
          <p:cNvSpPr txBox="1"/>
          <p:nvPr/>
        </p:nvSpPr>
        <p:spPr>
          <a:xfrm>
            <a:off x="548640" y="4663440"/>
            <a:ext cx="2377440" cy="822960"/>
          </a:xfrm>
          <a:prstGeom prst="rect">
            <a:avLst/>
          </a:prstGeom>
          <a:noFill/>
        </p:spPr>
        <p:txBody>
          <a:bodyPr wrap="square" lIns="0" rIns="0" tIns="0" bIns="0" anchor="t">
            <a:spAutoFit/>
          </a:bodyPr>
          <a:lstStyle/>
          <a:p>
            <a:pPr algn="l"/>
            <a:r>
              <a:rPr sz="4000" b="1" i="0">
                <a:solidFill>
                  <a:srgbClr val="EB6A35"/>
                </a:solidFill>
                <a:latin typeface="Cambria"/>
              </a:rPr>
              <a:t>None</a:t>
            </a:r>
          </a:p>
        </p:txBody>
      </p:sp>
      <p:sp>
        <p:nvSpPr>
          <p:cNvPr id="11" name="TextBox 10"/>
          <p:cNvSpPr txBox="1"/>
          <p:nvPr/>
        </p:nvSpPr>
        <p:spPr>
          <a:xfrm>
            <a:off x="3017520" y="4800600"/>
            <a:ext cx="3291840" cy="1097280"/>
          </a:xfrm>
          <a:prstGeom prst="rect">
            <a:avLst/>
          </a:prstGeom>
          <a:noFill/>
        </p:spPr>
        <p:txBody>
          <a:bodyPr wrap="square" lIns="0" rIns="0" tIns="0" bIns="0" anchor="t">
            <a:spAutoFit/>
          </a:bodyPr>
          <a:lstStyle/>
          <a:p>
            <a:pPr algn="l"/>
            <a:r>
              <a:rPr sz="1500" b="0" i="0">
                <a:solidFill>
                  <a:srgbClr val="6B7280"/>
                </a:solidFill>
                <a:latin typeface="Calibri"/>
              </a:rPr>
              <a:t>useful gain from unlock features, at the cost of a data subscription and upkeep</a:t>
            </a:r>
          </a:p>
        </p:txBody>
      </p:sp>
      <p:sp>
        <p:nvSpPr>
          <p:cNvPr id="12" name="Human review"/>
          <p:cNvSpPr/>
          <p:nvPr/>
        </p:nvSpPr>
        <p:spPr>
          <a:xfrm>
            <a:off x="6675120" y="1737360"/>
            <a:ext cx="4937760" cy="4389120"/>
          </a:xfrm>
          <a:prstGeom prst="roundRect">
            <a:avLst>
              <a:gd name="adj" fmla="val 8000"/>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949440" y="1920240"/>
            <a:ext cx="4480560" cy="457200"/>
          </a:xfrm>
          <a:prstGeom prst="rect">
            <a:avLst/>
          </a:prstGeom>
          <a:noFill/>
        </p:spPr>
        <p:txBody>
          <a:bodyPr wrap="square" lIns="0" rIns="0" tIns="0" bIns="0" anchor="t">
            <a:spAutoFit/>
          </a:bodyPr>
          <a:lstStyle/>
          <a:p>
            <a:pPr algn="l"/>
            <a:r>
              <a:rPr sz="2000" b="1" i="0">
                <a:solidFill>
                  <a:srgbClr val="1F2433"/>
                </a:solidFill>
                <a:latin typeface="Cambria"/>
              </a:rPr>
              <a:t>Still needs human review</a:t>
            </a:r>
          </a:p>
        </p:txBody>
      </p:sp>
      <p:sp>
        <p:nvSpPr>
          <p:cNvPr id="14" name="Oval 13"/>
          <p:cNvSpPr/>
          <p:nvPr/>
        </p:nvSpPr>
        <p:spPr>
          <a:xfrm>
            <a:off x="6949440" y="2560320"/>
            <a:ext cx="384048" cy="384048"/>
          </a:xfrm>
          <a:prstGeom prst="ellipse">
            <a:avLst/>
          </a:prstGeom>
          <a:solidFill>
            <a:srgbClr val="141B2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300" b="1">
                <a:solidFill>
                  <a:srgbClr val="FFFFFF"/>
                </a:solidFill>
                <a:latin typeface="Calibri"/>
              </a:rPr>
              <a:t>1</a:t>
            </a:r>
          </a:p>
        </p:txBody>
      </p:sp>
      <p:sp>
        <p:nvSpPr>
          <p:cNvPr id="15" name="TextBox 14"/>
          <p:cNvSpPr txBox="1"/>
          <p:nvPr/>
        </p:nvSpPr>
        <p:spPr>
          <a:xfrm>
            <a:off x="7498079" y="2560320"/>
            <a:ext cx="3931920" cy="822960"/>
          </a:xfrm>
          <a:prstGeom prst="rect">
            <a:avLst/>
          </a:prstGeom>
          <a:noFill/>
        </p:spPr>
        <p:txBody>
          <a:bodyPr wrap="square" lIns="0" rIns="0" tIns="0" bIns="0" anchor="t">
            <a:spAutoFit/>
          </a:bodyPr>
          <a:lstStyle/>
          <a:p>
            <a:pPr algn="l"/>
            <a:r>
              <a:rPr sz="1500" b="0" i="0">
                <a:solidFill>
                  <a:srgbClr val="1F2433"/>
                </a:solidFill>
                <a:latin typeface="Calibri"/>
              </a:rPr>
              <a:t>Tokens entering a spike (listings, delistings, hacks): the forecast is too low</a:t>
            </a:r>
          </a:p>
        </p:txBody>
      </p:sp>
      <p:sp>
        <p:nvSpPr>
          <p:cNvPr id="16" name="Oval 15"/>
          <p:cNvSpPr/>
          <p:nvPr/>
        </p:nvSpPr>
        <p:spPr>
          <a:xfrm>
            <a:off x="6949440" y="3429000"/>
            <a:ext cx="384048" cy="384048"/>
          </a:xfrm>
          <a:prstGeom prst="ellipse">
            <a:avLst/>
          </a:prstGeom>
          <a:solidFill>
            <a:srgbClr val="141B2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300" b="1">
                <a:solidFill>
                  <a:srgbClr val="FFFFFF"/>
                </a:solidFill>
                <a:latin typeface="Calibri"/>
              </a:rPr>
              <a:t>2</a:t>
            </a:r>
          </a:p>
        </p:txBody>
      </p:sp>
      <p:sp>
        <p:nvSpPr>
          <p:cNvPr id="17" name="TextBox 16"/>
          <p:cNvSpPr txBox="1"/>
          <p:nvPr/>
        </p:nvSpPr>
        <p:spPr>
          <a:xfrm>
            <a:off x="7498079" y="3429000"/>
            <a:ext cx="3931920" cy="822960"/>
          </a:xfrm>
          <a:prstGeom prst="rect">
            <a:avLst/>
          </a:prstGeom>
          <a:noFill/>
        </p:spPr>
        <p:txBody>
          <a:bodyPr wrap="square" lIns="0" rIns="0" tIns="0" bIns="0" anchor="t">
            <a:spAutoFit/>
          </a:bodyPr>
          <a:lstStyle/>
          <a:p>
            <a:pPr algn="l"/>
            <a:r>
              <a:rPr sz="1500" b="0" i="0">
                <a:solidFill>
                  <a:srgbClr val="1F2433"/>
                </a:solidFill>
                <a:latin typeface="Calibri"/>
              </a:rPr>
              <a:t>Tokens whose volatility is collapsing: most remaining 2× misses are over-forecasts</a:t>
            </a:r>
          </a:p>
        </p:txBody>
      </p:sp>
      <p:sp>
        <p:nvSpPr>
          <p:cNvPr id="18" name="Oval 17"/>
          <p:cNvSpPr/>
          <p:nvPr/>
        </p:nvSpPr>
        <p:spPr>
          <a:xfrm>
            <a:off x="6949440" y="4297679"/>
            <a:ext cx="384048" cy="384048"/>
          </a:xfrm>
          <a:prstGeom prst="ellipse">
            <a:avLst/>
          </a:prstGeom>
          <a:solidFill>
            <a:srgbClr val="141B2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300" b="1">
                <a:solidFill>
                  <a:srgbClr val="FFFFFF"/>
                </a:solidFill>
                <a:latin typeface="Calibri"/>
              </a:rPr>
              <a:t>3</a:t>
            </a:r>
          </a:p>
        </p:txBody>
      </p:sp>
      <p:sp>
        <p:nvSpPr>
          <p:cNvPr id="19" name="TextBox 18"/>
          <p:cNvSpPr txBox="1"/>
          <p:nvPr/>
        </p:nvSpPr>
        <p:spPr>
          <a:xfrm>
            <a:off x="7498079" y="4297679"/>
            <a:ext cx="3931920" cy="822960"/>
          </a:xfrm>
          <a:prstGeom prst="rect">
            <a:avLst/>
          </a:prstGeom>
          <a:noFill/>
        </p:spPr>
        <p:txBody>
          <a:bodyPr wrap="square" lIns="0" rIns="0" tIns="0" bIns="0" anchor="t">
            <a:spAutoFit/>
          </a:bodyPr>
          <a:lstStyle/>
          <a:p>
            <a:pPr algn="l"/>
            <a:r>
              <a:rPr sz="1500" b="0" i="0">
                <a:solidFill>
                  <a:srgbClr val="1F2433"/>
                </a:solidFill>
                <a:latin typeface="Calibri"/>
              </a:rPr>
              <a:t>New listings with under 30 days of history: the model cannot score them</a:t>
            </a:r>
          </a:p>
        </p:txBody>
      </p:sp>
      <p:sp>
        <p:nvSpPr>
          <p:cNvPr id="20" name="Oval 19"/>
          <p:cNvSpPr/>
          <p:nvPr/>
        </p:nvSpPr>
        <p:spPr>
          <a:xfrm>
            <a:off x="6949440" y="5166359"/>
            <a:ext cx="384048" cy="384048"/>
          </a:xfrm>
          <a:prstGeom prst="ellipse">
            <a:avLst/>
          </a:prstGeom>
          <a:solidFill>
            <a:srgbClr val="141B2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300" b="1">
                <a:solidFill>
                  <a:srgbClr val="FFFFFF"/>
                </a:solidFill>
                <a:latin typeface="Calibri"/>
              </a:rPr>
              <a:t>4</a:t>
            </a:r>
          </a:p>
        </p:txBody>
      </p:sp>
      <p:sp>
        <p:nvSpPr>
          <p:cNvPr id="21" name="TextBox 20"/>
          <p:cNvSpPr txBox="1"/>
          <p:nvPr/>
        </p:nvSpPr>
        <p:spPr>
          <a:xfrm>
            <a:off x="7498079" y="5166359"/>
            <a:ext cx="3931920" cy="822960"/>
          </a:xfrm>
          <a:prstGeom prst="rect">
            <a:avLst/>
          </a:prstGeom>
          <a:noFill/>
        </p:spPr>
        <p:txBody>
          <a:bodyPr wrap="square" lIns="0" rIns="0" tIns="0" bIns="0" anchor="t">
            <a:spAutoFit/>
          </a:bodyPr>
          <a:lstStyle/>
          <a:p>
            <a:pPr algn="l"/>
            <a:r>
              <a:rPr sz="1500" b="0" i="0">
                <a:solidFill>
                  <a:srgbClr val="1F2433"/>
                </a:solidFill>
                <a:latin typeface="Calibri"/>
              </a:rPr>
              <a:t>Regime shifts not seen in 2024–26 training data</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141B2D"/>
        </a:solidFill>
        <a:effectLst/>
      </p:bgPr>
    </p:bg>
    <p:spTree>
      <p:nvGrpSpPr>
        <p:cNvPr id="1" name=""/>
        <p:cNvGrpSpPr/>
        <p:nvPr/>
      </p:nvGrpSpPr>
      <p:grpSpPr/>
      <p:sp>
        <p:nvSpPr>
          <p:cNvPr id="2" name="TextBox 1"/>
          <p:cNvSpPr txBox="1"/>
          <p:nvPr/>
        </p:nvSpPr>
        <p:spPr>
          <a:xfrm>
            <a:off x="548640" y="320040"/>
            <a:ext cx="10972800" cy="274320"/>
          </a:xfrm>
          <a:prstGeom prst="rect">
            <a:avLst/>
          </a:prstGeom>
          <a:noFill/>
        </p:spPr>
        <p:txBody>
          <a:bodyPr wrap="square" lIns="0" rIns="0" tIns="0" bIns="0" anchor="t">
            <a:spAutoFit/>
          </a:bodyPr>
          <a:lstStyle/>
          <a:p>
            <a:pPr algn="l"/>
            <a:r>
              <a:rPr sz="1200" b="1" i="0">
                <a:solidFill>
                  <a:srgbClr val="EB6A35"/>
                </a:solidFill>
                <a:latin typeface="Calibri"/>
              </a:rPr>
              <a:t>CONCLUSION</a:t>
            </a:r>
          </a:p>
        </p:txBody>
      </p:sp>
      <p:sp>
        <p:nvSpPr>
          <p:cNvPr id="3" name="TextBox 2"/>
          <p:cNvSpPr txBox="1"/>
          <p:nvPr/>
        </p:nvSpPr>
        <p:spPr>
          <a:xfrm>
            <a:off x="548640" y="594360"/>
            <a:ext cx="11064240" cy="822960"/>
          </a:xfrm>
          <a:prstGeom prst="rect">
            <a:avLst/>
          </a:prstGeom>
          <a:noFill/>
        </p:spPr>
        <p:txBody>
          <a:bodyPr wrap="square" lIns="0" rIns="0" tIns="0" bIns="0" anchor="t">
            <a:spAutoFit/>
          </a:bodyPr>
          <a:lstStyle/>
          <a:p>
            <a:pPr algn="l"/>
            <a:r>
              <a:rPr sz="3200" b="1" i="0">
                <a:solidFill>
                  <a:srgbClr val="FFFFFF"/>
                </a:solidFill>
                <a:latin typeface="Cambria"/>
              </a:rPr>
              <a:t>Unlocks are not a reliable incremental volatility signal</a:t>
            </a:r>
          </a:p>
        </p:txBody>
      </p:sp>
      <p:sp>
        <p:nvSpPr>
          <p:cNvPr id="4" name="Oval 3"/>
          <p:cNvSpPr/>
          <p:nvPr/>
        </p:nvSpPr>
        <p:spPr>
          <a:xfrm>
            <a:off x="548640" y="1828800"/>
            <a:ext cx="548640" cy="548640"/>
          </a:xfrm>
          <a:prstGeom prst="ellipse">
            <a:avLst/>
          </a:prstGeom>
          <a:solidFill>
            <a:srgbClr val="EB6A3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800" b="1">
                <a:solidFill>
                  <a:srgbClr val="FFFFFF"/>
                </a:solidFill>
                <a:latin typeface="Calibri"/>
              </a:rPr>
              <a:t>1</a:t>
            </a:r>
          </a:p>
        </p:txBody>
      </p:sp>
      <p:sp>
        <p:nvSpPr>
          <p:cNvPr id="5" name="TextBox 4"/>
          <p:cNvSpPr txBox="1"/>
          <p:nvPr/>
        </p:nvSpPr>
        <p:spPr>
          <a:xfrm>
            <a:off x="1325880" y="1810512"/>
            <a:ext cx="4572000" cy="457200"/>
          </a:xfrm>
          <a:prstGeom prst="rect">
            <a:avLst/>
          </a:prstGeom>
          <a:noFill/>
        </p:spPr>
        <p:txBody>
          <a:bodyPr wrap="square" lIns="0" rIns="0" tIns="0" bIns="0" anchor="t">
            <a:spAutoFit/>
          </a:bodyPr>
          <a:lstStyle/>
          <a:p>
            <a:pPr algn="l"/>
            <a:r>
              <a:rPr sz="2000" b="1" i="0">
                <a:solidFill>
                  <a:srgbClr val="FFFFFF"/>
                </a:solidFill>
                <a:latin typeface="Cambria"/>
              </a:rPr>
              <a:t>Raw link is real, not incremental</a:t>
            </a:r>
          </a:p>
        </p:txBody>
      </p:sp>
      <p:sp>
        <p:nvSpPr>
          <p:cNvPr id="6" name="TextBox 5"/>
          <p:cNvSpPr txBox="1"/>
          <p:nvPr/>
        </p:nvSpPr>
        <p:spPr>
          <a:xfrm>
            <a:off x="1325880" y="2331720"/>
            <a:ext cx="4572000" cy="1188720"/>
          </a:xfrm>
          <a:prstGeom prst="rect">
            <a:avLst/>
          </a:prstGeom>
          <a:noFill/>
        </p:spPr>
        <p:txBody>
          <a:bodyPr wrap="square" lIns="0" rIns="0" tIns="0" bIns="0" anchor="t">
            <a:spAutoFit/>
          </a:bodyPr>
          <a:lstStyle/>
          <a:p>
            <a:pPr algn="l"/>
            <a:r>
              <a:rPr sz="1600" b="0" i="0">
                <a:solidFill>
                  <a:srgbClr val="C9D3E6"/>
                </a:solidFill>
                <a:latin typeface="Calibri"/>
              </a:rPr>
              <a:t>Heavy-unlock tokens are young and already volatile; trailing volatility absorbs the effect.</a:t>
            </a:r>
          </a:p>
        </p:txBody>
      </p:sp>
      <p:sp>
        <p:nvSpPr>
          <p:cNvPr id="7" name="Oval 6"/>
          <p:cNvSpPr/>
          <p:nvPr/>
        </p:nvSpPr>
        <p:spPr>
          <a:xfrm>
            <a:off x="6217920" y="1828800"/>
            <a:ext cx="548640" cy="548640"/>
          </a:xfrm>
          <a:prstGeom prst="ellipse">
            <a:avLst/>
          </a:prstGeom>
          <a:solidFill>
            <a:srgbClr val="EB6A3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800" b="1">
                <a:solidFill>
                  <a:srgbClr val="FFFFFF"/>
                </a:solidFill>
                <a:latin typeface="Calibri"/>
              </a:rPr>
              <a:t>2</a:t>
            </a:r>
          </a:p>
        </p:txBody>
      </p:sp>
      <p:sp>
        <p:nvSpPr>
          <p:cNvPr id="8" name="TextBox 7"/>
          <p:cNvSpPr txBox="1"/>
          <p:nvPr/>
        </p:nvSpPr>
        <p:spPr>
          <a:xfrm>
            <a:off x="6995159" y="1810512"/>
            <a:ext cx="4572000" cy="457200"/>
          </a:xfrm>
          <a:prstGeom prst="rect">
            <a:avLst/>
          </a:prstGeom>
          <a:noFill/>
        </p:spPr>
        <p:txBody>
          <a:bodyPr wrap="square" lIns="0" rIns="0" tIns="0" bIns="0" anchor="t">
            <a:spAutoFit/>
          </a:bodyPr>
          <a:lstStyle/>
          <a:p>
            <a:pPr algn="l"/>
            <a:r>
              <a:rPr sz="2000" b="1" i="0">
                <a:solidFill>
                  <a:srgbClr val="FFFFFF"/>
                </a:solidFill>
                <a:latin typeface="Cambria"/>
              </a:rPr>
              <a:t>Five model families agree</a:t>
            </a:r>
          </a:p>
        </p:txBody>
      </p:sp>
      <p:sp>
        <p:nvSpPr>
          <p:cNvPr id="9" name="TextBox 8"/>
          <p:cNvSpPr txBox="1"/>
          <p:nvPr/>
        </p:nvSpPr>
        <p:spPr>
          <a:xfrm>
            <a:off x="6995159" y="2331720"/>
            <a:ext cx="4572000" cy="1188720"/>
          </a:xfrm>
          <a:prstGeom prst="rect">
            <a:avLst/>
          </a:prstGeom>
          <a:noFill/>
        </p:spPr>
        <p:txBody>
          <a:bodyPr wrap="square" lIns="0" rIns="0" tIns="0" bIns="0" anchor="t">
            <a:spAutoFit/>
          </a:bodyPr>
          <a:lstStyle/>
          <a:p>
            <a:pPr algn="l"/>
            <a:r>
              <a:rPr sz="1600" b="0" i="0">
                <a:solidFill>
                  <a:srgbClr val="C9D3E6"/>
                </a:solidFill>
                <a:latin typeface="Calibri"/>
              </a:rPr>
              <a:t>Regressors gain only +0.001 to +0.006 R², with unstable sign; logistic AUC falls slightly.</a:t>
            </a:r>
          </a:p>
        </p:txBody>
      </p:sp>
      <p:sp>
        <p:nvSpPr>
          <p:cNvPr id="10" name="Oval 9"/>
          <p:cNvSpPr/>
          <p:nvPr/>
        </p:nvSpPr>
        <p:spPr>
          <a:xfrm>
            <a:off x="548640" y="3886200"/>
            <a:ext cx="548640" cy="548640"/>
          </a:xfrm>
          <a:prstGeom prst="ellipse">
            <a:avLst/>
          </a:prstGeom>
          <a:solidFill>
            <a:srgbClr val="EB6A3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800" b="1">
                <a:solidFill>
                  <a:srgbClr val="FFFFFF"/>
                </a:solidFill>
                <a:latin typeface="Calibri"/>
              </a:rPr>
              <a:t>3</a:t>
            </a:r>
          </a:p>
        </p:txBody>
      </p:sp>
      <p:sp>
        <p:nvSpPr>
          <p:cNvPr id="11" name="TextBox 10"/>
          <p:cNvSpPr txBox="1"/>
          <p:nvPr/>
        </p:nvSpPr>
        <p:spPr>
          <a:xfrm>
            <a:off x="1325880" y="3867912"/>
            <a:ext cx="4572000" cy="457200"/>
          </a:xfrm>
          <a:prstGeom prst="rect">
            <a:avLst/>
          </a:prstGeom>
          <a:noFill/>
        </p:spPr>
        <p:txBody>
          <a:bodyPr wrap="square" lIns="0" rIns="0" tIns="0" bIns="0" anchor="t">
            <a:spAutoFit/>
          </a:bodyPr>
          <a:lstStyle/>
          <a:p>
            <a:pPr algn="l"/>
            <a:r>
              <a:rPr sz="2000" b="1" i="0">
                <a:solidFill>
                  <a:srgbClr val="FFFFFF"/>
                </a:solidFill>
                <a:latin typeface="Cambria"/>
              </a:rPr>
              <a:t>Best forecaster: Ridge on controls</a:t>
            </a:r>
          </a:p>
        </p:txBody>
      </p:sp>
      <p:sp>
        <p:nvSpPr>
          <p:cNvPr id="12" name="TextBox 11"/>
          <p:cNvSpPr txBox="1"/>
          <p:nvPr/>
        </p:nvSpPr>
        <p:spPr>
          <a:xfrm>
            <a:off x="1325880" y="4389120"/>
            <a:ext cx="4572000" cy="1188720"/>
          </a:xfrm>
          <a:prstGeom prst="rect">
            <a:avLst/>
          </a:prstGeom>
          <a:noFill/>
        </p:spPr>
        <p:txBody>
          <a:bodyPr wrap="square" lIns="0" rIns="0" tIns="0" bIns="0" anchor="t">
            <a:spAutoFit/>
          </a:bodyPr>
          <a:lstStyle/>
          <a:p>
            <a:pPr algn="l"/>
            <a:r>
              <a:rPr sz="1600" b="0" i="0">
                <a:solidFill>
                  <a:srgbClr val="C9D3E6"/>
                </a:solidFill>
                <a:latin typeface="Calibri"/>
              </a:rPr>
              <a:t>Best RMSE and rank correlation, seconds to train, interpretable. RF close second.</a:t>
            </a:r>
          </a:p>
        </p:txBody>
      </p:sp>
      <p:sp>
        <p:nvSpPr>
          <p:cNvPr id="13" name="Oval 12"/>
          <p:cNvSpPr/>
          <p:nvPr/>
        </p:nvSpPr>
        <p:spPr>
          <a:xfrm>
            <a:off x="6217920" y="3886200"/>
            <a:ext cx="548640" cy="548640"/>
          </a:xfrm>
          <a:prstGeom prst="ellipse">
            <a:avLst/>
          </a:prstGeom>
          <a:solidFill>
            <a:srgbClr val="EB6A3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800" b="1">
                <a:solidFill>
                  <a:srgbClr val="FFFFFF"/>
                </a:solidFill>
                <a:latin typeface="Calibri"/>
              </a:rPr>
              <a:t>4</a:t>
            </a:r>
          </a:p>
        </p:txBody>
      </p:sp>
      <p:sp>
        <p:nvSpPr>
          <p:cNvPr id="14" name="TextBox 13"/>
          <p:cNvSpPr txBox="1"/>
          <p:nvPr/>
        </p:nvSpPr>
        <p:spPr>
          <a:xfrm>
            <a:off x="6995159" y="3867912"/>
            <a:ext cx="4572000" cy="457200"/>
          </a:xfrm>
          <a:prstGeom prst="rect">
            <a:avLst/>
          </a:prstGeom>
          <a:noFill/>
        </p:spPr>
        <p:txBody>
          <a:bodyPr wrap="square" lIns="0" rIns="0" tIns="0" bIns="0" anchor="t">
            <a:spAutoFit/>
          </a:bodyPr>
          <a:lstStyle/>
          <a:p>
            <a:pPr algn="l"/>
            <a:r>
              <a:rPr sz="2000" b="1" i="0">
                <a:solidFill>
                  <a:srgbClr val="FFFFFF"/>
                </a:solidFill>
                <a:latin typeface="Cambria"/>
              </a:rPr>
              <a:t>Consistent with an efficient market</a:t>
            </a:r>
          </a:p>
        </p:txBody>
      </p:sp>
      <p:sp>
        <p:nvSpPr>
          <p:cNvPr id="15" name="TextBox 14"/>
          <p:cNvSpPr txBox="1"/>
          <p:nvPr/>
        </p:nvSpPr>
        <p:spPr>
          <a:xfrm>
            <a:off x="6995159" y="4389120"/>
            <a:ext cx="4572000" cy="1188720"/>
          </a:xfrm>
          <a:prstGeom prst="rect">
            <a:avLst/>
          </a:prstGeom>
          <a:noFill/>
        </p:spPr>
        <p:txBody>
          <a:bodyPr wrap="square" lIns="0" rIns="0" tIns="0" bIns="0" anchor="t">
            <a:spAutoFit/>
          </a:bodyPr>
          <a:lstStyle/>
          <a:p>
            <a:pPr algn="l"/>
            <a:r>
              <a:rPr sz="1600" b="0" i="0">
                <a:solidFill>
                  <a:srgbClr val="C9D3E6"/>
                </a:solidFill>
                <a:latin typeface="Calibri"/>
              </a:rPr>
              <a:t>Schedules are public months ahead, so any predictable effect is likely priced before the date.</a:t>
            </a:r>
          </a:p>
        </p:txBody>
      </p:sp>
      <p:sp>
        <p:nvSpPr>
          <p:cNvPr id="16" name="TextBox 15"/>
          <p:cNvSpPr txBox="1"/>
          <p:nvPr/>
        </p:nvSpPr>
        <p:spPr>
          <a:xfrm>
            <a:off x="548640" y="5989320"/>
            <a:ext cx="10972800" cy="365760"/>
          </a:xfrm>
          <a:prstGeom prst="rect">
            <a:avLst/>
          </a:prstGeom>
          <a:noFill/>
        </p:spPr>
        <p:txBody>
          <a:bodyPr wrap="square" lIns="0" rIns="0" tIns="0" bIns="0" anchor="t">
            <a:spAutoFit/>
          </a:bodyPr>
          <a:lstStyle/>
          <a:p>
            <a:pPr algn="l"/>
            <a:r>
              <a:rPr sz="1600" b="0" i="0">
                <a:solidFill>
                  <a:srgbClr val="C9D3E6"/>
                </a:solidFill>
                <a:latin typeface="Calibri"/>
              </a:rPr>
              <a:t>A null result is a valid result: nothing was tuned to make it disappear.</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548640" y="320040"/>
            <a:ext cx="11064240" cy="274320"/>
          </a:xfrm>
          <a:prstGeom prst="rect">
            <a:avLst/>
          </a:prstGeom>
          <a:noFill/>
        </p:spPr>
        <p:txBody>
          <a:bodyPr wrap="square" lIns="0" rIns="0" tIns="0" bIns="0" anchor="t">
            <a:spAutoFit/>
          </a:bodyPr>
          <a:lstStyle/>
          <a:p>
            <a:pPr algn="l"/>
            <a:r>
              <a:rPr sz="1200" b="1" i="0">
                <a:solidFill>
                  <a:srgbClr val="EB6A35"/>
                </a:solidFill>
                <a:latin typeface="Calibri"/>
              </a:rPr>
              <a:t>DISCUSSION</a:t>
            </a:r>
          </a:p>
        </p:txBody>
      </p:sp>
      <p:sp>
        <p:nvSpPr>
          <p:cNvPr id="3" name="Title"/>
          <p:cNvSpPr txBox="1"/>
          <p:nvPr/>
        </p:nvSpPr>
        <p:spPr>
          <a:xfrm>
            <a:off x="548640" y="594360"/>
            <a:ext cx="11064240" cy="822960"/>
          </a:xfrm>
          <a:prstGeom prst="rect">
            <a:avLst/>
          </a:prstGeom>
          <a:noFill/>
        </p:spPr>
        <p:txBody>
          <a:bodyPr wrap="square" lIns="0" rIns="0" tIns="0" bIns="0" anchor="t">
            <a:spAutoFit/>
          </a:bodyPr>
          <a:lstStyle/>
          <a:p>
            <a:pPr algn="l"/>
            <a:r>
              <a:rPr sz="3200" b="1" i="0">
                <a:solidFill>
                  <a:srgbClr val="1F2433"/>
                </a:solidFill>
                <a:latin typeface="Cambria"/>
              </a:rPr>
              <a:t>Limitations and next steps</a:t>
            </a:r>
          </a:p>
        </p:txBody>
      </p:sp>
      <p:sp>
        <p:nvSpPr>
          <p:cNvPr id="4" name="Footer"/>
          <p:cNvSpPr txBox="1"/>
          <p:nvPr/>
        </p:nvSpPr>
        <p:spPr>
          <a:xfrm>
            <a:off x="548640" y="6400800"/>
            <a:ext cx="7315200" cy="274320"/>
          </a:xfrm>
          <a:prstGeom prst="rect">
            <a:avLst/>
          </a:prstGeom>
          <a:noFill/>
        </p:spPr>
        <p:txBody>
          <a:bodyPr wrap="square" lIns="0" rIns="0" tIns="0" bIns="0" anchor="t">
            <a:spAutoFit/>
          </a:bodyPr>
          <a:lstStyle/>
          <a:p>
            <a:pPr algn="l"/>
            <a:r>
              <a:rPr sz="1000" b="0" i="0">
                <a:solidFill>
                  <a:srgbClr val="6B7280"/>
                </a:solidFill>
                <a:latin typeface="Calibri"/>
              </a:rPr>
              <a:t>MH6805 Group 7  |  Token unlocks and forward volatility</a:t>
            </a:r>
          </a:p>
        </p:txBody>
      </p:sp>
      <p:sp>
        <p:nvSpPr>
          <p:cNvPr id="5" name="Slide number"/>
          <p:cNvSpPr txBox="1"/>
          <p:nvPr/>
        </p:nvSpPr>
        <p:spPr>
          <a:xfrm>
            <a:off x="10241280" y="6400800"/>
            <a:ext cx="1399032" cy="274320"/>
          </a:xfrm>
          <a:prstGeom prst="rect">
            <a:avLst/>
          </a:prstGeom>
          <a:noFill/>
        </p:spPr>
        <p:txBody>
          <a:bodyPr wrap="square" lIns="0" rIns="0" tIns="0" bIns="0" anchor="t">
            <a:spAutoFit/>
          </a:bodyPr>
          <a:lstStyle/>
          <a:p>
            <a:pPr algn="r"/>
            <a:r>
              <a:rPr sz="1000" b="0" i="0">
                <a:solidFill>
                  <a:srgbClr val="6B7280"/>
                </a:solidFill>
                <a:latin typeface="Calibri"/>
              </a:rPr>
              <a:t>16</a:t>
            </a:r>
          </a:p>
        </p:txBody>
      </p:sp>
      <p:sp>
        <p:nvSpPr>
          <p:cNvPr id="6" name="Limitations"/>
          <p:cNvSpPr/>
          <p:nvPr/>
        </p:nvSpPr>
        <p:spPr>
          <a:xfrm>
            <a:off x="548640" y="1737360"/>
            <a:ext cx="5394960" cy="4389120"/>
          </a:xfrm>
          <a:prstGeom prst="roundRect">
            <a:avLst>
              <a:gd name="adj" fmla="val 8000"/>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1965960"/>
            <a:ext cx="4754880" cy="457200"/>
          </a:xfrm>
          <a:prstGeom prst="rect">
            <a:avLst/>
          </a:prstGeom>
          <a:noFill/>
        </p:spPr>
        <p:txBody>
          <a:bodyPr wrap="square" lIns="0" rIns="0" tIns="0" bIns="0" anchor="t">
            <a:spAutoFit/>
          </a:bodyPr>
          <a:lstStyle/>
          <a:p>
            <a:pPr algn="l"/>
            <a:r>
              <a:rPr sz="2200" b="1" i="0">
                <a:solidFill>
                  <a:srgbClr val="141B2D"/>
                </a:solidFill>
                <a:latin typeface="Cambria"/>
              </a:rPr>
              <a:t>Limitations</a:t>
            </a:r>
          </a:p>
        </p:txBody>
      </p:sp>
      <p:sp>
        <p:nvSpPr>
          <p:cNvPr id="8" name="Oval 7"/>
          <p:cNvSpPr/>
          <p:nvPr/>
        </p:nvSpPr>
        <p:spPr>
          <a:xfrm>
            <a:off x="868680" y="2697480"/>
            <a:ext cx="384048" cy="384048"/>
          </a:xfrm>
          <a:prstGeom prst="ellipse">
            <a:avLst/>
          </a:prstGeom>
          <a:solidFill>
            <a:srgbClr val="141B2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300" b="1">
                <a:solidFill>
                  <a:srgbClr val="FFFFFF"/>
                </a:solidFill>
                <a:latin typeface="Calibri"/>
              </a:rPr>
              <a:t>1</a:t>
            </a:r>
          </a:p>
        </p:txBody>
      </p:sp>
      <p:sp>
        <p:nvSpPr>
          <p:cNvPr id="9" name="TextBox 8"/>
          <p:cNvSpPr txBox="1"/>
          <p:nvPr/>
        </p:nvSpPr>
        <p:spPr>
          <a:xfrm>
            <a:off x="1417319" y="2697480"/>
            <a:ext cx="4297680" cy="777240"/>
          </a:xfrm>
          <a:prstGeom prst="rect">
            <a:avLst/>
          </a:prstGeom>
          <a:noFill/>
        </p:spPr>
        <p:txBody>
          <a:bodyPr wrap="square" lIns="0" rIns="0" tIns="0" bIns="0" anchor="t">
            <a:spAutoFit/>
          </a:bodyPr>
          <a:lstStyle/>
          <a:p>
            <a:pPr algn="l"/>
            <a:r>
              <a:rPr sz="1600" b="0" i="0">
                <a:solidFill>
                  <a:srgbClr val="1F2433"/>
                </a:solidFill>
                <a:latin typeface="Calibri"/>
              </a:rPr>
              <a:t>One calm-to-moderate regime (2024-09 to 2026-08), no 2022-style stress</a:t>
            </a:r>
          </a:p>
        </p:txBody>
      </p:sp>
      <p:sp>
        <p:nvSpPr>
          <p:cNvPr id="10" name="Oval 9"/>
          <p:cNvSpPr/>
          <p:nvPr/>
        </p:nvSpPr>
        <p:spPr>
          <a:xfrm>
            <a:off x="868680" y="3538728"/>
            <a:ext cx="384048" cy="384048"/>
          </a:xfrm>
          <a:prstGeom prst="ellipse">
            <a:avLst/>
          </a:prstGeom>
          <a:solidFill>
            <a:srgbClr val="141B2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300" b="1">
                <a:solidFill>
                  <a:srgbClr val="FFFFFF"/>
                </a:solidFill>
                <a:latin typeface="Calibri"/>
              </a:rPr>
              <a:t>2</a:t>
            </a:r>
          </a:p>
        </p:txBody>
      </p:sp>
      <p:sp>
        <p:nvSpPr>
          <p:cNvPr id="11" name="TextBox 10"/>
          <p:cNvSpPr txBox="1"/>
          <p:nvPr/>
        </p:nvSpPr>
        <p:spPr>
          <a:xfrm>
            <a:off x="1417319" y="3538728"/>
            <a:ext cx="4297680" cy="777240"/>
          </a:xfrm>
          <a:prstGeom prst="rect">
            <a:avLst/>
          </a:prstGeom>
          <a:noFill/>
        </p:spPr>
        <p:txBody>
          <a:bodyPr wrap="square" lIns="0" rIns="0" tIns="0" bIns="0" anchor="t">
            <a:spAutoFit/>
          </a:bodyPr>
          <a:lstStyle/>
          <a:p>
            <a:pPr algn="l"/>
            <a:r>
              <a:rPr sz="1600" b="0" i="0">
                <a:solidFill>
                  <a:srgbClr val="1F2433"/>
                </a:solidFill>
                <a:latin typeface="Calibri"/>
              </a:rPr>
              <a:t>Schedules as curated on 2026-09-14: revisions are back-filled (biases toward finding an effect)</a:t>
            </a:r>
          </a:p>
        </p:txBody>
      </p:sp>
      <p:sp>
        <p:nvSpPr>
          <p:cNvPr id="12" name="Oval 11"/>
          <p:cNvSpPr/>
          <p:nvPr/>
        </p:nvSpPr>
        <p:spPr>
          <a:xfrm>
            <a:off x="868680" y="4379976"/>
            <a:ext cx="384048" cy="384048"/>
          </a:xfrm>
          <a:prstGeom prst="ellipse">
            <a:avLst/>
          </a:prstGeom>
          <a:solidFill>
            <a:srgbClr val="141B2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300" b="1">
                <a:solidFill>
                  <a:srgbClr val="FFFFFF"/>
                </a:solidFill>
                <a:latin typeface="Calibri"/>
              </a:rPr>
              <a:t>3</a:t>
            </a:r>
          </a:p>
        </p:txBody>
      </p:sp>
      <p:sp>
        <p:nvSpPr>
          <p:cNvPr id="13" name="TextBox 12"/>
          <p:cNvSpPr txBox="1"/>
          <p:nvPr/>
        </p:nvSpPr>
        <p:spPr>
          <a:xfrm>
            <a:off x="1417319" y="4379976"/>
            <a:ext cx="4297680" cy="777240"/>
          </a:xfrm>
          <a:prstGeom prst="rect">
            <a:avLst/>
          </a:prstGeom>
          <a:noFill/>
        </p:spPr>
        <p:txBody>
          <a:bodyPr wrap="square" lIns="0" rIns="0" tIns="0" bIns="0" anchor="t">
            <a:spAutoFit/>
          </a:bodyPr>
          <a:lstStyle/>
          <a:p>
            <a:pPr algn="l"/>
            <a:r>
              <a:rPr sz="1600" b="0" i="0">
                <a:solidFill>
                  <a:srgbClr val="1F2433"/>
                </a:solidFill>
                <a:latin typeface="Calibri"/>
              </a:rPr>
              <a:t>Allocation and listing data are snapshots</a:t>
            </a:r>
          </a:p>
        </p:txBody>
      </p:sp>
      <p:sp>
        <p:nvSpPr>
          <p:cNvPr id="14" name="Oval 13"/>
          <p:cNvSpPr/>
          <p:nvPr/>
        </p:nvSpPr>
        <p:spPr>
          <a:xfrm>
            <a:off x="868680" y="5221224"/>
            <a:ext cx="384048" cy="384048"/>
          </a:xfrm>
          <a:prstGeom prst="ellipse">
            <a:avLst/>
          </a:prstGeom>
          <a:solidFill>
            <a:srgbClr val="141B2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300" b="1">
                <a:solidFill>
                  <a:srgbClr val="FFFFFF"/>
                </a:solidFill>
                <a:latin typeface="Calibri"/>
              </a:rPr>
              <a:t>4</a:t>
            </a:r>
          </a:p>
        </p:txBody>
      </p:sp>
      <p:sp>
        <p:nvSpPr>
          <p:cNvPr id="15" name="TextBox 14"/>
          <p:cNvSpPr txBox="1"/>
          <p:nvPr/>
        </p:nvSpPr>
        <p:spPr>
          <a:xfrm>
            <a:off x="1417319" y="5221224"/>
            <a:ext cx="4297680" cy="777240"/>
          </a:xfrm>
          <a:prstGeom prst="rect">
            <a:avLst/>
          </a:prstGeom>
          <a:noFill/>
        </p:spPr>
        <p:txBody>
          <a:bodyPr wrap="square" lIns="0" rIns="0" tIns="0" bIns="0" anchor="t">
            <a:spAutoFit/>
          </a:bodyPr>
          <a:lstStyle/>
          <a:p>
            <a:pPr algn="l"/>
            <a:r>
              <a:rPr sz="1600" b="0" i="0">
                <a:solidFill>
                  <a:srgbClr val="1F2433"/>
                </a:solidFill>
                <a:latin typeface="Calibri"/>
              </a:rPr>
              <a:t>176 Binance-listed tokens: larger, more liquid names</a:t>
            </a:r>
          </a:p>
        </p:txBody>
      </p:sp>
      <p:sp>
        <p:nvSpPr>
          <p:cNvPr id="16" name="Next steps"/>
          <p:cNvSpPr/>
          <p:nvPr/>
        </p:nvSpPr>
        <p:spPr>
          <a:xfrm>
            <a:off x="6217920" y="1737360"/>
            <a:ext cx="5394960" cy="4389120"/>
          </a:xfrm>
          <a:prstGeom prst="roundRect">
            <a:avLst>
              <a:gd name="adj" fmla="val 8000"/>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537959" y="1965960"/>
            <a:ext cx="4754880" cy="457200"/>
          </a:xfrm>
          <a:prstGeom prst="rect">
            <a:avLst/>
          </a:prstGeom>
          <a:noFill/>
        </p:spPr>
        <p:txBody>
          <a:bodyPr wrap="square" lIns="0" rIns="0" tIns="0" bIns="0" anchor="t">
            <a:spAutoFit/>
          </a:bodyPr>
          <a:lstStyle/>
          <a:p>
            <a:pPr algn="l"/>
            <a:r>
              <a:rPr sz="2200" b="1" i="0">
                <a:solidFill>
                  <a:srgbClr val="EB6A35"/>
                </a:solidFill>
                <a:latin typeface="Cambria"/>
              </a:rPr>
              <a:t>Next steps</a:t>
            </a:r>
          </a:p>
        </p:txBody>
      </p:sp>
      <p:sp>
        <p:nvSpPr>
          <p:cNvPr id="18" name="Oval 17"/>
          <p:cNvSpPr/>
          <p:nvPr/>
        </p:nvSpPr>
        <p:spPr>
          <a:xfrm>
            <a:off x="6537959" y="2697480"/>
            <a:ext cx="384048" cy="384048"/>
          </a:xfrm>
          <a:prstGeom prst="ellipse">
            <a:avLst/>
          </a:prstGeom>
          <a:solidFill>
            <a:srgbClr val="EB6A3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300" b="1">
                <a:solidFill>
                  <a:srgbClr val="FFFFFF"/>
                </a:solidFill>
                <a:latin typeface="Calibri"/>
              </a:rPr>
              <a:t>1</a:t>
            </a:r>
          </a:p>
        </p:txBody>
      </p:sp>
      <p:sp>
        <p:nvSpPr>
          <p:cNvPr id="19" name="TextBox 18"/>
          <p:cNvSpPr txBox="1"/>
          <p:nvPr/>
        </p:nvSpPr>
        <p:spPr>
          <a:xfrm>
            <a:off x="7086600" y="2697480"/>
            <a:ext cx="4297680" cy="777240"/>
          </a:xfrm>
          <a:prstGeom prst="rect">
            <a:avLst/>
          </a:prstGeom>
          <a:noFill/>
        </p:spPr>
        <p:txBody>
          <a:bodyPr wrap="square" lIns="0" rIns="0" tIns="0" bIns="0" anchor="t">
            <a:spAutoFit/>
          </a:bodyPr>
          <a:lstStyle/>
          <a:p>
            <a:pPr algn="l"/>
            <a:r>
              <a:rPr sz="1600" b="0" i="0">
                <a:solidFill>
                  <a:srgbClr val="1F2433"/>
                </a:solidFill>
                <a:latin typeface="Calibri"/>
              </a:rPr>
              <a:t>Event study around the largest cliff unlocks</a:t>
            </a:r>
          </a:p>
        </p:txBody>
      </p:sp>
      <p:sp>
        <p:nvSpPr>
          <p:cNvPr id="20" name="Oval 19"/>
          <p:cNvSpPr/>
          <p:nvPr/>
        </p:nvSpPr>
        <p:spPr>
          <a:xfrm>
            <a:off x="6537959" y="3538728"/>
            <a:ext cx="384048" cy="384048"/>
          </a:xfrm>
          <a:prstGeom prst="ellipse">
            <a:avLst/>
          </a:prstGeom>
          <a:solidFill>
            <a:srgbClr val="EB6A3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300" b="1">
                <a:solidFill>
                  <a:srgbClr val="FFFFFF"/>
                </a:solidFill>
                <a:latin typeface="Calibri"/>
              </a:rPr>
              <a:t>2</a:t>
            </a:r>
          </a:p>
        </p:txBody>
      </p:sp>
      <p:sp>
        <p:nvSpPr>
          <p:cNvPr id="21" name="TextBox 20"/>
          <p:cNvSpPr txBox="1"/>
          <p:nvPr/>
        </p:nvSpPr>
        <p:spPr>
          <a:xfrm>
            <a:off x="7086600" y="3538728"/>
            <a:ext cx="4297680" cy="777240"/>
          </a:xfrm>
          <a:prstGeom prst="rect">
            <a:avLst/>
          </a:prstGeom>
          <a:noFill/>
        </p:spPr>
        <p:txBody>
          <a:bodyPr wrap="square" lIns="0" rIns="0" tIns="0" bIns="0" anchor="t">
            <a:spAutoFit/>
          </a:bodyPr>
          <a:lstStyle/>
          <a:p>
            <a:pPr algn="l"/>
            <a:r>
              <a:rPr sz="1600" b="0" i="0">
                <a:solidFill>
                  <a:srgbClr val="1F2433"/>
                </a:solidFill>
                <a:latin typeface="Calibri"/>
              </a:rPr>
              <a:t>Intraday data for the hours around each unlock</a:t>
            </a:r>
          </a:p>
        </p:txBody>
      </p:sp>
      <p:sp>
        <p:nvSpPr>
          <p:cNvPr id="22" name="Oval 21"/>
          <p:cNvSpPr/>
          <p:nvPr/>
        </p:nvSpPr>
        <p:spPr>
          <a:xfrm>
            <a:off x="6537959" y="4379976"/>
            <a:ext cx="384048" cy="384048"/>
          </a:xfrm>
          <a:prstGeom prst="ellipse">
            <a:avLst/>
          </a:prstGeom>
          <a:solidFill>
            <a:srgbClr val="EB6A3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300" b="1">
                <a:solidFill>
                  <a:srgbClr val="FFFFFF"/>
                </a:solidFill>
                <a:latin typeface="Calibri"/>
              </a:rPr>
              <a:t>3</a:t>
            </a:r>
          </a:p>
        </p:txBody>
      </p:sp>
      <p:sp>
        <p:nvSpPr>
          <p:cNvPr id="23" name="TextBox 22"/>
          <p:cNvSpPr txBox="1"/>
          <p:nvPr/>
        </p:nvSpPr>
        <p:spPr>
          <a:xfrm>
            <a:off x="7086600" y="4379976"/>
            <a:ext cx="4297680" cy="777240"/>
          </a:xfrm>
          <a:prstGeom prst="rect">
            <a:avLst/>
          </a:prstGeom>
          <a:noFill/>
        </p:spPr>
        <p:txBody>
          <a:bodyPr wrap="square" lIns="0" rIns="0" tIns="0" bIns="0" anchor="t">
            <a:spAutoFit/>
          </a:bodyPr>
          <a:lstStyle/>
          <a:p>
            <a:pPr algn="l"/>
            <a:r>
              <a:rPr sz="1600" b="0" i="0">
                <a:solidFill>
                  <a:srgbClr val="1F2433"/>
                </a:solidFill>
                <a:latin typeface="Calibri"/>
              </a:rPr>
              <a:t>Interact unlocks with liquidity, depth and funding rates</a:t>
            </a:r>
          </a:p>
        </p:txBody>
      </p:sp>
      <p:sp>
        <p:nvSpPr>
          <p:cNvPr id="24" name="Oval 23"/>
          <p:cNvSpPr/>
          <p:nvPr/>
        </p:nvSpPr>
        <p:spPr>
          <a:xfrm>
            <a:off x="6537959" y="5221224"/>
            <a:ext cx="384048" cy="384048"/>
          </a:xfrm>
          <a:prstGeom prst="ellipse">
            <a:avLst/>
          </a:prstGeom>
          <a:solidFill>
            <a:srgbClr val="EB6A3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300" b="1">
                <a:solidFill>
                  <a:srgbClr val="FFFFFF"/>
                </a:solidFill>
                <a:latin typeface="Calibri"/>
              </a:rPr>
              <a:t>4</a:t>
            </a:r>
          </a:p>
        </p:txBody>
      </p:sp>
      <p:sp>
        <p:nvSpPr>
          <p:cNvPr id="25" name="TextBox 24"/>
          <p:cNvSpPr txBox="1"/>
          <p:nvPr/>
        </p:nvSpPr>
        <p:spPr>
          <a:xfrm>
            <a:off x="7086600" y="5221224"/>
            <a:ext cx="4297680" cy="777240"/>
          </a:xfrm>
          <a:prstGeom prst="rect">
            <a:avLst/>
          </a:prstGeom>
          <a:noFill/>
        </p:spPr>
        <p:txBody>
          <a:bodyPr wrap="square" lIns="0" rIns="0" tIns="0" bIns="0" anchor="t">
            <a:spAutoFit/>
          </a:bodyPr>
          <a:lstStyle/>
          <a:p>
            <a:pPr algn="l"/>
            <a:r>
              <a:rPr sz="1600" b="0" i="0">
                <a:solidFill>
                  <a:srgbClr val="1F2433"/>
                </a:solidFill>
                <a:latin typeface="Calibri"/>
              </a:rPr>
              <a:t>Point-in-time schedule snapshots; boosted trees and HAR models</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141B2D"/>
        </a:solidFill>
        <a:effectLst/>
      </p:bgPr>
    </p:bg>
    <p:spTree>
      <p:nvGrpSpPr>
        <p:cNvPr id="1" name=""/>
        <p:cNvGrpSpPr/>
        <p:nvPr/>
      </p:nvGrpSpPr>
      <p:grpSpPr/>
      <p:sp>
        <p:nvSpPr>
          <p:cNvPr id="2" name="TextBox 1"/>
          <p:cNvSpPr txBox="1"/>
          <p:nvPr/>
        </p:nvSpPr>
        <p:spPr>
          <a:xfrm>
            <a:off x="731520" y="1828800"/>
            <a:ext cx="10515600" cy="1097280"/>
          </a:xfrm>
          <a:prstGeom prst="rect">
            <a:avLst/>
          </a:prstGeom>
          <a:noFill/>
        </p:spPr>
        <p:txBody>
          <a:bodyPr wrap="square" lIns="0" rIns="0" tIns="0" bIns="0" anchor="t">
            <a:spAutoFit/>
          </a:bodyPr>
          <a:lstStyle/>
          <a:p>
            <a:pPr algn="l"/>
            <a:r>
              <a:rPr sz="4800" b="1" i="0">
                <a:solidFill>
                  <a:srgbClr val="FFFFFF"/>
                </a:solidFill>
                <a:latin typeface="Cambria"/>
              </a:rPr>
              <a:t>Thank you. Questions?</a:t>
            </a:r>
          </a:p>
        </p:txBody>
      </p:sp>
      <p:sp>
        <p:nvSpPr>
          <p:cNvPr id="3" name="TextBox 2"/>
          <p:cNvSpPr txBox="1"/>
          <p:nvPr/>
        </p:nvSpPr>
        <p:spPr>
          <a:xfrm>
            <a:off x="731520" y="3108960"/>
            <a:ext cx="10515600" cy="548640"/>
          </a:xfrm>
          <a:prstGeom prst="rect">
            <a:avLst/>
          </a:prstGeom>
          <a:noFill/>
        </p:spPr>
        <p:txBody>
          <a:bodyPr wrap="square" lIns="0" rIns="0" tIns="0" bIns="0" anchor="t">
            <a:spAutoFit/>
          </a:bodyPr>
          <a:lstStyle/>
          <a:p>
            <a:pPr algn="l"/>
            <a:r>
              <a:rPr sz="1800" b="0" i="0">
                <a:solidFill>
                  <a:srgbClr val="C9D3E6"/>
                </a:solidFill>
                <a:latin typeface="Calibri"/>
              </a:rPr>
              <a:t>Code, per-fold results and figures: github.com/watersalamander/MH6805A-Project-Group7</a:t>
            </a:r>
          </a:p>
        </p:txBody>
      </p:sp>
      <p:sp>
        <p:nvSpPr>
          <p:cNvPr id="4" name="TextBox 3"/>
          <p:cNvSpPr txBox="1"/>
          <p:nvPr/>
        </p:nvSpPr>
        <p:spPr>
          <a:xfrm>
            <a:off x="731520" y="4206240"/>
            <a:ext cx="10515600" cy="365760"/>
          </a:xfrm>
          <a:prstGeom prst="rect">
            <a:avLst/>
          </a:prstGeom>
          <a:noFill/>
        </p:spPr>
        <p:txBody>
          <a:bodyPr wrap="square" lIns="0" rIns="0" tIns="0" bIns="0" anchor="t">
            <a:spAutoFit/>
          </a:bodyPr>
          <a:lstStyle/>
          <a:p>
            <a:pPr algn="l"/>
            <a:r>
              <a:rPr sz="1200" b="1" i="0">
                <a:solidFill>
                  <a:srgbClr val="EB6A35"/>
                </a:solidFill>
                <a:latin typeface="Calibri"/>
              </a:rPr>
              <a:t>CONTRIBUTIONS</a:t>
            </a:r>
          </a:p>
        </p:txBody>
      </p:sp>
      <p:sp>
        <p:nvSpPr>
          <p:cNvPr id="5" name="TextBox 4"/>
          <p:cNvSpPr txBox="1"/>
          <p:nvPr/>
        </p:nvSpPr>
        <p:spPr>
          <a:xfrm>
            <a:off x="731520" y="4572000"/>
            <a:ext cx="10515600" cy="1280160"/>
          </a:xfrm>
          <a:prstGeom prst="rect">
            <a:avLst/>
          </a:prstGeom>
          <a:noFill/>
        </p:spPr>
        <p:txBody>
          <a:bodyPr wrap="square" lIns="0" rIns="0" tIns="0" bIns="0" anchor="t">
            <a:spAutoFit/>
          </a:bodyPr>
          <a:lstStyle/>
          <a:p>
            <a:pPr algn="l"/>
            <a:r>
              <a:rPr sz="1600" b="1" i="0">
                <a:solidFill>
                  <a:srgbClr val="FF9F80"/>
                </a:solidFill>
                <a:latin typeface="Calibri"/>
              </a:rPr>
              <a:t>[Member 1]: [part / %]     [Member 2]: [part / %]     [Member 3]: [part / %]</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